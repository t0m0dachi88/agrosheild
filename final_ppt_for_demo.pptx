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40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0709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Honourable judges, good day. I am Irfan Sadik, Team Leader and AI/ML Engineer, and with me is Noor E Jannat Mawa, our Business Lead. We present Krishan AI: farm-level salinity-risk intelligence for coastal Bangladesh. Two commitments frame this presentation. First, Krishan AI is a proposed system, and we will separate clearly what we propose from what we have proven. Second, we begin with one risk, salinity, and expand only after it is validated.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Coastal farmers are not short of data. Soil electrical conductivity, water salinity, weather records and satellite imagery all exist. But they sit in different places, at different scales, and arrive at different times, so access, timing, coverage and scale vary. A farmer therefore cannot answer four practical questions: Is salinity risk on my land rising? What is driving it? What could it mean for my crop? What action should I consider? The gap we address is not the availability of data. It is the missing step from data to a decision for one specific field.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give AI one specific, testable job: to predict whether a farm's salinity risk will cross a crop-specific soil EC threshold, set by an agronomist, within a fixed time window. One to four weeks ahead is our starting option to test, not a proven capability. The pipeline has five stages. We check data access, quality and coverage. We compare baselines and candidate methods after reviewing the data; no model is preselected. Each prediction shows a risk level, a confidence rating, a data-sufficiency note and the key factors, which are clues and not proof of cause. Recommendations come from expert-approved, versioned rules for the crop and growth stage. Generative AI only explains approved advice in Bengali or English. It cannot invent farming advice.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expect three challenges and have designed for each. First, validation. A model stays only if it beats a simple threshold baseline on data it has never seen, tested on separate farms and later time periods where the data allows. We report false alarms, missed high-risk cases and warning lead time. Second, uncertainty. If inputs are missing, outdated or thin, the system requests a new reading or passes the case to an expert, instead of showing a confident label. Third, correction. Agronomists approve and version every rule, serious cases are escalated, and we monitor for data drift and review wrong predictions so that errors are noticed and corrected early. Complex models are used only if the evidence supports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plan is built around real constraints. Farm-level readings are limited, so we combine data sources with calibrated field measurements and check satellite data against field readings. Plots are small and clouds interfere, so we begin with a defined area and crop. Trust decides adoption, so farmers, officers and agricultural experts are involved from the start. Where data has gaps, we report uncertainty and avoid unsupported advice. Our proposed collection plan is: soil EC and moisture every two weeks in season and monthly off season; water salinity every two weeks and after tide or flood events; weather daily; satellite every five to ten days when cloud-free; and crop stage at planting, at each stage change and at harvest.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initial field pilot we propose 100 farms, testing the full loop from data to risk, to explanation, to recommendation. We will measure prediction performance, warning lead time, false alarms and data sufficiency, together with farmer understanding, recommendation uptake and observed changes after interventions. We want to be exact about our claims. Today we claim a defined, testable system and a pilot design. We do not claim accuracy, reduced losses or water savings. Those are potential benefits to be tested, not results. Success also means knowing when there is not enough data to trust a prediction.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is gated by evidence. In months 0 to 6 we map data and define the target with experts. In months 6 to 12 we validate data and compare methods, and we target an MVP around month 12 only if the evidence supports it. In years 2 to 3 we pilot, improve and expand, one risk at a time, and only after the previous one is shown to work. Bangladesh already has advisories, crop zoning and regional salinity forecasting, and we build on them. Our difference is the complete farm-level workflow, from data to prediction, explanation, validated advice and Bengali communication, which we will confirm through benchmarking and field testing rather than assume. We need reliable data access, repeated farm measurements, agricultural experts, farmer and field partners, and pilot support. Thank you. We welcome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5.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4.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5.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5.png"/><Relationship Id="rId9"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D3A"/>
        </a:solidFill>
        <a:effectLst/>
      </p:bgPr>
    </p:bg>
    <p:spTree>
      <p:nvGrpSpPr>
        <p:cNvPr id="1" name=""/>
        <p:cNvGrpSpPr/>
        <p:nvPr/>
      </p:nvGrpSpPr>
      <p:grpSpPr>
        <a:xfrm>
          <a:off x="0" y="0"/>
          <a:ext cx="0" cy="0"/>
          <a:chOff x="0" y="0"/>
          <a:chExt cx="0" cy="0"/>
        </a:xfrm>
      </p:grpSpPr>
      <p:sp>
        <p:nvSpPr>
          <p:cNvPr id="3" name="Shape 0"/>
          <p:cNvSpPr/>
          <p:nvPr/>
        </p:nvSpPr>
        <p:spPr>
          <a:xfrm>
            <a:off x="5120640" y="1097280"/>
            <a:ext cx="6035040" cy="6035040"/>
          </a:xfrm>
          <a:prstGeom prst="ellipse">
            <a:avLst/>
          </a:prstGeom>
          <a:solidFill>
            <a:srgbClr val="2B6A4E"/>
          </a:solidFill>
          <a:ln/>
        </p:spPr>
        <p:txBody>
          <a:bodyPr/>
          <a:lstStyle/>
          <a:p>
            <a:endParaRPr lang="en-US"/>
          </a:p>
        </p:txBody>
      </p:sp>
      <p:sp>
        <p:nvSpPr>
          <p:cNvPr id="4" name="Shape 1"/>
          <p:cNvSpPr/>
          <p:nvPr/>
        </p:nvSpPr>
        <p:spPr>
          <a:xfrm>
            <a:off x="6035040" y="2194560"/>
            <a:ext cx="5120640" cy="5120640"/>
          </a:xfrm>
          <a:prstGeom prst="ellipse">
            <a:avLst/>
          </a:prstGeom>
          <a:solidFill>
            <a:srgbClr val="3B8560"/>
          </a:solidFill>
          <a:ln/>
        </p:spPr>
        <p:txBody>
          <a:bodyPr/>
          <a:lstStyle/>
          <a:p>
            <a:endParaRPr lang="en-US"/>
          </a:p>
        </p:txBody>
      </p:sp>
      <p:sp>
        <p:nvSpPr>
          <p:cNvPr id="5" name="Shape 2"/>
          <p:cNvSpPr/>
          <p:nvPr/>
        </p:nvSpPr>
        <p:spPr>
          <a:xfrm>
            <a:off x="7315200" y="457200"/>
            <a:ext cx="1005840" cy="1005840"/>
          </a:xfrm>
          <a:prstGeom prst="ellipse">
            <a:avLst/>
          </a:prstGeom>
          <a:solidFill>
            <a:srgbClr val="F2B84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5989320" y="1828800"/>
            <a:ext cx="2194560" cy="2194560"/>
          </a:xfrm>
          <a:prstGeom prst="rect">
            <a:avLst/>
          </a:prstGeom>
        </p:spPr>
      </p:pic>
      <p:pic>
        <p:nvPicPr>
          <p:cNvPr id="7" name="Image 1" descr="preencoded.png"/>
          <p:cNvPicPr>
            <a:picLocks noChangeAspect="1"/>
          </p:cNvPicPr>
          <p:nvPr/>
        </p:nvPicPr>
        <p:blipFill>
          <a:blip r:embed="rId4"/>
          <a:stretch>
            <a:fillRect/>
          </a:stretch>
        </p:blipFill>
        <p:spPr>
          <a:xfrm>
            <a:off x="7772400" y="3291840"/>
            <a:ext cx="640080" cy="640080"/>
          </a:xfrm>
          <a:prstGeom prst="rect">
            <a:avLst/>
          </a:prstGeom>
        </p:spPr>
      </p:pic>
      <p:sp>
        <p:nvSpPr>
          <p:cNvPr id="8" name="Shape 3"/>
          <p:cNvSpPr/>
          <p:nvPr/>
        </p:nvSpPr>
        <p:spPr>
          <a:xfrm>
            <a:off x="457200" y="502920"/>
            <a:ext cx="731520" cy="731520"/>
          </a:xfrm>
          <a:prstGeom prst="ellipse">
            <a:avLst/>
          </a:prstGeom>
          <a:solidFill>
            <a:srgbClr val="F2B84B"/>
          </a:solidFill>
          <a:ln/>
        </p:spPr>
        <p:txBody>
          <a:bodyPr/>
          <a:lstStyle/>
          <a:p>
            <a:endParaRPr lang="en-US"/>
          </a:p>
        </p:txBody>
      </p:sp>
      <p:pic>
        <p:nvPicPr>
          <p:cNvPr id="9" name="Image 2" descr="preencoded.png"/>
          <p:cNvPicPr>
            <a:picLocks noChangeAspect="1"/>
          </p:cNvPicPr>
          <p:nvPr/>
        </p:nvPicPr>
        <p:blipFill>
          <a:blip r:embed="rId5"/>
          <a:stretch>
            <a:fillRect/>
          </a:stretch>
        </p:blipFill>
        <p:spPr>
          <a:xfrm>
            <a:off x="640080" y="685800"/>
            <a:ext cx="365760" cy="365760"/>
          </a:xfrm>
          <a:prstGeom prst="rect">
            <a:avLst/>
          </a:prstGeom>
        </p:spPr>
      </p:pic>
      <p:sp>
        <p:nvSpPr>
          <p:cNvPr id="10" name="Text 4"/>
          <p:cNvSpPr txBox="1"/>
          <p:nvPr/>
        </p:nvSpPr>
        <p:spPr>
          <a:xfrm>
            <a:off x="457200" y="1463040"/>
            <a:ext cx="5486400" cy="82296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Krishan AI</a:t>
            </a:r>
            <a:endParaRPr lang="en-US" sz="4800" dirty="0"/>
          </a:p>
        </p:txBody>
      </p:sp>
      <p:sp>
        <p:nvSpPr>
          <p:cNvPr id="11" name="Text 5"/>
          <p:cNvSpPr txBox="1"/>
          <p:nvPr/>
        </p:nvSpPr>
        <p:spPr>
          <a:xfrm>
            <a:off x="457200" y="2286000"/>
            <a:ext cx="4937760" cy="777240"/>
          </a:xfrm>
          <a:prstGeom prst="rect">
            <a:avLst/>
          </a:prstGeom>
          <a:noFill/>
          <a:ln/>
        </p:spPr>
        <p:txBody>
          <a:bodyPr wrap="square" lIns="0" tIns="0" rIns="0" bIns="0" rtlCol="0" anchor="t"/>
          <a:lstStyle/>
          <a:p>
            <a:pPr marL="0" indent="0">
              <a:buNone/>
            </a:pPr>
            <a:r>
              <a:rPr lang="en-US" sz="2000" dirty="0">
                <a:solidFill>
                  <a:srgbClr val="D4EAD6"/>
                </a:solidFill>
                <a:latin typeface="Calibri" pitchFamily="34" charset="0"/>
                <a:ea typeface="Calibri" pitchFamily="34" charset="-122"/>
                <a:cs typeface="Calibri" pitchFamily="34" charset="-120"/>
              </a:rPr>
              <a:t>Farm-level salinity-risk intelligence for coastal Bangladesh</a:t>
            </a:r>
            <a:endParaRPr lang="en-US" sz="2000" dirty="0"/>
          </a:p>
        </p:txBody>
      </p:sp>
      <p:sp>
        <p:nvSpPr>
          <p:cNvPr id="12" name="Text 6"/>
          <p:cNvSpPr txBox="1"/>
          <p:nvPr/>
        </p:nvSpPr>
        <p:spPr>
          <a:xfrm>
            <a:off x="457200" y="3108960"/>
            <a:ext cx="4937760" cy="365760"/>
          </a:xfrm>
          <a:prstGeom prst="rect">
            <a:avLst/>
          </a:prstGeom>
          <a:noFill/>
          <a:ln/>
        </p:spPr>
        <p:txBody>
          <a:bodyPr wrap="square" lIns="0" tIns="0" rIns="0" bIns="0" rtlCol="0" anchor="ctr"/>
          <a:lstStyle/>
          <a:p>
            <a:pPr marL="0" indent="0">
              <a:buNone/>
            </a:pPr>
            <a:r>
              <a:rPr lang="en-US" sz="1600" b="1" dirty="0">
                <a:solidFill>
                  <a:srgbClr val="F2B84B"/>
                </a:solidFill>
                <a:latin typeface="Calibri" pitchFamily="34" charset="0"/>
                <a:ea typeface="Calibri" pitchFamily="34" charset="-122"/>
                <a:cs typeface="Calibri" pitchFamily="34" charset="-120"/>
              </a:rPr>
              <a:t>Predict. Explain. Support action.</a:t>
            </a:r>
            <a:endParaRPr lang="en-US" sz="1600" dirty="0"/>
          </a:p>
        </p:txBody>
      </p:sp>
      <p:sp>
        <p:nvSpPr>
          <p:cNvPr id="13" name="Text 7"/>
          <p:cNvSpPr txBox="1"/>
          <p:nvPr/>
        </p:nvSpPr>
        <p:spPr>
          <a:xfrm>
            <a:off x="457200" y="3566160"/>
            <a:ext cx="4754880" cy="548640"/>
          </a:xfrm>
          <a:prstGeom prst="rect">
            <a:avLst/>
          </a:prstGeom>
          <a:noFill/>
          <a:ln/>
        </p:spPr>
        <p:txBody>
          <a:bodyPr wrap="square" lIns="0" tIns="0" rIns="0" bIns="0" rtlCol="0" anchor="t"/>
          <a:lstStyle/>
          <a:p>
            <a:pPr marL="0" indent="0">
              <a:buNone/>
            </a:pPr>
            <a:r>
              <a:rPr lang="en-US" sz="1250" i="1" dirty="0">
                <a:solidFill>
                  <a:srgbClr val="B9D6BE"/>
                </a:solidFill>
                <a:latin typeface="Calibri" pitchFamily="34" charset="0"/>
                <a:ea typeface="Calibri" pitchFamily="34" charset="-122"/>
                <a:cs typeface="Calibri" pitchFamily="34" charset="-120"/>
              </a:rPr>
              <a:t>A proposed system. Every claim on these slides is either evidenced or labelled as a hypothesis to test.</a:t>
            </a:r>
            <a:endParaRPr lang="en-US" sz="1250" dirty="0"/>
          </a:p>
        </p:txBody>
      </p:sp>
      <p:sp>
        <p:nvSpPr>
          <p:cNvPr id="14" name="Text 8"/>
          <p:cNvSpPr txBox="1"/>
          <p:nvPr/>
        </p:nvSpPr>
        <p:spPr>
          <a:xfrm>
            <a:off x="457200" y="4091940"/>
            <a:ext cx="5120640" cy="594360"/>
          </a:xfrm>
          <a:prstGeom prst="rect">
            <a:avLst/>
          </a:prstGeom>
          <a:noFill/>
          <a:ln/>
        </p:spPr>
        <p:txBody>
          <a:bodyPr wrap="square" lIns="0" tIns="0" rIns="0" bIns="0" rtlCol="0" anchor="t"/>
          <a:lstStyle/>
          <a:p>
            <a:pPr>
              <a:spcAft>
                <a:spcPts val="300"/>
              </a:spcAft>
            </a:pPr>
            <a:r>
              <a:rPr lang="en-US" sz="1200" b="1" dirty="0">
                <a:solidFill>
                  <a:srgbClr val="FFFFFF"/>
                </a:solidFill>
                <a:latin typeface="Calibri" pitchFamily="34" charset="0"/>
                <a:ea typeface="Calibri" pitchFamily="34" charset="-122"/>
                <a:cs typeface="Calibri" pitchFamily="34" charset="-120"/>
              </a:rPr>
              <a:t>Noor E Jannat Mawa</a:t>
            </a:r>
            <a:r>
              <a:rPr lang="en-US" sz="1200" dirty="0">
                <a:solidFill>
                  <a:srgbClr val="B9D6BE"/>
                </a:solidFill>
                <a:latin typeface="Calibri" pitchFamily="34" charset="0"/>
                <a:ea typeface="Calibri" pitchFamily="34" charset="-122"/>
                <a:cs typeface="Calibri" pitchFamily="34" charset="-120"/>
              </a:rPr>
              <a:t> Team Leader &amp; Business Lead</a:t>
            </a:r>
            <a:endParaRPr lang="en-US" sz="1200" dirty="0"/>
          </a:p>
          <a:p>
            <a:pPr marL="0" indent="0">
              <a:spcAft>
                <a:spcPts val="300"/>
              </a:spcAft>
              <a:buNone/>
            </a:pPr>
            <a:r>
              <a:rPr lang="en-US" sz="1200" b="1" dirty="0">
                <a:solidFill>
                  <a:srgbClr val="FFFFFF"/>
                </a:solidFill>
                <a:latin typeface="Calibri" pitchFamily="34" charset="0"/>
                <a:ea typeface="Calibri" pitchFamily="34" charset="-122"/>
                <a:cs typeface="Calibri" pitchFamily="34" charset="-120"/>
              </a:rPr>
              <a:t>Irfan Sadik</a:t>
            </a:r>
            <a:r>
              <a:rPr lang="en-US" sz="1200" dirty="0">
                <a:solidFill>
                  <a:srgbClr val="B9D6BE"/>
                </a:solidFill>
                <a:latin typeface="Calibri" pitchFamily="34" charset="0"/>
                <a:ea typeface="Calibri" pitchFamily="34" charset="-122"/>
                <a:cs typeface="Calibri" pitchFamily="34" charset="-120"/>
              </a:rPr>
              <a:t>  AI/ML Engineer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4"/>
        </a:solidFill>
        <a:effectLst/>
      </p:bgPr>
    </p:bg>
    <p:spTree>
      <p:nvGrpSpPr>
        <p:cNvPr id="1" name=""/>
        <p:cNvGrpSpPr/>
        <p:nvPr/>
      </p:nvGrpSpPr>
      <p:grpSpPr>
        <a:xfrm>
          <a:off x="0" y="0"/>
          <a:ext cx="0" cy="0"/>
          <a:chOff x="0" y="0"/>
          <a:chExt cx="0" cy="0"/>
        </a:xfrm>
      </p:grpSpPr>
      <p:sp>
        <p:nvSpPr>
          <p:cNvPr id="2" name="Shape 0"/>
          <p:cNvSpPr/>
          <p:nvPr/>
        </p:nvSpPr>
        <p:spPr>
          <a:xfrm>
            <a:off x="7680960" y="-822960"/>
            <a:ext cx="2377440" cy="2011680"/>
          </a:xfrm>
          <a:prstGeom prst="ellipse">
            <a:avLst/>
          </a:prstGeom>
          <a:solidFill>
            <a:srgbClr val="E4F1E4"/>
          </a:solidFill>
          <a:ln/>
        </p:spPr>
        <p:txBody>
          <a:bodyPr/>
          <a:lstStyle/>
          <a:p>
            <a:endParaRPr lang="en-US"/>
          </a:p>
        </p:txBody>
      </p:sp>
      <p:sp>
        <p:nvSpPr>
          <p:cNvPr id="3" name="Shape 1"/>
          <p:cNvSpPr/>
          <p:nvPr/>
        </p:nvSpPr>
        <p:spPr>
          <a:xfrm>
            <a:off x="-914400" y="4480560"/>
            <a:ext cx="2377440" cy="1280160"/>
          </a:xfrm>
          <a:prstGeom prst="ellipse">
            <a:avLst/>
          </a:prstGeom>
          <a:solidFill>
            <a:srgbClr val="E4F1E4"/>
          </a:solidFill>
          <a:ln/>
        </p:spPr>
        <p:txBody>
          <a:bodyPr/>
          <a:lstStyle/>
          <a:p>
            <a:endParaRPr lang="en-US"/>
          </a:p>
        </p:txBody>
      </p:sp>
      <p:sp>
        <p:nvSpPr>
          <p:cNvPr id="4" name="Shape 2"/>
          <p:cNvSpPr/>
          <p:nvPr/>
        </p:nvSpPr>
        <p:spPr>
          <a:xfrm>
            <a:off x="457200" y="256032"/>
            <a:ext cx="4480560" cy="292608"/>
          </a:xfrm>
          <a:prstGeom prst="roundRect">
            <a:avLst>
              <a:gd name="adj" fmla="val 50000"/>
            </a:avLst>
          </a:prstGeom>
          <a:solidFill>
            <a:srgbClr val="DDEFF1"/>
          </a:solidFill>
          <a:ln/>
        </p:spPr>
        <p:txBody>
          <a:bodyPr/>
          <a:lstStyle/>
          <a:p>
            <a:endParaRPr lang="en-US"/>
          </a:p>
        </p:txBody>
      </p:sp>
      <p:sp>
        <p:nvSpPr>
          <p:cNvPr id="5" name="Text 3"/>
          <p:cNvSpPr txBox="1"/>
          <p:nvPr/>
        </p:nvSpPr>
        <p:spPr>
          <a:xfrm>
            <a:off x="594360" y="256032"/>
            <a:ext cx="4297680" cy="292608"/>
          </a:xfrm>
          <a:prstGeom prst="rect">
            <a:avLst/>
          </a:prstGeom>
          <a:noFill/>
          <a:ln/>
        </p:spPr>
        <p:txBody>
          <a:bodyPr wrap="square" lIns="0" tIns="0" rIns="0" bIns="0" rtlCol="0" anchor="ctr"/>
          <a:lstStyle/>
          <a:p>
            <a:pPr marL="0" indent="0">
              <a:buNone/>
            </a:pPr>
            <a:r>
              <a:rPr lang="en-US" sz="1050" b="1" dirty="0">
                <a:solidFill>
                  <a:srgbClr val="3E8E9E"/>
                </a:solidFill>
                <a:latin typeface="Calibri" pitchFamily="34" charset="0"/>
                <a:ea typeface="Calibri" pitchFamily="34" charset="-122"/>
                <a:cs typeface="Calibri" pitchFamily="34" charset="-120"/>
              </a:rPr>
              <a:t>JUDGE ASKS: Is the problem real and specific?</a:t>
            </a:r>
            <a:endParaRPr lang="en-US" sz="1050" dirty="0"/>
          </a:p>
        </p:txBody>
      </p:sp>
      <p:sp>
        <p:nvSpPr>
          <p:cNvPr id="6" name="Text 4"/>
          <p:cNvSpPr txBox="1"/>
          <p:nvPr/>
        </p:nvSpPr>
        <p:spPr>
          <a:xfrm>
            <a:off x="457200" y="640080"/>
            <a:ext cx="7589520" cy="548640"/>
          </a:xfrm>
          <a:prstGeom prst="rect">
            <a:avLst/>
          </a:prstGeom>
          <a:noFill/>
          <a:ln/>
        </p:spPr>
        <p:txBody>
          <a:bodyPr wrap="square" lIns="0" tIns="0" rIns="0" bIns="0" rtlCol="0" anchor="ctr"/>
          <a:lstStyle/>
          <a:p>
            <a:pPr marL="0" indent="0">
              <a:buNone/>
            </a:pPr>
            <a:r>
              <a:rPr lang="en-US" sz="2600" b="1" dirty="0">
                <a:solidFill>
                  <a:srgbClr val="1F4D3A"/>
                </a:solidFill>
                <a:latin typeface="Cambria" pitchFamily="34" charset="0"/>
                <a:ea typeface="Cambria" pitchFamily="34" charset="-122"/>
                <a:cs typeface="Cambria" pitchFamily="34" charset="-120"/>
              </a:rPr>
              <a:t>Data exists. A decision for one field does not.</a:t>
            </a:r>
            <a:endParaRPr lang="en-US" sz="2600" dirty="0"/>
          </a:p>
        </p:txBody>
      </p:sp>
      <p:sp>
        <p:nvSpPr>
          <p:cNvPr id="7" name="Shape 5"/>
          <p:cNvSpPr/>
          <p:nvPr/>
        </p:nvSpPr>
        <p:spPr>
          <a:xfrm>
            <a:off x="8229600" y="292608"/>
            <a:ext cx="502920" cy="502920"/>
          </a:xfrm>
          <a:prstGeom prst="ellipse">
            <a:avLst/>
          </a:prstGeom>
          <a:solidFill>
            <a:srgbClr val="5FA36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355330" y="418338"/>
            <a:ext cx="251460" cy="251460"/>
          </a:xfrm>
          <a:prstGeom prst="rect">
            <a:avLst/>
          </a:prstGeom>
        </p:spPr>
      </p:pic>
      <p:pic>
        <p:nvPicPr>
          <p:cNvPr id="9" name="Image 1" descr="preencoded.png"/>
          <p:cNvPicPr>
            <a:picLocks noChangeAspect="1"/>
          </p:cNvPicPr>
          <p:nvPr/>
        </p:nvPicPr>
        <p:blipFill>
          <a:blip r:embed="rId4"/>
          <a:stretch>
            <a:fillRect/>
          </a:stretch>
        </p:blipFill>
        <p:spPr>
          <a:xfrm>
            <a:off x="457200" y="4773168"/>
            <a:ext cx="182880" cy="182880"/>
          </a:xfrm>
          <a:prstGeom prst="rect">
            <a:avLst/>
          </a:prstGeom>
        </p:spPr>
      </p:pic>
      <p:sp>
        <p:nvSpPr>
          <p:cNvPr id="10" name="Text 6"/>
          <p:cNvSpPr txBox="1"/>
          <p:nvPr/>
        </p:nvSpPr>
        <p:spPr>
          <a:xfrm>
            <a:off x="713232" y="4754880"/>
            <a:ext cx="1828800" cy="219456"/>
          </a:xfrm>
          <a:prstGeom prst="rect">
            <a:avLst/>
          </a:prstGeom>
          <a:noFill/>
          <a:ln/>
        </p:spPr>
        <p:txBody>
          <a:bodyPr wrap="square" lIns="0" tIns="0" rIns="0" bIns="0" rtlCol="0" anchor="ctr"/>
          <a:lstStyle/>
          <a:p>
            <a:pPr marL="0" indent="0">
              <a:buNone/>
            </a:pPr>
            <a:r>
              <a:rPr lang="en-US" sz="1000" b="1" dirty="0">
                <a:solidFill>
                  <a:srgbClr val="6B7F74"/>
                </a:solidFill>
                <a:latin typeface="Calibri" pitchFamily="34" charset="0"/>
                <a:ea typeface="Calibri" pitchFamily="34" charset="-122"/>
                <a:cs typeface="Calibri" pitchFamily="34" charset="-120"/>
              </a:rPr>
              <a:t>Krishan AI</a:t>
            </a:r>
            <a:endParaRPr lang="en-US" sz="1000" dirty="0"/>
          </a:p>
        </p:txBody>
      </p:sp>
      <p:sp>
        <p:nvSpPr>
          <p:cNvPr id="11" name="Text 7"/>
          <p:cNvSpPr txBox="1"/>
          <p:nvPr/>
        </p:nvSpPr>
        <p:spPr>
          <a:xfrm>
            <a:off x="8229600" y="4754880"/>
            <a:ext cx="457200" cy="219456"/>
          </a:xfrm>
          <a:prstGeom prst="rect">
            <a:avLst/>
          </a:prstGeom>
          <a:noFill/>
          <a:ln/>
        </p:spPr>
        <p:txBody>
          <a:bodyPr wrap="square" lIns="0" tIns="0" rIns="0" bIns="0" rtlCol="0" anchor="ctr"/>
          <a:lstStyle/>
          <a:p>
            <a:pPr marL="0" indent="0" algn="r">
              <a:buNone/>
            </a:pPr>
            <a:r>
              <a:rPr lang="en-US" sz="1000" dirty="0">
                <a:solidFill>
                  <a:srgbClr val="6B7F74"/>
                </a:solidFill>
                <a:latin typeface="Calibri" pitchFamily="34" charset="0"/>
                <a:ea typeface="Calibri" pitchFamily="34" charset="-122"/>
                <a:cs typeface="Calibri" pitchFamily="34" charset="-120"/>
              </a:rPr>
              <a:t>2</a:t>
            </a:r>
            <a:endParaRPr lang="en-US" sz="1000" dirty="0"/>
          </a:p>
        </p:txBody>
      </p:sp>
      <p:sp>
        <p:nvSpPr>
          <p:cNvPr id="13" name="Text 8"/>
          <p:cNvSpPr txBox="1"/>
          <p:nvPr/>
        </p:nvSpPr>
        <p:spPr>
          <a:xfrm>
            <a:off x="457200" y="1325880"/>
            <a:ext cx="3840480" cy="274320"/>
          </a:xfrm>
          <a:prstGeom prst="rect">
            <a:avLst/>
          </a:prstGeom>
          <a:noFill/>
          <a:ln/>
        </p:spPr>
        <p:txBody>
          <a:bodyPr wrap="square" lIns="0" tIns="0" rIns="0" bIns="0" rtlCol="0" anchor="ctr"/>
          <a:lstStyle/>
          <a:p>
            <a:pPr marL="0" indent="0">
              <a:buNone/>
            </a:pPr>
            <a:r>
              <a:rPr lang="en-US" sz="1400" b="1" dirty="0">
                <a:solidFill>
                  <a:srgbClr val="5FA36B"/>
                </a:solidFill>
                <a:latin typeface="Calibri" pitchFamily="34" charset="0"/>
                <a:ea typeface="Calibri" pitchFamily="34" charset="-122"/>
                <a:cs typeface="Calibri" pitchFamily="34" charset="-120"/>
              </a:rPr>
              <a:t>What exists, scattered</a:t>
            </a:r>
            <a:endParaRPr lang="en-US" sz="1400" dirty="0"/>
          </a:p>
        </p:txBody>
      </p:sp>
      <p:sp>
        <p:nvSpPr>
          <p:cNvPr id="14" name="Shape 9"/>
          <p:cNvSpPr/>
          <p:nvPr/>
        </p:nvSpPr>
        <p:spPr>
          <a:xfrm>
            <a:off x="457200" y="1691640"/>
            <a:ext cx="1828800" cy="530352"/>
          </a:xfrm>
          <a:prstGeom prst="roundRect">
            <a:avLst>
              <a:gd name="adj" fmla="val 50000"/>
            </a:avLst>
          </a:prstGeom>
          <a:solidFill>
            <a:srgbClr val="F7E4DA"/>
          </a:solidFill>
          <a:ln w="6350">
            <a:solidFill>
              <a:srgbClr val="F7E4DA"/>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612648" y="1828800"/>
            <a:ext cx="256032" cy="256032"/>
          </a:xfrm>
          <a:prstGeom prst="rect">
            <a:avLst/>
          </a:prstGeom>
        </p:spPr>
      </p:pic>
      <p:sp>
        <p:nvSpPr>
          <p:cNvPr id="16" name="Text 10"/>
          <p:cNvSpPr txBox="1"/>
          <p:nvPr/>
        </p:nvSpPr>
        <p:spPr>
          <a:xfrm>
            <a:off x="960120" y="1691640"/>
            <a:ext cx="1280160" cy="530352"/>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Soil EC</a:t>
            </a:r>
            <a:endParaRPr lang="en-US" sz="1300" dirty="0"/>
          </a:p>
        </p:txBody>
      </p:sp>
      <p:sp>
        <p:nvSpPr>
          <p:cNvPr id="17" name="Shape 11"/>
          <p:cNvSpPr/>
          <p:nvPr/>
        </p:nvSpPr>
        <p:spPr>
          <a:xfrm>
            <a:off x="2423160" y="1691640"/>
            <a:ext cx="1828800" cy="530352"/>
          </a:xfrm>
          <a:prstGeom prst="roundRect">
            <a:avLst>
              <a:gd name="adj" fmla="val 50000"/>
            </a:avLst>
          </a:prstGeom>
          <a:solidFill>
            <a:srgbClr val="DDEFF1"/>
          </a:solidFill>
          <a:ln w="6350">
            <a:solidFill>
              <a:srgbClr val="DDEFF1"/>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2578608" y="1828800"/>
            <a:ext cx="256032" cy="256032"/>
          </a:xfrm>
          <a:prstGeom prst="rect">
            <a:avLst/>
          </a:prstGeom>
        </p:spPr>
      </p:pic>
      <p:sp>
        <p:nvSpPr>
          <p:cNvPr id="19" name="Text 12"/>
          <p:cNvSpPr txBox="1"/>
          <p:nvPr/>
        </p:nvSpPr>
        <p:spPr>
          <a:xfrm>
            <a:off x="2926080" y="1691640"/>
            <a:ext cx="1280160" cy="530352"/>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Water salinity</a:t>
            </a:r>
            <a:endParaRPr lang="en-US" sz="1300" dirty="0"/>
          </a:p>
        </p:txBody>
      </p:sp>
      <p:sp>
        <p:nvSpPr>
          <p:cNvPr id="20" name="Shape 13"/>
          <p:cNvSpPr/>
          <p:nvPr/>
        </p:nvSpPr>
        <p:spPr>
          <a:xfrm>
            <a:off x="457200" y="2350008"/>
            <a:ext cx="1828800" cy="530352"/>
          </a:xfrm>
          <a:prstGeom prst="roundRect">
            <a:avLst>
              <a:gd name="adj" fmla="val 50000"/>
            </a:avLst>
          </a:prstGeom>
          <a:solidFill>
            <a:srgbClr val="FBF0D5"/>
          </a:solidFill>
          <a:ln w="6350">
            <a:solidFill>
              <a:srgbClr val="FBF0D5"/>
            </a:solidFill>
            <a:prstDash val="solid"/>
          </a:ln>
        </p:spPr>
        <p:txBody>
          <a:bodyPr/>
          <a:lstStyle/>
          <a:p>
            <a:endParaRPr lang="en-US"/>
          </a:p>
        </p:txBody>
      </p:sp>
      <p:pic>
        <p:nvPicPr>
          <p:cNvPr id="21" name="Image 4" descr="preencoded.png"/>
          <p:cNvPicPr>
            <a:picLocks noChangeAspect="1"/>
          </p:cNvPicPr>
          <p:nvPr/>
        </p:nvPicPr>
        <p:blipFill>
          <a:blip r:embed="rId7"/>
          <a:stretch>
            <a:fillRect/>
          </a:stretch>
        </p:blipFill>
        <p:spPr>
          <a:xfrm>
            <a:off x="612648" y="2487168"/>
            <a:ext cx="256032" cy="256032"/>
          </a:xfrm>
          <a:prstGeom prst="rect">
            <a:avLst/>
          </a:prstGeom>
        </p:spPr>
      </p:pic>
      <p:sp>
        <p:nvSpPr>
          <p:cNvPr id="22" name="Text 14"/>
          <p:cNvSpPr txBox="1"/>
          <p:nvPr/>
        </p:nvSpPr>
        <p:spPr>
          <a:xfrm>
            <a:off x="960120" y="2350008"/>
            <a:ext cx="1280160" cy="530352"/>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Weather</a:t>
            </a:r>
            <a:endParaRPr lang="en-US" sz="1300" dirty="0"/>
          </a:p>
        </p:txBody>
      </p:sp>
      <p:sp>
        <p:nvSpPr>
          <p:cNvPr id="23" name="Shape 15"/>
          <p:cNvSpPr/>
          <p:nvPr/>
        </p:nvSpPr>
        <p:spPr>
          <a:xfrm>
            <a:off x="2423160" y="2350008"/>
            <a:ext cx="1828800" cy="530352"/>
          </a:xfrm>
          <a:prstGeom prst="roundRect">
            <a:avLst>
              <a:gd name="adj" fmla="val 50000"/>
            </a:avLst>
          </a:prstGeom>
          <a:solidFill>
            <a:srgbClr val="E4F1E4"/>
          </a:solidFill>
          <a:ln w="6350">
            <a:solidFill>
              <a:srgbClr val="E4F1E4"/>
            </a:solidFill>
            <a:prstDash val="solid"/>
          </a:ln>
        </p:spPr>
        <p:txBody>
          <a:bodyPr/>
          <a:lstStyle/>
          <a:p>
            <a:endParaRPr lang="en-US"/>
          </a:p>
        </p:txBody>
      </p:sp>
      <p:pic>
        <p:nvPicPr>
          <p:cNvPr id="24" name="Image 5" descr="preencoded.png"/>
          <p:cNvPicPr>
            <a:picLocks noChangeAspect="1"/>
          </p:cNvPicPr>
          <p:nvPr/>
        </p:nvPicPr>
        <p:blipFill>
          <a:blip r:embed="rId8"/>
          <a:stretch>
            <a:fillRect/>
          </a:stretch>
        </p:blipFill>
        <p:spPr>
          <a:xfrm>
            <a:off x="2578608" y="2487168"/>
            <a:ext cx="256032" cy="256032"/>
          </a:xfrm>
          <a:prstGeom prst="rect">
            <a:avLst/>
          </a:prstGeom>
        </p:spPr>
      </p:pic>
      <p:sp>
        <p:nvSpPr>
          <p:cNvPr id="25" name="Text 16"/>
          <p:cNvSpPr txBox="1"/>
          <p:nvPr/>
        </p:nvSpPr>
        <p:spPr>
          <a:xfrm>
            <a:off x="2926080" y="2350008"/>
            <a:ext cx="1280160" cy="530352"/>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Satellite</a:t>
            </a:r>
            <a:endParaRPr lang="en-US" sz="1300" dirty="0"/>
          </a:p>
        </p:txBody>
      </p:sp>
      <p:sp>
        <p:nvSpPr>
          <p:cNvPr id="26" name="Shape 17"/>
          <p:cNvSpPr/>
          <p:nvPr/>
        </p:nvSpPr>
        <p:spPr>
          <a:xfrm>
            <a:off x="457200" y="3008376"/>
            <a:ext cx="1828800" cy="530352"/>
          </a:xfrm>
          <a:prstGeom prst="roundRect">
            <a:avLst>
              <a:gd name="adj" fmla="val 50000"/>
            </a:avLst>
          </a:prstGeom>
          <a:solidFill>
            <a:srgbClr val="ECF1EC"/>
          </a:solidFill>
          <a:ln w="6350">
            <a:solidFill>
              <a:srgbClr val="ECF1EC"/>
            </a:solidFill>
            <a:prstDash val="solid"/>
          </a:ln>
        </p:spPr>
        <p:txBody>
          <a:bodyPr/>
          <a:lstStyle/>
          <a:p>
            <a:endParaRPr lang="en-US"/>
          </a:p>
        </p:txBody>
      </p:sp>
      <p:pic>
        <p:nvPicPr>
          <p:cNvPr id="27" name="Image 6" descr="preencoded.png"/>
          <p:cNvPicPr>
            <a:picLocks noChangeAspect="1"/>
          </p:cNvPicPr>
          <p:nvPr/>
        </p:nvPicPr>
        <p:blipFill>
          <a:blip r:embed="rId9"/>
          <a:stretch>
            <a:fillRect/>
          </a:stretch>
        </p:blipFill>
        <p:spPr>
          <a:xfrm>
            <a:off x="612648" y="3145536"/>
            <a:ext cx="256032" cy="256032"/>
          </a:xfrm>
          <a:prstGeom prst="rect">
            <a:avLst/>
          </a:prstGeom>
        </p:spPr>
      </p:pic>
      <p:sp>
        <p:nvSpPr>
          <p:cNvPr id="28" name="Text 18"/>
          <p:cNvSpPr txBox="1"/>
          <p:nvPr/>
        </p:nvSpPr>
        <p:spPr>
          <a:xfrm>
            <a:off x="960120" y="3008376"/>
            <a:ext cx="1280160" cy="530352"/>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Farm history</a:t>
            </a:r>
            <a:endParaRPr lang="en-US" sz="1300" dirty="0"/>
          </a:p>
        </p:txBody>
      </p:sp>
      <p:sp>
        <p:nvSpPr>
          <p:cNvPr id="29" name="Text 19"/>
          <p:cNvSpPr txBox="1"/>
          <p:nvPr/>
        </p:nvSpPr>
        <p:spPr>
          <a:xfrm>
            <a:off x="457200" y="3611880"/>
            <a:ext cx="3840480" cy="320040"/>
          </a:xfrm>
          <a:prstGeom prst="rect">
            <a:avLst/>
          </a:prstGeom>
          <a:noFill/>
          <a:ln/>
        </p:spPr>
        <p:txBody>
          <a:bodyPr wrap="square" lIns="0" tIns="0" rIns="0" bIns="0" rtlCol="0" anchor="ctr"/>
          <a:lstStyle/>
          <a:p>
            <a:pPr marL="0" indent="0">
              <a:buNone/>
            </a:pPr>
            <a:r>
              <a:rPr lang="en-US" sz="1200" i="1" dirty="0">
                <a:solidFill>
                  <a:srgbClr val="6B7F74"/>
                </a:solidFill>
                <a:latin typeface="Calibri" pitchFamily="34" charset="0"/>
                <a:ea typeface="Calibri" pitchFamily="34" charset="-122"/>
                <a:cs typeface="Calibri" pitchFamily="34" charset="-120"/>
              </a:rPr>
              <a:t>Access, timing, coverage and scale vary.</a:t>
            </a:r>
            <a:endParaRPr lang="en-US" sz="1200" dirty="0"/>
          </a:p>
        </p:txBody>
      </p:sp>
      <p:sp>
        <p:nvSpPr>
          <p:cNvPr id="30" name="Shape 20"/>
          <p:cNvSpPr/>
          <p:nvPr/>
        </p:nvSpPr>
        <p:spPr>
          <a:xfrm>
            <a:off x="4572000" y="1325880"/>
            <a:ext cx="4114800" cy="2606040"/>
          </a:xfrm>
          <a:prstGeom prst="roundRect">
            <a:avLst>
              <a:gd name="adj" fmla="val 4912"/>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31" name="Text 21"/>
          <p:cNvSpPr txBox="1"/>
          <p:nvPr/>
        </p:nvSpPr>
        <p:spPr>
          <a:xfrm>
            <a:off x="4800600" y="1444752"/>
            <a:ext cx="3749040" cy="320040"/>
          </a:xfrm>
          <a:prstGeom prst="rect">
            <a:avLst/>
          </a:prstGeom>
          <a:noFill/>
          <a:ln/>
        </p:spPr>
        <p:txBody>
          <a:bodyPr wrap="square" lIns="0" tIns="0" rIns="0" bIns="0" rtlCol="0" anchor="ctr"/>
          <a:lstStyle/>
          <a:p>
            <a:pPr marL="0" indent="0">
              <a:buNone/>
            </a:pPr>
            <a:r>
              <a:rPr lang="en-US" sz="1400" b="1" dirty="0">
                <a:solidFill>
                  <a:srgbClr val="5FA36B"/>
                </a:solidFill>
                <a:latin typeface="Calibri" pitchFamily="34" charset="0"/>
                <a:ea typeface="Calibri" pitchFamily="34" charset="-122"/>
                <a:cs typeface="Calibri" pitchFamily="34" charset="-120"/>
              </a:rPr>
              <a:t>What one farmer must be able to answer</a:t>
            </a:r>
            <a:endParaRPr lang="en-US" sz="1400" dirty="0"/>
          </a:p>
        </p:txBody>
      </p:sp>
      <p:sp>
        <p:nvSpPr>
          <p:cNvPr id="32" name="Shape 22"/>
          <p:cNvSpPr/>
          <p:nvPr/>
        </p:nvSpPr>
        <p:spPr>
          <a:xfrm>
            <a:off x="4800600" y="1901952"/>
            <a:ext cx="347472" cy="347472"/>
          </a:xfrm>
          <a:prstGeom prst="ellipse">
            <a:avLst/>
          </a:prstGeom>
          <a:solidFill>
            <a:srgbClr val="5FA36B"/>
          </a:solidFill>
          <a:ln/>
        </p:spPr>
        <p:txBody>
          <a:bodyPr/>
          <a:lstStyle/>
          <a:p>
            <a:endParaRPr lang="en-US"/>
          </a:p>
        </p:txBody>
      </p:sp>
      <p:sp>
        <p:nvSpPr>
          <p:cNvPr id="33" name="Text 23"/>
          <p:cNvSpPr txBox="1"/>
          <p:nvPr/>
        </p:nvSpPr>
        <p:spPr>
          <a:xfrm>
            <a:off x="4800600" y="190195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4" name="Text 24"/>
          <p:cNvSpPr txBox="1"/>
          <p:nvPr/>
        </p:nvSpPr>
        <p:spPr>
          <a:xfrm>
            <a:off x="5285232" y="1901952"/>
            <a:ext cx="3246120" cy="347472"/>
          </a:xfrm>
          <a:prstGeom prst="rect">
            <a:avLst/>
          </a:prstGeom>
          <a:noFill/>
          <a:ln/>
        </p:spPr>
        <p:txBody>
          <a:bodyPr wrap="square" lIns="0" tIns="0" rIns="0" bIns="0" rtlCol="0" anchor="ctr"/>
          <a:lstStyle/>
          <a:p>
            <a:pPr marL="0" indent="0">
              <a:buNone/>
            </a:pPr>
            <a:r>
              <a:rPr lang="en-US" sz="1300" dirty="0">
                <a:solidFill>
                  <a:srgbClr val="2B3A33"/>
                </a:solidFill>
                <a:latin typeface="Calibri" pitchFamily="34" charset="0"/>
                <a:ea typeface="Calibri" pitchFamily="34" charset="-122"/>
                <a:cs typeface="Calibri" pitchFamily="34" charset="-120"/>
              </a:rPr>
              <a:t>Is salinity risk on my land rising?</a:t>
            </a:r>
            <a:endParaRPr lang="en-US" sz="1300" dirty="0"/>
          </a:p>
        </p:txBody>
      </p:sp>
      <p:sp>
        <p:nvSpPr>
          <p:cNvPr id="35" name="Shape 25"/>
          <p:cNvSpPr/>
          <p:nvPr/>
        </p:nvSpPr>
        <p:spPr>
          <a:xfrm>
            <a:off x="4800600" y="2404872"/>
            <a:ext cx="347472" cy="347472"/>
          </a:xfrm>
          <a:prstGeom prst="ellipse">
            <a:avLst/>
          </a:prstGeom>
          <a:solidFill>
            <a:srgbClr val="3E8E9E"/>
          </a:solidFill>
          <a:ln/>
        </p:spPr>
        <p:txBody>
          <a:bodyPr/>
          <a:lstStyle/>
          <a:p>
            <a:endParaRPr lang="en-US"/>
          </a:p>
        </p:txBody>
      </p:sp>
      <p:sp>
        <p:nvSpPr>
          <p:cNvPr id="36" name="Text 26"/>
          <p:cNvSpPr txBox="1"/>
          <p:nvPr/>
        </p:nvSpPr>
        <p:spPr>
          <a:xfrm>
            <a:off x="4800600" y="24048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7" name="Text 27"/>
          <p:cNvSpPr txBox="1"/>
          <p:nvPr/>
        </p:nvSpPr>
        <p:spPr>
          <a:xfrm>
            <a:off x="5285232" y="2404872"/>
            <a:ext cx="3246120" cy="347472"/>
          </a:xfrm>
          <a:prstGeom prst="rect">
            <a:avLst/>
          </a:prstGeom>
          <a:noFill/>
          <a:ln/>
        </p:spPr>
        <p:txBody>
          <a:bodyPr wrap="square" lIns="0" tIns="0" rIns="0" bIns="0" rtlCol="0" anchor="ctr"/>
          <a:lstStyle/>
          <a:p>
            <a:pPr marL="0" indent="0">
              <a:buNone/>
            </a:pPr>
            <a:r>
              <a:rPr lang="en-US" sz="1300" dirty="0">
                <a:solidFill>
                  <a:srgbClr val="2B3A33"/>
                </a:solidFill>
                <a:latin typeface="Calibri" pitchFamily="34" charset="0"/>
                <a:ea typeface="Calibri" pitchFamily="34" charset="-122"/>
                <a:cs typeface="Calibri" pitchFamily="34" charset="-120"/>
              </a:rPr>
              <a:t>What factors influence the prediction?</a:t>
            </a:r>
            <a:endParaRPr lang="en-US" sz="1300" dirty="0"/>
          </a:p>
        </p:txBody>
      </p:sp>
      <p:sp>
        <p:nvSpPr>
          <p:cNvPr id="38" name="Shape 28"/>
          <p:cNvSpPr/>
          <p:nvPr/>
        </p:nvSpPr>
        <p:spPr>
          <a:xfrm>
            <a:off x="4800600" y="2907792"/>
            <a:ext cx="347472" cy="347472"/>
          </a:xfrm>
          <a:prstGeom prst="ellipse">
            <a:avLst/>
          </a:prstGeom>
          <a:solidFill>
            <a:srgbClr val="5FA36B"/>
          </a:solidFill>
          <a:ln/>
        </p:spPr>
        <p:txBody>
          <a:bodyPr/>
          <a:lstStyle/>
          <a:p>
            <a:endParaRPr lang="en-US"/>
          </a:p>
        </p:txBody>
      </p:sp>
      <p:sp>
        <p:nvSpPr>
          <p:cNvPr id="39" name="Text 29"/>
          <p:cNvSpPr txBox="1"/>
          <p:nvPr/>
        </p:nvSpPr>
        <p:spPr>
          <a:xfrm>
            <a:off x="4800600" y="290779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0"/>
          <p:cNvSpPr txBox="1"/>
          <p:nvPr/>
        </p:nvSpPr>
        <p:spPr>
          <a:xfrm>
            <a:off x="5285232" y="2907792"/>
            <a:ext cx="3246120" cy="347472"/>
          </a:xfrm>
          <a:prstGeom prst="rect">
            <a:avLst/>
          </a:prstGeom>
          <a:noFill/>
          <a:ln/>
        </p:spPr>
        <p:txBody>
          <a:bodyPr wrap="square" lIns="0" tIns="0" rIns="0" bIns="0" rtlCol="0" anchor="ctr"/>
          <a:lstStyle/>
          <a:p>
            <a:pPr marL="0" indent="0">
              <a:buNone/>
            </a:pPr>
            <a:r>
              <a:rPr lang="en-US" sz="1300" dirty="0">
                <a:solidFill>
                  <a:srgbClr val="2B3A33"/>
                </a:solidFill>
                <a:latin typeface="Calibri" pitchFamily="34" charset="0"/>
                <a:ea typeface="Calibri" pitchFamily="34" charset="-122"/>
                <a:cs typeface="Calibri" pitchFamily="34" charset="-120"/>
              </a:rPr>
              <a:t>What could this mean for my crop?</a:t>
            </a:r>
            <a:endParaRPr lang="en-US" sz="1300" dirty="0"/>
          </a:p>
        </p:txBody>
      </p:sp>
      <p:sp>
        <p:nvSpPr>
          <p:cNvPr id="41" name="Shape 31"/>
          <p:cNvSpPr/>
          <p:nvPr/>
        </p:nvSpPr>
        <p:spPr>
          <a:xfrm>
            <a:off x="4800600" y="3410712"/>
            <a:ext cx="347472" cy="347472"/>
          </a:xfrm>
          <a:prstGeom prst="ellipse">
            <a:avLst/>
          </a:prstGeom>
          <a:solidFill>
            <a:srgbClr val="3E8E9E"/>
          </a:solidFill>
          <a:ln/>
        </p:spPr>
        <p:txBody>
          <a:bodyPr/>
          <a:lstStyle/>
          <a:p>
            <a:endParaRPr lang="en-US"/>
          </a:p>
        </p:txBody>
      </p:sp>
      <p:sp>
        <p:nvSpPr>
          <p:cNvPr id="42" name="Text 32"/>
          <p:cNvSpPr txBox="1"/>
          <p:nvPr/>
        </p:nvSpPr>
        <p:spPr>
          <a:xfrm>
            <a:off x="4800600" y="341071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3" name="Text 33"/>
          <p:cNvSpPr txBox="1"/>
          <p:nvPr/>
        </p:nvSpPr>
        <p:spPr>
          <a:xfrm>
            <a:off x="5285232" y="3410712"/>
            <a:ext cx="3246120" cy="347472"/>
          </a:xfrm>
          <a:prstGeom prst="rect">
            <a:avLst/>
          </a:prstGeom>
          <a:noFill/>
          <a:ln/>
        </p:spPr>
        <p:txBody>
          <a:bodyPr wrap="square" lIns="0" tIns="0" rIns="0" bIns="0" rtlCol="0" anchor="ctr"/>
          <a:lstStyle/>
          <a:p>
            <a:pPr marL="0" indent="0">
              <a:buNone/>
            </a:pPr>
            <a:r>
              <a:rPr lang="en-US" sz="1300" dirty="0">
                <a:solidFill>
                  <a:srgbClr val="2B3A33"/>
                </a:solidFill>
                <a:latin typeface="Calibri" pitchFamily="34" charset="0"/>
                <a:ea typeface="Calibri" pitchFamily="34" charset="-122"/>
                <a:cs typeface="Calibri" pitchFamily="34" charset="-120"/>
              </a:rPr>
              <a:t>What action should I consider?</a:t>
            </a:r>
            <a:endParaRPr lang="en-US" sz="1300" dirty="0"/>
          </a:p>
        </p:txBody>
      </p:sp>
      <p:sp>
        <p:nvSpPr>
          <p:cNvPr id="44" name="Shape 34"/>
          <p:cNvSpPr/>
          <p:nvPr/>
        </p:nvSpPr>
        <p:spPr>
          <a:xfrm>
            <a:off x="457200" y="4114800"/>
            <a:ext cx="8229600" cy="530352"/>
          </a:xfrm>
          <a:prstGeom prst="roundRect">
            <a:avLst>
              <a:gd name="adj" fmla="val 50000"/>
            </a:avLst>
          </a:prstGeom>
          <a:solidFill>
            <a:srgbClr val="1F4D3A"/>
          </a:solidFill>
          <a:ln/>
        </p:spPr>
        <p:txBody>
          <a:bodyPr/>
          <a:lstStyle/>
          <a:p>
            <a:endParaRPr lang="en-US"/>
          </a:p>
        </p:txBody>
      </p:sp>
      <p:pic>
        <p:nvPicPr>
          <p:cNvPr id="45" name="Image 7" descr="preencoded.png"/>
          <p:cNvPicPr>
            <a:picLocks noChangeAspect="1"/>
          </p:cNvPicPr>
          <p:nvPr/>
        </p:nvPicPr>
        <p:blipFill>
          <a:blip r:embed="rId10"/>
          <a:stretch>
            <a:fillRect/>
          </a:stretch>
        </p:blipFill>
        <p:spPr>
          <a:xfrm>
            <a:off x="713232" y="4261104"/>
            <a:ext cx="237744" cy="237744"/>
          </a:xfrm>
          <a:prstGeom prst="rect">
            <a:avLst/>
          </a:prstGeom>
        </p:spPr>
      </p:pic>
      <p:sp>
        <p:nvSpPr>
          <p:cNvPr id="46" name="Text 35"/>
          <p:cNvSpPr txBox="1"/>
          <p:nvPr/>
        </p:nvSpPr>
        <p:spPr>
          <a:xfrm>
            <a:off x="1097280" y="4114800"/>
            <a:ext cx="7406640" cy="53035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gap is not data availability. It is the missing step from data to a decision for one field.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4"/>
        </a:solidFill>
        <a:effectLst/>
      </p:bgPr>
    </p:bg>
    <p:spTree>
      <p:nvGrpSpPr>
        <p:cNvPr id="1" name=""/>
        <p:cNvGrpSpPr/>
        <p:nvPr/>
      </p:nvGrpSpPr>
      <p:grpSpPr>
        <a:xfrm>
          <a:off x="0" y="0"/>
          <a:ext cx="0" cy="0"/>
          <a:chOff x="0" y="0"/>
          <a:chExt cx="0" cy="0"/>
        </a:xfrm>
      </p:grpSpPr>
      <p:sp>
        <p:nvSpPr>
          <p:cNvPr id="2" name="Shape 0"/>
          <p:cNvSpPr/>
          <p:nvPr/>
        </p:nvSpPr>
        <p:spPr>
          <a:xfrm>
            <a:off x="7680960" y="-822960"/>
            <a:ext cx="2377440" cy="2011680"/>
          </a:xfrm>
          <a:prstGeom prst="ellipse">
            <a:avLst/>
          </a:prstGeom>
          <a:solidFill>
            <a:srgbClr val="E4F1E4"/>
          </a:solidFill>
          <a:ln/>
        </p:spPr>
        <p:txBody>
          <a:bodyPr/>
          <a:lstStyle/>
          <a:p>
            <a:endParaRPr lang="en-US"/>
          </a:p>
        </p:txBody>
      </p:sp>
      <p:sp>
        <p:nvSpPr>
          <p:cNvPr id="3" name="Shape 1"/>
          <p:cNvSpPr/>
          <p:nvPr/>
        </p:nvSpPr>
        <p:spPr>
          <a:xfrm>
            <a:off x="-914400" y="4480560"/>
            <a:ext cx="2377440" cy="1280160"/>
          </a:xfrm>
          <a:prstGeom prst="ellipse">
            <a:avLst/>
          </a:prstGeom>
          <a:solidFill>
            <a:srgbClr val="E4F1E4"/>
          </a:solidFill>
          <a:ln/>
        </p:spPr>
        <p:txBody>
          <a:bodyPr/>
          <a:lstStyle/>
          <a:p>
            <a:endParaRPr lang="en-US"/>
          </a:p>
        </p:txBody>
      </p:sp>
      <p:sp>
        <p:nvSpPr>
          <p:cNvPr id="4" name="Shape 2"/>
          <p:cNvSpPr/>
          <p:nvPr/>
        </p:nvSpPr>
        <p:spPr>
          <a:xfrm>
            <a:off x="457200" y="256032"/>
            <a:ext cx="4480560" cy="292608"/>
          </a:xfrm>
          <a:prstGeom prst="roundRect">
            <a:avLst>
              <a:gd name="adj" fmla="val 50000"/>
            </a:avLst>
          </a:prstGeom>
          <a:solidFill>
            <a:srgbClr val="DDEFF1"/>
          </a:solidFill>
          <a:ln/>
        </p:spPr>
        <p:txBody>
          <a:bodyPr/>
          <a:lstStyle/>
          <a:p>
            <a:endParaRPr lang="en-US"/>
          </a:p>
        </p:txBody>
      </p:sp>
      <p:sp>
        <p:nvSpPr>
          <p:cNvPr id="5" name="Text 3"/>
          <p:cNvSpPr txBox="1"/>
          <p:nvPr/>
        </p:nvSpPr>
        <p:spPr>
          <a:xfrm>
            <a:off x="594360" y="256032"/>
            <a:ext cx="4297680" cy="292608"/>
          </a:xfrm>
          <a:prstGeom prst="rect">
            <a:avLst/>
          </a:prstGeom>
          <a:noFill/>
          <a:ln/>
        </p:spPr>
        <p:txBody>
          <a:bodyPr wrap="square" lIns="0" tIns="0" rIns="0" bIns="0" rtlCol="0" anchor="ctr"/>
          <a:lstStyle/>
          <a:p>
            <a:pPr marL="0" indent="0">
              <a:buNone/>
            </a:pPr>
            <a:r>
              <a:rPr lang="en-US" sz="1050" b="1" dirty="0">
                <a:solidFill>
                  <a:srgbClr val="3E8E9E"/>
                </a:solidFill>
                <a:latin typeface="Calibri" pitchFamily="34" charset="0"/>
                <a:ea typeface="Calibri" pitchFamily="34" charset="-122"/>
                <a:cs typeface="Calibri" pitchFamily="34" charset="-120"/>
              </a:rPr>
              <a:t>JUDGE ASKS: What exactly does the AI do?</a:t>
            </a:r>
            <a:endParaRPr lang="en-US" sz="1050" dirty="0"/>
          </a:p>
        </p:txBody>
      </p:sp>
      <p:sp>
        <p:nvSpPr>
          <p:cNvPr id="6" name="Text 4"/>
          <p:cNvSpPr txBox="1"/>
          <p:nvPr/>
        </p:nvSpPr>
        <p:spPr>
          <a:xfrm>
            <a:off x="457200" y="640080"/>
            <a:ext cx="7589520" cy="548640"/>
          </a:xfrm>
          <a:prstGeom prst="rect">
            <a:avLst/>
          </a:prstGeom>
          <a:noFill/>
          <a:ln/>
        </p:spPr>
        <p:txBody>
          <a:bodyPr wrap="square" lIns="0" tIns="0" rIns="0" bIns="0" rtlCol="0" anchor="ctr"/>
          <a:lstStyle/>
          <a:p>
            <a:pPr marL="0" indent="0">
              <a:buNone/>
            </a:pPr>
            <a:r>
              <a:rPr lang="en-US" sz="2600" b="1" dirty="0">
                <a:solidFill>
                  <a:srgbClr val="1F4D3A"/>
                </a:solidFill>
                <a:latin typeface="Cambria" pitchFamily="34" charset="0"/>
                <a:ea typeface="Cambria" pitchFamily="34" charset="-122"/>
                <a:cs typeface="Cambria" pitchFamily="34" charset="-120"/>
              </a:rPr>
              <a:t>One testable AI job, five controlled stages</a:t>
            </a:r>
            <a:endParaRPr lang="en-US" sz="2600" dirty="0"/>
          </a:p>
        </p:txBody>
      </p:sp>
      <p:sp>
        <p:nvSpPr>
          <p:cNvPr id="7" name="Shape 5"/>
          <p:cNvSpPr/>
          <p:nvPr/>
        </p:nvSpPr>
        <p:spPr>
          <a:xfrm>
            <a:off x="8229600" y="292608"/>
            <a:ext cx="502920" cy="502920"/>
          </a:xfrm>
          <a:prstGeom prst="ellipse">
            <a:avLst/>
          </a:prstGeom>
          <a:solidFill>
            <a:srgbClr val="5FA36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355330" y="418338"/>
            <a:ext cx="251460" cy="251460"/>
          </a:xfrm>
          <a:prstGeom prst="rect">
            <a:avLst/>
          </a:prstGeom>
        </p:spPr>
      </p:pic>
      <p:pic>
        <p:nvPicPr>
          <p:cNvPr id="9" name="Image 1" descr="preencoded.png"/>
          <p:cNvPicPr>
            <a:picLocks noChangeAspect="1"/>
          </p:cNvPicPr>
          <p:nvPr/>
        </p:nvPicPr>
        <p:blipFill>
          <a:blip r:embed="rId4"/>
          <a:stretch>
            <a:fillRect/>
          </a:stretch>
        </p:blipFill>
        <p:spPr>
          <a:xfrm>
            <a:off x="457200" y="4773168"/>
            <a:ext cx="182880" cy="182880"/>
          </a:xfrm>
          <a:prstGeom prst="rect">
            <a:avLst/>
          </a:prstGeom>
        </p:spPr>
      </p:pic>
      <p:sp>
        <p:nvSpPr>
          <p:cNvPr id="10" name="Text 6"/>
          <p:cNvSpPr txBox="1"/>
          <p:nvPr/>
        </p:nvSpPr>
        <p:spPr>
          <a:xfrm>
            <a:off x="713232" y="4754880"/>
            <a:ext cx="1828800" cy="219456"/>
          </a:xfrm>
          <a:prstGeom prst="rect">
            <a:avLst/>
          </a:prstGeom>
          <a:noFill/>
          <a:ln/>
        </p:spPr>
        <p:txBody>
          <a:bodyPr wrap="square" lIns="0" tIns="0" rIns="0" bIns="0" rtlCol="0" anchor="ctr"/>
          <a:lstStyle/>
          <a:p>
            <a:pPr marL="0" indent="0">
              <a:buNone/>
            </a:pPr>
            <a:r>
              <a:rPr lang="en-US" sz="1000" b="1" dirty="0">
                <a:solidFill>
                  <a:srgbClr val="6B7F74"/>
                </a:solidFill>
                <a:latin typeface="Calibri" pitchFamily="34" charset="0"/>
                <a:ea typeface="Calibri" pitchFamily="34" charset="-122"/>
                <a:cs typeface="Calibri" pitchFamily="34" charset="-120"/>
              </a:rPr>
              <a:t>Krishan AI</a:t>
            </a:r>
            <a:endParaRPr lang="en-US" sz="1000" dirty="0"/>
          </a:p>
        </p:txBody>
      </p:sp>
      <p:sp>
        <p:nvSpPr>
          <p:cNvPr id="11" name="Text 7"/>
          <p:cNvSpPr txBox="1"/>
          <p:nvPr/>
        </p:nvSpPr>
        <p:spPr>
          <a:xfrm>
            <a:off x="8229600" y="4754880"/>
            <a:ext cx="457200" cy="219456"/>
          </a:xfrm>
          <a:prstGeom prst="rect">
            <a:avLst/>
          </a:prstGeom>
          <a:noFill/>
          <a:ln/>
        </p:spPr>
        <p:txBody>
          <a:bodyPr wrap="square" lIns="0" tIns="0" rIns="0" bIns="0" rtlCol="0" anchor="ctr"/>
          <a:lstStyle/>
          <a:p>
            <a:pPr marL="0" indent="0" algn="r">
              <a:buNone/>
            </a:pPr>
            <a:r>
              <a:rPr lang="en-US" sz="1000" dirty="0">
                <a:solidFill>
                  <a:srgbClr val="6B7F74"/>
                </a:solidFill>
                <a:latin typeface="Calibri" pitchFamily="34" charset="0"/>
                <a:ea typeface="Calibri" pitchFamily="34" charset="-122"/>
                <a:cs typeface="Calibri" pitchFamily="34" charset="-120"/>
              </a:rPr>
              <a:t>3</a:t>
            </a:r>
            <a:endParaRPr lang="en-US" sz="1000" dirty="0"/>
          </a:p>
        </p:txBody>
      </p:sp>
      <p:sp>
        <p:nvSpPr>
          <p:cNvPr id="13" name="Shape 8"/>
          <p:cNvSpPr/>
          <p:nvPr/>
        </p:nvSpPr>
        <p:spPr>
          <a:xfrm>
            <a:off x="457200" y="1280160"/>
            <a:ext cx="8229600" cy="804672"/>
          </a:xfrm>
          <a:prstGeom prst="roundRect">
            <a:avLst>
              <a:gd name="adj" fmla="val 18182"/>
            </a:avLst>
          </a:prstGeom>
          <a:solidFill>
            <a:srgbClr val="1F4D3A"/>
          </a:solidFill>
          <a:ln/>
          <a:effectLst>
            <a:outerShdw blurRad="101600" dist="25400" dir="5400000" algn="bl" rotWithShape="0">
              <a:srgbClr val="2F5D46">
                <a:alpha val="14000"/>
              </a:srgbClr>
            </a:outerShdw>
          </a:effectLst>
        </p:spPr>
        <p:txBody>
          <a:bodyPr/>
          <a:lstStyle/>
          <a:p>
            <a:endParaRPr lang="en-US"/>
          </a:p>
        </p:txBody>
      </p:sp>
      <p:sp>
        <p:nvSpPr>
          <p:cNvPr id="14" name="Shape 9"/>
          <p:cNvSpPr/>
          <p:nvPr/>
        </p:nvSpPr>
        <p:spPr>
          <a:xfrm>
            <a:off x="640080" y="1426464"/>
            <a:ext cx="512064" cy="512064"/>
          </a:xfrm>
          <a:prstGeom prst="ellipse">
            <a:avLst/>
          </a:prstGeom>
          <a:solidFill>
            <a:srgbClr val="F2B84B"/>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68096" y="1554480"/>
            <a:ext cx="256032" cy="256032"/>
          </a:xfrm>
          <a:prstGeom prst="rect">
            <a:avLst/>
          </a:prstGeom>
        </p:spPr>
      </p:pic>
      <p:sp>
        <p:nvSpPr>
          <p:cNvPr id="16" name="Text 10"/>
          <p:cNvSpPr txBox="1"/>
          <p:nvPr/>
        </p:nvSpPr>
        <p:spPr>
          <a:xfrm>
            <a:off x="1325880" y="1280160"/>
            <a:ext cx="7223760" cy="804672"/>
          </a:xfrm>
          <a:prstGeom prst="rect">
            <a:avLst/>
          </a:prstGeom>
          <a:noFill/>
          <a:ln/>
        </p:spPr>
        <p:txBody>
          <a:bodyPr wrap="square" lIns="0" tIns="0" rIns="0" bIns="0" rtlCol="0" anchor="ctr"/>
          <a:lstStyle/>
          <a:p>
            <a:pPr marL="0" indent="0">
              <a:buNone/>
            </a:pPr>
            <a:r>
              <a:rPr lang="en-US" sz="1250" b="1" dirty="0">
                <a:solidFill>
                  <a:srgbClr val="F2B84B"/>
                </a:solidFill>
                <a:latin typeface="Calibri" pitchFamily="34" charset="0"/>
                <a:ea typeface="Calibri" pitchFamily="34" charset="-122"/>
                <a:cs typeface="Calibri" pitchFamily="34" charset="-120"/>
              </a:rPr>
              <a:t>The job: </a:t>
            </a:r>
            <a:r>
              <a:rPr lang="en-US" sz="1250" dirty="0">
                <a:solidFill>
                  <a:srgbClr val="FFFFFF"/>
                </a:solidFill>
                <a:latin typeface="Calibri" pitchFamily="34" charset="0"/>
                <a:ea typeface="Calibri" pitchFamily="34" charset="-122"/>
                <a:cs typeface="Calibri" pitchFamily="34" charset="-120"/>
              </a:rPr>
              <a:t>predict whether a farm's salinity risk crosses a crop-specific soil EC threshold, set by an agronomist, within a fixed window. 1 to 4 weeks ahead is a starting option to test, not a proven capability.</a:t>
            </a:r>
            <a:endParaRPr lang="en-US" sz="1250" dirty="0"/>
          </a:p>
        </p:txBody>
      </p:sp>
      <p:sp>
        <p:nvSpPr>
          <p:cNvPr id="17" name="Shape 11"/>
          <p:cNvSpPr/>
          <p:nvPr/>
        </p:nvSpPr>
        <p:spPr>
          <a:xfrm>
            <a:off x="457200" y="2267712"/>
            <a:ext cx="1554480" cy="1627632"/>
          </a:xfrm>
          <a:prstGeom prst="roundRect">
            <a:avLst>
              <a:gd name="adj" fmla="val 8235"/>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18" name="Shape 12"/>
          <p:cNvSpPr/>
          <p:nvPr/>
        </p:nvSpPr>
        <p:spPr>
          <a:xfrm>
            <a:off x="566928" y="2377440"/>
            <a:ext cx="457200" cy="457200"/>
          </a:xfrm>
          <a:prstGeom prst="ellipse">
            <a:avLst/>
          </a:prstGeom>
          <a:solidFill>
            <a:srgbClr val="DDEFF1"/>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681228" y="2491740"/>
            <a:ext cx="228600" cy="228600"/>
          </a:xfrm>
          <a:prstGeom prst="rect">
            <a:avLst/>
          </a:prstGeom>
        </p:spPr>
      </p:pic>
      <p:sp>
        <p:nvSpPr>
          <p:cNvPr id="20" name="Text 13"/>
          <p:cNvSpPr txBox="1"/>
          <p:nvPr/>
        </p:nvSpPr>
        <p:spPr>
          <a:xfrm>
            <a:off x="1554480" y="2377440"/>
            <a:ext cx="365760" cy="457200"/>
          </a:xfrm>
          <a:prstGeom prst="rect">
            <a:avLst/>
          </a:prstGeom>
          <a:noFill/>
          <a:ln/>
        </p:spPr>
        <p:txBody>
          <a:bodyPr wrap="square" lIns="0" tIns="0" rIns="0" bIns="0" rtlCol="0" anchor="ctr"/>
          <a:lstStyle/>
          <a:p>
            <a:pPr marL="0" indent="0" algn="r">
              <a:buNone/>
            </a:pPr>
            <a:r>
              <a:rPr lang="en-US" sz="2200" b="1" dirty="0">
                <a:solidFill>
                  <a:srgbClr val="3E8E9E"/>
                </a:solidFill>
                <a:latin typeface="Cambria" pitchFamily="34" charset="0"/>
                <a:ea typeface="Cambria" pitchFamily="34" charset="-122"/>
                <a:cs typeface="Cambria" pitchFamily="34" charset="-120"/>
              </a:rPr>
              <a:t>1</a:t>
            </a:r>
            <a:endParaRPr lang="en-US" sz="2200" dirty="0"/>
          </a:p>
        </p:txBody>
      </p:sp>
      <p:sp>
        <p:nvSpPr>
          <p:cNvPr id="21" name="Text 14"/>
          <p:cNvSpPr txBox="1"/>
          <p:nvPr/>
        </p:nvSpPr>
        <p:spPr>
          <a:xfrm>
            <a:off x="566928" y="2889504"/>
            <a:ext cx="1371600" cy="274320"/>
          </a:xfrm>
          <a:prstGeom prst="rect">
            <a:avLst/>
          </a:prstGeom>
          <a:noFill/>
          <a:ln/>
        </p:spPr>
        <p:txBody>
          <a:bodyPr wrap="square" lIns="0" tIns="0" rIns="0" bIns="0" rtlCol="0" anchor="ctr"/>
          <a:lstStyle/>
          <a:p>
            <a:pPr marL="0" indent="0">
              <a:buNone/>
            </a:pPr>
            <a:r>
              <a:rPr lang="en-US" sz="1250" b="1" dirty="0">
                <a:solidFill>
                  <a:srgbClr val="1F4D3A"/>
                </a:solidFill>
                <a:latin typeface="Calibri" pitchFamily="34" charset="0"/>
                <a:ea typeface="Calibri" pitchFamily="34" charset="-122"/>
                <a:cs typeface="Calibri" pitchFamily="34" charset="-120"/>
              </a:rPr>
              <a:t>Data checks</a:t>
            </a:r>
            <a:endParaRPr lang="en-US" sz="1250" dirty="0"/>
          </a:p>
        </p:txBody>
      </p:sp>
      <p:sp>
        <p:nvSpPr>
          <p:cNvPr id="22" name="Text 15"/>
          <p:cNvSpPr txBox="1"/>
          <p:nvPr/>
        </p:nvSpPr>
        <p:spPr>
          <a:xfrm>
            <a:off x="566928" y="3172968"/>
            <a:ext cx="1353312" cy="685800"/>
          </a:xfrm>
          <a:prstGeom prst="rect">
            <a:avLst/>
          </a:prstGeom>
          <a:noFill/>
          <a:ln/>
        </p:spPr>
        <p:txBody>
          <a:bodyPr wrap="square" lIns="0" tIns="0" rIns="0" bIns="0" rtlCol="0" anchor="t"/>
          <a:lstStyle/>
          <a:p>
            <a:pPr marL="0" indent="0">
              <a:buNone/>
            </a:pPr>
            <a:r>
              <a:rPr lang="en-US" sz="1050" dirty="0">
                <a:solidFill>
                  <a:srgbClr val="2B3A33"/>
                </a:solidFill>
                <a:latin typeface="Calibri" pitchFamily="34" charset="0"/>
                <a:ea typeface="Calibri" pitchFamily="34" charset="-122"/>
                <a:cs typeface="Calibri" pitchFamily="34" charset="-120"/>
              </a:rPr>
              <a:t>Access, quality, coverage; satellite checked against field readings</a:t>
            </a:r>
            <a:endParaRPr lang="en-US" sz="1050" dirty="0"/>
          </a:p>
        </p:txBody>
      </p:sp>
      <p:sp>
        <p:nvSpPr>
          <p:cNvPr id="23" name="Shape 16"/>
          <p:cNvSpPr/>
          <p:nvPr/>
        </p:nvSpPr>
        <p:spPr>
          <a:xfrm>
            <a:off x="2125980" y="2267712"/>
            <a:ext cx="1554480" cy="1627632"/>
          </a:xfrm>
          <a:prstGeom prst="roundRect">
            <a:avLst>
              <a:gd name="adj" fmla="val 8235"/>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24" name="Shape 17"/>
          <p:cNvSpPr/>
          <p:nvPr/>
        </p:nvSpPr>
        <p:spPr>
          <a:xfrm>
            <a:off x="2235708" y="2377440"/>
            <a:ext cx="457200" cy="457200"/>
          </a:xfrm>
          <a:prstGeom prst="ellipse">
            <a:avLst/>
          </a:prstGeom>
          <a:solidFill>
            <a:srgbClr val="F7E4DA"/>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2350008" y="2491740"/>
            <a:ext cx="228600" cy="228600"/>
          </a:xfrm>
          <a:prstGeom prst="rect">
            <a:avLst/>
          </a:prstGeom>
        </p:spPr>
      </p:pic>
      <p:sp>
        <p:nvSpPr>
          <p:cNvPr id="26" name="Text 18"/>
          <p:cNvSpPr txBox="1"/>
          <p:nvPr/>
        </p:nvSpPr>
        <p:spPr>
          <a:xfrm>
            <a:off x="3223260" y="2377440"/>
            <a:ext cx="365760" cy="457200"/>
          </a:xfrm>
          <a:prstGeom prst="rect">
            <a:avLst/>
          </a:prstGeom>
          <a:noFill/>
          <a:ln/>
        </p:spPr>
        <p:txBody>
          <a:bodyPr wrap="square" lIns="0" tIns="0" rIns="0" bIns="0" rtlCol="0" anchor="ctr"/>
          <a:lstStyle/>
          <a:p>
            <a:pPr marL="0" indent="0" algn="r">
              <a:buNone/>
            </a:pPr>
            <a:r>
              <a:rPr lang="en-US" sz="2200" b="1" dirty="0">
                <a:solidFill>
                  <a:srgbClr val="C9714A"/>
                </a:solidFill>
                <a:latin typeface="Cambria" pitchFamily="34" charset="0"/>
                <a:ea typeface="Cambria" pitchFamily="34" charset="-122"/>
                <a:cs typeface="Cambria" pitchFamily="34" charset="-120"/>
              </a:rPr>
              <a:t>2</a:t>
            </a:r>
            <a:endParaRPr lang="en-US" sz="2200" dirty="0"/>
          </a:p>
        </p:txBody>
      </p:sp>
      <p:sp>
        <p:nvSpPr>
          <p:cNvPr id="27" name="Text 19"/>
          <p:cNvSpPr txBox="1"/>
          <p:nvPr/>
        </p:nvSpPr>
        <p:spPr>
          <a:xfrm>
            <a:off x="2235708" y="2889504"/>
            <a:ext cx="1371600" cy="274320"/>
          </a:xfrm>
          <a:prstGeom prst="rect">
            <a:avLst/>
          </a:prstGeom>
          <a:noFill/>
          <a:ln/>
        </p:spPr>
        <p:txBody>
          <a:bodyPr wrap="square" lIns="0" tIns="0" rIns="0" bIns="0" rtlCol="0" anchor="ctr"/>
          <a:lstStyle/>
          <a:p>
            <a:pPr marL="0" indent="0">
              <a:buNone/>
            </a:pPr>
            <a:r>
              <a:rPr lang="en-US" sz="1250" b="1" dirty="0">
                <a:solidFill>
                  <a:srgbClr val="1F4D3A"/>
                </a:solidFill>
                <a:latin typeface="Calibri" pitchFamily="34" charset="0"/>
                <a:ea typeface="Calibri" pitchFamily="34" charset="-122"/>
                <a:cs typeface="Calibri" pitchFamily="34" charset="-120"/>
              </a:rPr>
              <a:t>Research methods</a:t>
            </a:r>
            <a:endParaRPr lang="en-US" sz="1250" dirty="0"/>
          </a:p>
        </p:txBody>
      </p:sp>
      <p:sp>
        <p:nvSpPr>
          <p:cNvPr id="28" name="Text 20"/>
          <p:cNvSpPr txBox="1"/>
          <p:nvPr/>
        </p:nvSpPr>
        <p:spPr>
          <a:xfrm>
            <a:off x="2235708" y="3172968"/>
            <a:ext cx="1353312" cy="685800"/>
          </a:xfrm>
          <a:prstGeom prst="rect">
            <a:avLst/>
          </a:prstGeom>
          <a:noFill/>
          <a:ln/>
        </p:spPr>
        <p:txBody>
          <a:bodyPr wrap="square" lIns="0" tIns="0" rIns="0" bIns="0" rtlCol="0" anchor="t"/>
          <a:lstStyle/>
          <a:p>
            <a:pPr marL="0" indent="0">
              <a:buNone/>
            </a:pPr>
            <a:r>
              <a:rPr lang="en-US" sz="1050" dirty="0">
                <a:solidFill>
                  <a:srgbClr val="2B3A33"/>
                </a:solidFill>
                <a:latin typeface="Calibri" pitchFamily="34" charset="0"/>
                <a:ea typeface="Calibri" pitchFamily="34" charset="-122"/>
                <a:cs typeface="Calibri" pitchFamily="34" charset="-120"/>
              </a:rPr>
              <a:t>Simple baseline first; no model preselected</a:t>
            </a:r>
            <a:endParaRPr lang="en-US" sz="1050" dirty="0"/>
          </a:p>
        </p:txBody>
      </p:sp>
      <p:sp>
        <p:nvSpPr>
          <p:cNvPr id="29" name="Shape 21"/>
          <p:cNvSpPr/>
          <p:nvPr/>
        </p:nvSpPr>
        <p:spPr>
          <a:xfrm>
            <a:off x="3794760" y="2267712"/>
            <a:ext cx="1554480" cy="1627632"/>
          </a:xfrm>
          <a:prstGeom prst="roundRect">
            <a:avLst>
              <a:gd name="adj" fmla="val 8235"/>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30" name="Shape 22"/>
          <p:cNvSpPr/>
          <p:nvPr/>
        </p:nvSpPr>
        <p:spPr>
          <a:xfrm>
            <a:off x="3904488" y="2377440"/>
            <a:ext cx="457200" cy="457200"/>
          </a:xfrm>
          <a:prstGeom prst="ellipse">
            <a:avLst/>
          </a:prstGeom>
          <a:solidFill>
            <a:srgbClr val="FBF0D5"/>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4018788" y="2491740"/>
            <a:ext cx="228600" cy="228600"/>
          </a:xfrm>
          <a:prstGeom prst="rect">
            <a:avLst/>
          </a:prstGeom>
        </p:spPr>
      </p:pic>
      <p:sp>
        <p:nvSpPr>
          <p:cNvPr id="32" name="Text 23"/>
          <p:cNvSpPr txBox="1"/>
          <p:nvPr/>
        </p:nvSpPr>
        <p:spPr>
          <a:xfrm>
            <a:off x="4892040" y="2377440"/>
            <a:ext cx="365760" cy="457200"/>
          </a:xfrm>
          <a:prstGeom prst="rect">
            <a:avLst/>
          </a:prstGeom>
          <a:noFill/>
          <a:ln/>
        </p:spPr>
        <p:txBody>
          <a:bodyPr wrap="square" lIns="0" tIns="0" rIns="0" bIns="0" rtlCol="0" anchor="ctr"/>
          <a:lstStyle/>
          <a:p>
            <a:pPr marL="0" indent="0" algn="r">
              <a:buNone/>
            </a:pPr>
            <a:r>
              <a:rPr lang="en-US" sz="2200" b="1" dirty="0">
                <a:solidFill>
                  <a:srgbClr val="D9962B"/>
                </a:solidFill>
                <a:latin typeface="Cambria" pitchFamily="34" charset="0"/>
                <a:ea typeface="Cambria" pitchFamily="34" charset="-122"/>
                <a:cs typeface="Cambria" pitchFamily="34" charset="-120"/>
              </a:rPr>
              <a:t>3</a:t>
            </a:r>
            <a:endParaRPr lang="en-US" sz="2200" dirty="0"/>
          </a:p>
        </p:txBody>
      </p:sp>
      <p:sp>
        <p:nvSpPr>
          <p:cNvPr id="33" name="Text 24"/>
          <p:cNvSpPr txBox="1"/>
          <p:nvPr/>
        </p:nvSpPr>
        <p:spPr>
          <a:xfrm>
            <a:off x="3904488" y="2889504"/>
            <a:ext cx="1371600" cy="274320"/>
          </a:xfrm>
          <a:prstGeom prst="rect">
            <a:avLst/>
          </a:prstGeom>
          <a:noFill/>
          <a:ln/>
        </p:spPr>
        <p:txBody>
          <a:bodyPr wrap="square" lIns="0" tIns="0" rIns="0" bIns="0" rtlCol="0" anchor="ctr"/>
          <a:lstStyle/>
          <a:p>
            <a:pPr marL="0" indent="0">
              <a:buNone/>
            </a:pPr>
            <a:r>
              <a:rPr lang="en-US" sz="1250" b="1" dirty="0">
                <a:solidFill>
                  <a:srgbClr val="1F4D3A"/>
                </a:solidFill>
                <a:latin typeface="Calibri" pitchFamily="34" charset="0"/>
                <a:ea typeface="Calibri" pitchFamily="34" charset="-122"/>
                <a:cs typeface="Calibri" pitchFamily="34" charset="-120"/>
              </a:rPr>
              <a:t>Risk + reasons</a:t>
            </a:r>
            <a:endParaRPr lang="en-US" sz="1250" dirty="0"/>
          </a:p>
        </p:txBody>
      </p:sp>
      <p:sp>
        <p:nvSpPr>
          <p:cNvPr id="34" name="Text 25"/>
          <p:cNvSpPr txBox="1"/>
          <p:nvPr/>
        </p:nvSpPr>
        <p:spPr>
          <a:xfrm>
            <a:off x="3904488" y="3172968"/>
            <a:ext cx="1353312" cy="685800"/>
          </a:xfrm>
          <a:prstGeom prst="rect">
            <a:avLst/>
          </a:prstGeom>
          <a:noFill/>
          <a:ln/>
        </p:spPr>
        <p:txBody>
          <a:bodyPr wrap="square" lIns="0" tIns="0" rIns="0" bIns="0" rtlCol="0" anchor="t"/>
          <a:lstStyle/>
          <a:p>
            <a:pPr marL="0" indent="0">
              <a:buNone/>
            </a:pPr>
            <a:r>
              <a:rPr lang="en-US" sz="1050" dirty="0">
                <a:solidFill>
                  <a:srgbClr val="2B3A33"/>
                </a:solidFill>
                <a:latin typeface="Calibri" pitchFamily="34" charset="0"/>
                <a:ea typeface="Calibri" pitchFamily="34" charset="-122"/>
                <a:cs typeface="Calibri" pitchFamily="34" charset="-120"/>
              </a:rPr>
              <a:t>Risk level, confidence, data sufficiency, key factors</a:t>
            </a:r>
            <a:endParaRPr lang="en-US" sz="1050" dirty="0"/>
          </a:p>
        </p:txBody>
      </p:sp>
      <p:sp>
        <p:nvSpPr>
          <p:cNvPr id="35" name="Shape 26"/>
          <p:cNvSpPr/>
          <p:nvPr/>
        </p:nvSpPr>
        <p:spPr>
          <a:xfrm>
            <a:off x="5463540" y="2267712"/>
            <a:ext cx="1554480" cy="1627632"/>
          </a:xfrm>
          <a:prstGeom prst="roundRect">
            <a:avLst>
              <a:gd name="adj" fmla="val 8235"/>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36" name="Shape 27"/>
          <p:cNvSpPr/>
          <p:nvPr/>
        </p:nvSpPr>
        <p:spPr>
          <a:xfrm>
            <a:off x="5573268" y="2377440"/>
            <a:ext cx="457200" cy="457200"/>
          </a:xfrm>
          <a:prstGeom prst="ellipse">
            <a:avLst/>
          </a:prstGeom>
          <a:solidFill>
            <a:srgbClr val="E4F1E4"/>
          </a:solidFill>
          <a:ln/>
        </p:spPr>
        <p:txBody>
          <a:bodyPr/>
          <a:lstStyle/>
          <a:p>
            <a:endParaRPr lang="en-US"/>
          </a:p>
        </p:txBody>
      </p:sp>
      <p:pic>
        <p:nvPicPr>
          <p:cNvPr id="37" name="Image 6" descr="preencoded.png"/>
          <p:cNvPicPr>
            <a:picLocks noChangeAspect="1"/>
          </p:cNvPicPr>
          <p:nvPr/>
        </p:nvPicPr>
        <p:blipFill>
          <a:blip r:embed="rId9"/>
          <a:stretch>
            <a:fillRect/>
          </a:stretch>
        </p:blipFill>
        <p:spPr>
          <a:xfrm>
            <a:off x="5687568" y="2491740"/>
            <a:ext cx="228600" cy="228600"/>
          </a:xfrm>
          <a:prstGeom prst="rect">
            <a:avLst/>
          </a:prstGeom>
        </p:spPr>
      </p:pic>
      <p:sp>
        <p:nvSpPr>
          <p:cNvPr id="38" name="Text 28"/>
          <p:cNvSpPr txBox="1"/>
          <p:nvPr/>
        </p:nvSpPr>
        <p:spPr>
          <a:xfrm>
            <a:off x="6560820" y="2377440"/>
            <a:ext cx="365760" cy="457200"/>
          </a:xfrm>
          <a:prstGeom prst="rect">
            <a:avLst/>
          </a:prstGeom>
          <a:noFill/>
          <a:ln/>
        </p:spPr>
        <p:txBody>
          <a:bodyPr wrap="square" lIns="0" tIns="0" rIns="0" bIns="0" rtlCol="0" anchor="ctr"/>
          <a:lstStyle/>
          <a:p>
            <a:pPr marL="0" indent="0" algn="r">
              <a:buNone/>
            </a:pPr>
            <a:r>
              <a:rPr lang="en-US" sz="2200" b="1" dirty="0">
                <a:solidFill>
                  <a:srgbClr val="1F4D3A"/>
                </a:solidFill>
                <a:latin typeface="Cambria" pitchFamily="34" charset="0"/>
                <a:ea typeface="Cambria" pitchFamily="34" charset="-122"/>
                <a:cs typeface="Cambria" pitchFamily="34" charset="-120"/>
              </a:rPr>
              <a:t>4</a:t>
            </a:r>
            <a:endParaRPr lang="en-US" sz="2200" dirty="0"/>
          </a:p>
        </p:txBody>
      </p:sp>
      <p:sp>
        <p:nvSpPr>
          <p:cNvPr id="39" name="Text 29"/>
          <p:cNvSpPr txBox="1"/>
          <p:nvPr/>
        </p:nvSpPr>
        <p:spPr>
          <a:xfrm>
            <a:off x="5573268" y="2889504"/>
            <a:ext cx="1371600" cy="274320"/>
          </a:xfrm>
          <a:prstGeom prst="rect">
            <a:avLst/>
          </a:prstGeom>
          <a:noFill/>
          <a:ln/>
        </p:spPr>
        <p:txBody>
          <a:bodyPr wrap="square" lIns="0" tIns="0" rIns="0" bIns="0" rtlCol="0" anchor="ctr"/>
          <a:lstStyle/>
          <a:p>
            <a:pPr marL="0" indent="0">
              <a:buNone/>
            </a:pPr>
            <a:r>
              <a:rPr lang="en-US" sz="1250" b="1" dirty="0">
                <a:solidFill>
                  <a:srgbClr val="1F4D3A"/>
                </a:solidFill>
                <a:latin typeface="Calibri" pitchFamily="34" charset="0"/>
                <a:ea typeface="Calibri" pitchFamily="34" charset="-122"/>
                <a:cs typeface="Calibri" pitchFamily="34" charset="-120"/>
              </a:rPr>
              <a:t>Recommendations</a:t>
            </a:r>
            <a:endParaRPr lang="en-US" sz="1250" dirty="0"/>
          </a:p>
        </p:txBody>
      </p:sp>
      <p:sp>
        <p:nvSpPr>
          <p:cNvPr id="40" name="Text 30"/>
          <p:cNvSpPr txBox="1"/>
          <p:nvPr/>
        </p:nvSpPr>
        <p:spPr>
          <a:xfrm>
            <a:off x="5573268" y="3172968"/>
            <a:ext cx="1353312" cy="685800"/>
          </a:xfrm>
          <a:prstGeom prst="rect">
            <a:avLst/>
          </a:prstGeom>
          <a:noFill/>
          <a:ln/>
        </p:spPr>
        <p:txBody>
          <a:bodyPr wrap="square" lIns="0" tIns="0" rIns="0" bIns="0" rtlCol="0" anchor="t"/>
          <a:lstStyle/>
          <a:p>
            <a:pPr marL="0" indent="0">
              <a:buNone/>
            </a:pPr>
            <a:r>
              <a:rPr lang="en-US" sz="1050" dirty="0">
                <a:solidFill>
                  <a:srgbClr val="2B3A33"/>
                </a:solidFill>
                <a:latin typeface="Calibri" pitchFamily="34" charset="0"/>
                <a:ea typeface="Calibri" pitchFamily="34" charset="-122"/>
                <a:cs typeface="Calibri" pitchFamily="34" charset="-120"/>
              </a:rPr>
              <a:t>Expert-approved, versioned rules by crop and stage</a:t>
            </a:r>
            <a:endParaRPr lang="en-US" sz="1050" dirty="0"/>
          </a:p>
        </p:txBody>
      </p:sp>
      <p:sp>
        <p:nvSpPr>
          <p:cNvPr id="41" name="Shape 31"/>
          <p:cNvSpPr/>
          <p:nvPr/>
        </p:nvSpPr>
        <p:spPr>
          <a:xfrm>
            <a:off x="7132320" y="2267712"/>
            <a:ext cx="1554480" cy="1627632"/>
          </a:xfrm>
          <a:prstGeom prst="roundRect">
            <a:avLst>
              <a:gd name="adj" fmla="val 8235"/>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42" name="Shape 32"/>
          <p:cNvSpPr/>
          <p:nvPr/>
        </p:nvSpPr>
        <p:spPr>
          <a:xfrm>
            <a:off x="7242048" y="2377440"/>
            <a:ext cx="457200" cy="457200"/>
          </a:xfrm>
          <a:prstGeom prst="ellipse">
            <a:avLst/>
          </a:prstGeom>
          <a:solidFill>
            <a:srgbClr val="E4F1E4"/>
          </a:solidFill>
          <a:ln/>
        </p:spPr>
        <p:txBody>
          <a:bodyPr/>
          <a:lstStyle/>
          <a:p>
            <a:endParaRPr lang="en-US"/>
          </a:p>
        </p:txBody>
      </p:sp>
      <p:pic>
        <p:nvPicPr>
          <p:cNvPr id="43" name="Image 7" descr="preencoded.png"/>
          <p:cNvPicPr>
            <a:picLocks noChangeAspect="1"/>
          </p:cNvPicPr>
          <p:nvPr/>
        </p:nvPicPr>
        <p:blipFill>
          <a:blip r:embed="rId10"/>
          <a:stretch>
            <a:fillRect/>
          </a:stretch>
        </p:blipFill>
        <p:spPr>
          <a:xfrm>
            <a:off x="7356348" y="2491740"/>
            <a:ext cx="228600" cy="228600"/>
          </a:xfrm>
          <a:prstGeom prst="rect">
            <a:avLst/>
          </a:prstGeom>
        </p:spPr>
      </p:pic>
      <p:sp>
        <p:nvSpPr>
          <p:cNvPr id="44" name="Text 33"/>
          <p:cNvSpPr txBox="1"/>
          <p:nvPr/>
        </p:nvSpPr>
        <p:spPr>
          <a:xfrm>
            <a:off x="8229600" y="2377440"/>
            <a:ext cx="365760" cy="457200"/>
          </a:xfrm>
          <a:prstGeom prst="rect">
            <a:avLst/>
          </a:prstGeom>
          <a:noFill/>
          <a:ln/>
        </p:spPr>
        <p:txBody>
          <a:bodyPr wrap="square" lIns="0" tIns="0" rIns="0" bIns="0" rtlCol="0" anchor="ctr"/>
          <a:lstStyle/>
          <a:p>
            <a:pPr marL="0" indent="0" algn="r">
              <a:buNone/>
            </a:pPr>
            <a:r>
              <a:rPr lang="en-US" sz="2200" b="1" dirty="0">
                <a:solidFill>
                  <a:srgbClr val="5FA36B"/>
                </a:solidFill>
                <a:latin typeface="Cambria" pitchFamily="34" charset="0"/>
                <a:ea typeface="Cambria" pitchFamily="34" charset="-122"/>
                <a:cs typeface="Cambria" pitchFamily="34" charset="-120"/>
              </a:rPr>
              <a:t>5</a:t>
            </a:r>
            <a:endParaRPr lang="en-US" sz="2200" dirty="0"/>
          </a:p>
        </p:txBody>
      </p:sp>
      <p:sp>
        <p:nvSpPr>
          <p:cNvPr id="45" name="Text 34"/>
          <p:cNvSpPr txBox="1"/>
          <p:nvPr/>
        </p:nvSpPr>
        <p:spPr>
          <a:xfrm>
            <a:off x="7242048" y="2889504"/>
            <a:ext cx="1371600" cy="274320"/>
          </a:xfrm>
          <a:prstGeom prst="rect">
            <a:avLst/>
          </a:prstGeom>
          <a:noFill/>
          <a:ln/>
        </p:spPr>
        <p:txBody>
          <a:bodyPr wrap="square" lIns="0" tIns="0" rIns="0" bIns="0" rtlCol="0" anchor="ctr"/>
          <a:lstStyle/>
          <a:p>
            <a:pPr marL="0" indent="0">
              <a:buNone/>
            </a:pPr>
            <a:r>
              <a:rPr lang="en-US" sz="1250" b="1" dirty="0">
                <a:solidFill>
                  <a:srgbClr val="1F4D3A"/>
                </a:solidFill>
                <a:latin typeface="Calibri" pitchFamily="34" charset="0"/>
                <a:ea typeface="Calibri" pitchFamily="34" charset="-122"/>
                <a:cs typeface="Calibri" pitchFamily="34" charset="-120"/>
              </a:rPr>
              <a:t>Farmer message</a:t>
            </a:r>
            <a:endParaRPr lang="en-US" sz="1250" dirty="0"/>
          </a:p>
        </p:txBody>
      </p:sp>
      <p:sp>
        <p:nvSpPr>
          <p:cNvPr id="46" name="Text 35"/>
          <p:cNvSpPr txBox="1"/>
          <p:nvPr/>
        </p:nvSpPr>
        <p:spPr>
          <a:xfrm>
            <a:off x="7242048" y="3172968"/>
            <a:ext cx="1353312" cy="685800"/>
          </a:xfrm>
          <a:prstGeom prst="rect">
            <a:avLst/>
          </a:prstGeom>
          <a:noFill/>
          <a:ln/>
        </p:spPr>
        <p:txBody>
          <a:bodyPr wrap="square" lIns="0" tIns="0" rIns="0" bIns="0" rtlCol="0" anchor="t"/>
          <a:lstStyle/>
          <a:p>
            <a:pPr marL="0" indent="0">
              <a:buNone/>
            </a:pPr>
            <a:r>
              <a:rPr lang="en-US" sz="1050" dirty="0">
                <a:solidFill>
                  <a:srgbClr val="2B3A33"/>
                </a:solidFill>
                <a:latin typeface="Calibri" pitchFamily="34" charset="0"/>
                <a:ea typeface="Calibri" pitchFamily="34" charset="-122"/>
                <a:cs typeface="Calibri" pitchFamily="34" charset="-120"/>
              </a:rPr>
              <a:t>GenAI explains approved advice in Bengali or English</a:t>
            </a:r>
            <a:endParaRPr lang="en-US" sz="1050" dirty="0"/>
          </a:p>
        </p:txBody>
      </p:sp>
      <p:sp>
        <p:nvSpPr>
          <p:cNvPr id="47" name="Shape 36"/>
          <p:cNvSpPr/>
          <p:nvPr/>
        </p:nvSpPr>
        <p:spPr>
          <a:xfrm>
            <a:off x="457200" y="4041648"/>
            <a:ext cx="8229600" cy="566928"/>
          </a:xfrm>
          <a:prstGeom prst="roundRect">
            <a:avLst>
              <a:gd name="adj" fmla="val 48387"/>
            </a:avLst>
          </a:prstGeom>
          <a:solidFill>
            <a:srgbClr val="E4F1E4"/>
          </a:solidFill>
          <a:ln/>
        </p:spPr>
        <p:txBody>
          <a:bodyPr/>
          <a:lstStyle/>
          <a:p>
            <a:endParaRPr lang="en-US"/>
          </a:p>
        </p:txBody>
      </p:sp>
      <p:sp>
        <p:nvSpPr>
          <p:cNvPr id="48" name="Text 37"/>
          <p:cNvSpPr txBox="1"/>
          <p:nvPr/>
        </p:nvSpPr>
        <p:spPr>
          <a:xfrm>
            <a:off x="731520" y="4041648"/>
            <a:ext cx="7772400" cy="566928"/>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Factors are clues, not proof of cause.  </a:t>
            </a:r>
            <a:r>
              <a:rPr lang="en-US" sz="1300" dirty="0">
                <a:solidFill>
                  <a:srgbClr val="2B3A33"/>
                </a:solidFill>
                <a:latin typeface="Calibri" pitchFamily="34" charset="0"/>
                <a:ea typeface="Calibri" pitchFamily="34" charset="-122"/>
                <a:cs typeface="Calibri" pitchFamily="34" charset="-120"/>
              </a:rPr>
              <a:t>Generative AI communicates approved advice. It never invents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4"/>
        </a:solidFill>
        <a:effectLst/>
      </p:bgPr>
    </p:bg>
    <p:spTree>
      <p:nvGrpSpPr>
        <p:cNvPr id="1" name=""/>
        <p:cNvGrpSpPr/>
        <p:nvPr/>
      </p:nvGrpSpPr>
      <p:grpSpPr>
        <a:xfrm>
          <a:off x="0" y="0"/>
          <a:ext cx="0" cy="0"/>
          <a:chOff x="0" y="0"/>
          <a:chExt cx="0" cy="0"/>
        </a:xfrm>
      </p:grpSpPr>
      <p:sp>
        <p:nvSpPr>
          <p:cNvPr id="2" name="Shape 0"/>
          <p:cNvSpPr/>
          <p:nvPr/>
        </p:nvSpPr>
        <p:spPr>
          <a:xfrm>
            <a:off x="7680960" y="-822960"/>
            <a:ext cx="2377440" cy="2011680"/>
          </a:xfrm>
          <a:prstGeom prst="ellipse">
            <a:avLst/>
          </a:prstGeom>
          <a:solidFill>
            <a:srgbClr val="E4F1E4"/>
          </a:solidFill>
          <a:ln/>
        </p:spPr>
        <p:txBody>
          <a:bodyPr/>
          <a:lstStyle/>
          <a:p>
            <a:endParaRPr lang="en-US"/>
          </a:p>
        </p:txBody>
      </p:sp>
      <p:sp>
        <p:nvSpPr>
          <p:cNvPr id="3" name="Shape 1"/>
          <p:cNvSpPr/>
          <p:nvPr/>
        </p:nvSpPr>
        <p:spPr>
          <a:xfrm>
            <a:off x="-914400" y="4480560"/>
            <a:ext cx="2377440" cy="1280160"/>
          </a:xfrm>
          <a:prstGeom prst="ellipse">
            <a:avLst/>
          </a:prstGeom>
          <a:solidFill>
            <a:srgbClr val="E4F1E4"/>
          </a:solidFill>
          <a:ln/>
        </p:spPr>
        <p:txBody>
          <a:bodyPr/>
          <a:lstStyle/>
          <a:p>
            <a:endParaRPr lang="en-US"/>
          </a:p>
        </p:txBody>
      </p:sp>
      <p:sp>
        <p:nvSpPr>
          <p:cNvPr id="4" name="Shape 2"/>
          <p:cNvSpPr/>
          <p:nvPr/>
        </p:nvSpPr>
        <p:spPr>
          <a:xfrm>
            <a:off x="457200" y="256032"/>
            <a:ext cx="4480560" cy="292608"/>
          </a:xfrm>
          <a:prstGeom prst="roundRect">
            <a:avLst>
              <a:gd name="adj" fmla="val 50000"/>
            </a:avLst>
          </a:prstGeom>
          <a:solidFill>
            <a:srgbClr val="DDEFF1"/>
          </a:solidFill>
          <a:ln/>
        </p:spPr>
        <p:txBody>
          <a:bodyPr/>
          <a:lstStyle/>
          <a:p>
            <a:endParaRPr lang="en-US"/>
          </a:p>
        </p:txBody>
      </p:sp>
      <p:sp>
        <p:nvSpPr>
          <p:cNvPr id="5" name="Text 3"/>
          <p:cNvSpPr txBox="1"/>
          <p:nvPr/>
        </p:nvSpPr>
        <p:spPr>
          <a:xfrm>
            <a:off x="594360" y="256032"/>
            <a:ext cx="4297680" cy="292608"/>
          </a:xfrm>
          <a:prstGeom prst="rect">
            <a:avLst/>
          </a:prstGeom>
          <a:noFill/>
          <a:ln/>
        </p:spPr>
        <p:txBody>
          <a:bodyPr wrap="square" lIns="0" tIns="0" rIns="0" bIns="0" rtlCol="0" anchor="ctr"/>
          <a:lstStyle/>
          <a:p>
            <a:pPr marL="0" indent="0">
              <a:buNone/>
            </a:pPr>
            <a:r>
              <a:rPr lang="en-US" sz="1050" b="1" dirty="0">
                <a:solidFill>
                  <a:srgbClr val="3E8E9E"/>
                </a:solidFill>
                <a:latin typeface="Calibri" pitchFamily="34" charset="0"/>
                <a:ea typeface="Calibri" pitchFamily="34" charset="-122"/>
                <a:cs typeface="Calibri" pitchFamily="34" charset="-120"/>
              </a:rPr>
              <a:t>JUDGE ASKS: How do you know it works, and what if it is wrong?</a:t>
            </a:r>
            <a:endParaRPr lang="en-US" sz="1050" dirty="0"/>
          </a:p>
        </p:txBody>
      </p:sp>
      <p:sp>
        <p:nvSpPr>
          <p:cNvPr id="6" name="Text 4"/>
          <p:cNvSpPr txBox="1"/>
          <p:nvPr/>
        </p:nvSpPr>
        <p:spPr>
          <a:xfrm>
            <a:off x="457200" y="640080"/>
            <a:ext cx="7589520" cy="548640"/>
          </a:xfrm>
          <a:prstGeom prst="rect">
            <a:avLst/>
          </a:prstGeom>
          <a:noFill/>
          <a:ln/>
        </p:spPr>
        <p:txBody>
          <a:bodyPr wrap="square" lIns="0" tIns="0" rIns="0" bIns="0" rtlCol="0" anchor="ctr"/>
          <a:lstStyle/>
          <a:p>
            <a:pPr marL="0" indent="0">
              <a:buNone/>
            </a:pPr>
            <a:r>
              <a:rPr lang="en-US" sz="2600" b="1" dirty="0">
                <a:solidFill>
                  <a:srgbClr val="1F4D3A"/>
                </a:solidFill>
                <a:latin typeface="Cambria" pitchFamily="34" charset="0"/>
                <a:ea typeface="Cambria" pitchFamily="34" charset="-122"/>
                <a:cs typeface="Cambria" pitchFamily="34" charset="-120"/>
              </a:rPr>
              <a:t>A model stays only if it beats the baseline</a:t>
            </a:r>
            <a:endParaRPr lang="en-US" sz="2600" dirty="0"/>
          </a:p>
        </p:txBody>
      </p:sp>
      <p:sp>
        <p:nvSpPr>
          <p:cNvPr id="7" name="Shape 5"/>
          <p:cNvSpPr/>
          <p:nvPr/>
        </p:nvSpPr>
        <p:spPr>
          <a:xfrm>
            <a:off x="8229600" y="292608"/>
            <a:ext cx="502920" cy="502920"/>
          </a:xfrm>
          <a:prstGeom prst="ellipse">
            <a:avLst/>
          </a:prstGeom>
          <a:solidFill>
            <a:srgbClr val="5FA36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355330" y="418338"/>
            <a:ext cx="251460" cy="251460"/>
          </a:xfrm>
          <a:prstGeom prst="rect">
            <a:avLst/>
          </a:prstGeom>
        </p:spPr>
      </p:pic>
      <p:pic>
        <p:nvPicPr>
          <p:cNvPr id="9" name="Image 1" descr="preencoded.png"/>
          <p:cNvPicPr>
            <a:picLocks noChangeAspect="1"/>
          </p:cNvPicPr>
          <p:nvPr/>
        </p:nvPicPr>
        <p:blipFill>
          <a:blip r:embed="rId4"/>
          <a:stretch>
            <a:fillRect/>
          </a:stretch>
        </p:blipFill>
        <p:spPr>
          <a:xfrm>
            <a:off x="457200" y="4773168"/>
            <a:ext cx="182880" cy="182880"/>
          </a:xfrm>
          <a:prstGeom prst="rect">
            <a:avLst/>
          </a:prstGeom>
        </p:spPr>
      </p:pic>
      <p:sp>
        <p:nvSpPr>
          <p:cNvPr id="10" name="Text 6"/>
          <p:cNvSpPr txBox="1"/>
          <p:nvPr/>
        </p:nvSpPr>
        <p:spPr>
          <a:xfrm>
            <a:off x="713232" y="4754880"/>
            <a:ext cx="1828800" cy="219456"/>
          </a:xfrm>
          <a:prstGeom prst="rect">
            <a:avLst/>
          </a:prstGeom>
          <a:noFill/>
          <a:ln/>
        </p:spPr>
        <p:txBody>
          <a:bodyPr wrap="square" lIns="0" tIns="0" rIns="0" bIns="0" rtlCol="0" anchor="ctr"/>
          <a:lstStyle/>
          <a:p>
            <a:pPr marL="0" indent="0">
              <a:buNone/>
            </a:pPr>
            <a:r>
              <a:rPr lang="en-US" sz="1000" b="1" dirty="0">
                <a:solidFill>
                  <a:srgbClr val="6B7F74"/>
                </a:solidFill>
                <a:latin typeface="Calibri" pitchFamily="34" charset="0"/>
                <a:ea typeface="Calibri" pitchFamily="34" charset="-122"/>
                <a:cs typeface="Calibri" pitchFamily="34" charset="-120"/>
              </a:rPr>
              <a:t>Krishan AI</a:t>
            </a:r>
            <a:endParaRPr lang="en-US" sz="1000" dirty="0"/>
          </a:p>
        </p:txBody>
      </p:sp>
      <p:sp>
        <p:nvSpPr>
          <p:cNvPr id="11" name="Text 7"/>
          <p:cNvSpPr txBox="1"/>
          <p:nvPr/>
        </p:nvSpPr>
        <p:spPr>
          <a:xfrm>
            <a:off x="8229600" y="4754880"/>
            <a:ext cx="457200" cy="219456"/>
          </a:xfrm>
          <a:prstGeom prst="rect">
            <a:avLst/>
          </a:prstGeom>
          <a:noFill/>
          <a:ln/>
        </p:spPr>
        <p:txBody>
          <a:bodyPr wrap="square" lIns="0" tIns="0" rIns="0" bIns="0" rtlCol="0" anchor="ctr"/>
          <a:lstStyle/>
          <a:p>
            <a:pPr marL="0" indent="0" algn="r">
              <a:buNone/>
            </a:pPr>
            <a:r>
              <a:rPr lang="en-US" sz="1000" dirty="0">
                <a:solidFill>
                  <a:srgbClr val="6B7F74"/>
                </a:solidFill>
                <a:latin typeface="Calibri" pitchFamily="34" charset="0"/>
                <a:ea typeface="Calibri" pitchFamily="34" charset="-122"/>
                <a:cs typeface="Calibri" pitchFamily="34" charset="-120"/>
              </a:rPr>
              <a:t>4</a:t>
            </a:r>
            <a:endParaRPr lang="en-US" sz="1000" dirty="0"/>
          </a:p>
        </p:txBody>
      </p:sp>
      <p:sp>
        <p:nvSpPr>
          <p:cNvPr id="13" name="Shape 8"/>
          <p:cNvSpPr/>
          <p:nvPr/>
        </p:nvSpPr>
        <p:spPr>
          <a:xfrm>
            <a:off x="457200" y="1325880"/>
            <a:ext cx="2651760" cy="2788920"/>
          </a:xfrm>
          <a:prstGeom prst="roundRect">
            <a:avLst>
              <a:gd name="adj" fmla="val 4828"/>
            </a:avLst>
          </a:prstGeom>
          <a:solidFill>
            <a:srgbClr val="DDEFF1"/>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14" name="Shape 9"/>
          <p:cNvSpPr/>
          <p:nvPr/>
        </p:nvSpPr>
        <p:spPr>
          <a:xfrm>
            <a:off x="621792" y="1463040"/>
            <a:ext cx="457200" cy="457200"/>
          </a:xfrm>
          <a:prstGeom prst="ellipse">
            <a:avLst/>
          </a:prstGeom>
          <a:solidFill>
            <a:srgbClr val="FFFFFF"/>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36092" y="1577340"/>
            <a:ext cx="228600" cy="228600"/>
          </a:xfrm>
          <a:prstGeom prst="rect">
            <a:avLst/>
          </a:prstGeom>
        </p:spPr>
      </p:pic>
      <p:sp>
        <p:nvSpPr>
          <p:cNvPr id="16" name="Text 10"/>
          <p:cNvSpPr txBox="1"/>
          <p:nvPr/>
        </p:nvSpPr>
        <p:spPr>
          <a:xfrm>
            <a:off x="1188720" y="1463040"/>
            <a:ext cx="1828800" cy="457200"/>
          </a:xfrm>
          <a:prstGeom prst="rect">
            <a:avLst/>
          </a:prstGeom>
          <a:noFill/>
          <a:ln/>
        </p:spPr>
        <p:txBody>
          <a:bodyPr wrap="square" lIns="0" tIns="0" rIns="0" bIns="0" rtlCol="0" anchor="ctr"/>
          <a:lstStyle/>
          <a:p>
            <a:pPr marL="0" indent="0">
              <a:buNone/>
            </a:pPr>
            <a:r>
              <a:rPr lang="en-US" sz="1600" b="1" dirty="0">
                <a:solidFill>
                  <a:srgbClr val="1F4D3A"/>
                </a:solidFill>
                <a:latin typeface="Cambria" pitchFamily="34" charset="0"/>
                <a:ea typeface="Cambria" pitchFamily="34" charset="-122"/>
                <a:cs typeface="Cambria" pitchFamily="34" charset="-120"/>
              </a:rPr>
              <a:t>Validate</a:t>
            </a:r>
            <a:endParaRPr lang="en-US" sz="1600" dirty="0"/>
          </a:p>
        </p:txBody>
      </p:sp>
      <p:sp>
        <p:nvSpPr>
          <p:cNvPr id="17" name="Text 11"/>
          <p:cNvSpPr txBox="1"/>
          <p:nvPr/>
        </p:nvSpPr>
        <p:spPr>
          <a:xfrm>
            <a:off x="640080" y="2084832"/>
            <a:ext cx="2331720" cy="1938528"/>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Simple threshold rule as baseline</a:t>
            </a:r>
            <a:endParaRPr lang="en-US" sz="1200" dirty="0"/>
          </a:p>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Test on unseen farms and later periods</a:t>
            </a:r>
            <a:endParaRPr lang="en-US" sz="1200" dirty="0"/>
          </a:p>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Track false alarms, missed high-risk cases, lead time</a:t>
            </a:r>
            <a:endParaRPr lang="en-US" sz="1200" dirty="0"/>
          </a:p>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Complex models only if evidence supports them</a:t>
            </a:r>
            <a:endParaRPr lang="en-US" sz="1200" dirty="0"/>
          </a:p>
        </p:txBody>
      </p:sp>
      <p:sp>
        <p:nvSpPr>
          <p:cNvPr id="18" name="Shape 12"/>
          <p:cNvSpPr/>
          <p:nvPr/>
        </p:nvSpPr>
        <p:spPr>
          <a:xfrm>
            <a:off x="3246120" y="1325880"/>
            <a:ext cx="2651760" cy="2788920"/>
          </a:xfrm>
          <a:prstGeom prst="roundRect">
            <a:avLst>
              <a:gd name="adj" fmla="val 4828"/>
            </a:avLst>
          </a:prstGeom>
          <a:solidFill>
            <a:srgbClr val="FBF0D5"/>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19" name="Shape 13"/>
          <p:cNvSpPr/>
          <p:nvPr/>
        </p:nvSpPr>
        <p:spPr>
          <a:xfrm>
            <a:off x="3410712" y="1463040"/>
            <a:ext cx="457200" cy="457200"/>
          </a:xfrm>
          <a:prstGeom prst="ellipse">
            <a:avLst/>
          </a:prstGeom>
          <a:solidFill>
            <a:srgbClr val="FFFFFF"/>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3525012" y="1577340"/>
            <a:ext cx="228600" cy="228600"/>
          </a:xfrm>
          <a:prstGeom prst="rect">
            <a:avLst/>
          </a:prstGeom>
        </p:spPr>
      </p:pic>
      <p:sp>
        <p:nvSpPr>
          <p:cNvPr id="21" name="Text 14"/>
          <p:cNvSpPr txBox="1"/>
          <p:nvPr/>
        </p:nvSpPr>
        <p:spPr>
          <a:xfrm>
            <a:off x="3977640" y="1463040"/>
            <a:ext cx="1828800" cy="457200"/>
          </a:xfrm>
          <a:prstGeom prst="rect">
            <a:avLst/>
          </a:prstGeom>
          <a:noFill/>
          <a:ln/>
        </p:spPr>
        <p:txBody>
          <a:bodyPr wrap="square" lIns="0" tIns="0" rIns="0" bIns="0" rtlCol="0" anchor="ctr"/>
          <a:lstStyle/>
          <a:p>
            <a:pPr marL="0" indent="0">
              <a:buNone/>
            </a:pPr>
            <a:r>
              <a:rPr lang="en-US" sz="1600" b="1" dirty="0">
                <a:solidFill>
                  <a:srgbClr val="1F4D3A"/>
                </a:solidFill>
                <a:latin typeface="Cambria" pitchFamily="34" charset="0"/>
                <a:ea typeface="Cambria" pitchFamily="34" charset="-122"/>
                <a:cs typeface="Cambria" pitchFamily="34" charset="-120"/>
              </a:rPr>
              <a:t>Admit uncertainty</a:t>
            </a:r>
            <a:endParaRPr lang="en-US" sz="1600" dirty="0"/>
          </a:p>
        </p:txBody>
      </p:sp>
      <p:sp>
        <p:nvSpPr>
          <p:cNvPr id="22" name="Text 15"/>
          <p:cNvSpPr txBox="1"/>
          <p:nvPr/>
        </p:nvSpPr>
        <p:spPr>
          <a:xfrm>
            <a:off x="3429000" y="2084832"/>
            <a:ext cx="2331720" cy="1938528"/>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Show confidence and data sufficiency</a:t>
            </a:r>
            <a:endParaRPr lang="en-US" sz="1200" dirty="0"/>
          </a:p>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Missing, old or thin data: request a new reading</a:t>
            </a:r>
            <a:endParaRPr lang="en-US" sz="1200" dirty="0"/>
          </a:p>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Otherwise pass the case to an expert</a:t>
            </a:r>
            <a:endParaRPr lang="en-US" sz="1200" dirty="0"/>
          </a:p>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No confident label without evidence</a:t>
            </a:r>
            <a:endParaRPr lang="en-US" sz="1200" dirty="0"/>
          </a:p>
        </p:txBody>
      </p:sp>
      <p:sp>
        <p:nvSpPr>
          <p:cNvPr id="23" name="Shape 16"/>
          <p:cNvSpPr/>
          <p:nvPr/>
        </p:nvSpPr>
        <p:spPr>
          <a:xfrm>
            <a:off x="6035040" y="1325880"/>
            <a:ext cx="2651760" cy="2788920"/>
          </a:xfrm>
          <a:prstGeom prst="roundRect">
            <a:avLst>
              <a:gd name="adj" fmla="val 4828"/>
            </a:avLst>
          </a:prstGeom>
          <a:solidFill>
            <a:srgbClr val="E4F1E4"/>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24" name="Shape 17"/>
          <p:cNvSpPr/>
          <p:nvPr/>
        </p:nvSpPr>
        <p:spPr>
          <a:xfrm>
            <a:off x="6199632" y="1463040"/>
            <a:ext cx="457200" cy="457200"/>
          </a:xfrm>
          <a:prstGeom prst="ellipse">
            <a:avLst/>
          </a:prstGeom>
          <a:solidFill>
            <a:srgbClr val="FFFFFF"/>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6313932" y="1577340"/>
            <a:ext cx="228600" cy="228600"/>
          </a:xfrm>
          <a:prstGeom prst="rect">
            <a:avLst/>
          </a:prstGeom>
        </p:spPr>
      </p:pic>
      <p:sp>
        <p:nvSpPr>
          <p:cNvPr id="26" name="Text 18"/>
          <p:cNvSpPr txBox="1"/>
          <p:nvPr/>
        </p:nvSpPr>
        <p:spPr>
          <a:xfrm>
            <a:off x="6766560" y="1463040"/>
            <a:ext cx="1828800" cy="457200"/>
          </a:xfrm>
          <a:prstGeom prst="rect">
            <a:avLst/>
          </a:prstGeom>
          <a:noFill/>
          <a:ln/>
        </p:spPr>
        <p:txBody>
          <a:bodyPr wrap="square" lIns="0" tIns="0" rIns="0" bIns="0" rtlCol="0" anchor="ctr"/>
          <a:lstStyle/>
          <a:p>
            <a:pPr marL="0" indent="0">
              <a:buNone/>
            </a:pPr>
            <a:r>
              <a:rPr lang="en-US" sz="1600" b="1" dirty="0">
                <a:solidFill>
                  <a:srgbClr val="1F4D3A"/>
                </a:solidFill>
                <a:latin typeface="Cambria" pitchFamily="34" charset="0"/>
                <a:ea typeface="Cambria" pitchFamily="34" charset="-122"/>
                <a:cs typeface="Cambria" pitchFamily="34" charset="-120"/>
              </a:rPr>
              <a:t>Correct errors</a:t>
            </a:r>
            <a:endParaRPr lang="en-US" sz="1600" dirty="0"/>
          </a:p>
        </p:txBody>
      </p:sp>
      <p:sp>
        <p:nvSpPr>
          <p:cNvPr id="27" name="Text 19"/>
          <p:cNvSpPr txBox="1"/>
          <p:nvPr/>
        </p:nvSpPr>
        <p:spPr>
          <a:xfrm>
            <a:off x="6217920" y="2084832"/>
            <a:ext cx="2331720" cy="1938528"/>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Agronomists approve and version every rule</a:t>
            </a:r>
            <a:endParaRPr lang="en-US" sz="1200" dirty="0"/>
          </a:p>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Serious or uncertain cases escalate to experts</a:t>
            </a:r>
            <a:endParaRPr lang="en-US" sz="1200" dirty="0"/>
          </a:p>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Monitor for data drift</a:t>
            </a:r>
            <a:endParaRPr lang="en-US" sz="1200" dirty="0"/>
          </a:p>
          <a:p>
            <a:pPr marL="177800" indent="-177800">
              <a:spcAft>
                <a:spcPts val="500"/>
              </a:spcAft>
              <a:buSzPct val="100000"/>
              <a:buChar char="•"/>
            </a:pPr>
            <a:r>
              <a:rPr lang="en-US" sz="1200" dirty="0">
                <a:solidFill>
                  <a:srgbClr val="2B3A33"/>
                </a:solidFill>
                <a:latin typeface="Calibri" pitchFamily="34" charset="0"/>
                <a:ea typeface="Calibri" pitchFamily="34" charset="-122"/>
                <a:cs typeface="Calibri" pitchFamily="34" charset="-120"/>
              </a:rPr>
              <a:t>Review wrong predictions; fix early</a:t>
            </a:r>
            <a:endParaRPr lang="en-US" sz="1200" dirty="0"/>
          </a:p>
        </p:txBody>
      </p:sp>
      <p:sp>
        <p:nvSpPr>
          <p:cNvPr id="28" name="Shape 20"/>
          <p:cNvSpPr/>
          <p:nvPr/>
        </p:nvSpPr>
        <p:spPr>
          <a:xfrm>
            <a:off x="457200" y="4251960"/>
            <a:ext cx="8229600" cy="411480"/>
          </a:xfrm>
          <a:prstGeom prst="roundRect">
            <a:avLst>
              <a:gd name="adj" fmla="val 48889"/>
            </a:avLst>
          </a:prstGeom>
          <a:solidFill>
            <a:srgbClr val="1F4D3A"/>
          </a:solidFill>
          <a:ln/>
        </p:spPr>
        <p:txBody>
          <a:bodyPr/>
          <a:lstStyle/>
          <a:p>
            <a:endParaRPr lang="en-US"/>
          </a:p>
        </p:txBody>
      </p:sp>
      <p:sp>
        <p:nvSpPr>
          <p:cNvPr id="29" name="Text 21"/>
          <p:cNvSpPr txBox="1"/>
          <p:nvPr/>
        </p:nvSpPr>
        <p:spPr>
          <a:xfrm>
            <a:off x="685800" y="4251960"/>
            <a:ext cx="777240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Until pilot results exist, Krishan AI is a proposed system, not a proven predictor.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4"/>
        </a:solidFill>
        <a:effectLst/>
      </p:bgPr>
    </p:bg>
    <p:spTree>
      <p:nvGrpSpPr>
        <p:cNvPr id="1" name=""/>
        <p:cNvGrpSpPr/>
        <p:nvPr/>
      </p:nvGrpSpPr>
      <p:grpSpPr>
        <a:xfrm>
          <a:off x="0" y="0"/>
          <a:ext cx="0" cy="0"/>
          <a:chOff x="0" y="0"/>
          <a:chExt cx="0" cy="0"/>
        </a:xfrm>
      </p:grpSpPr>
      <p:sp>
        <p:nvSpPr>
          <p:cNvPr id="2" name="Shape 0"/>
          <p:cNvSpPr/>
          <p:nvPr/>
        </p:nvSpPr>
        <p:spPr>
          <a:xfrm>
            <a:off x="7680960" y="-822960"/>
            <a:ext cx="2377440" cy="2011680"/>
          </a:xfrm>
          <a:prstGeom prst="ellipse">
            <a:avLst/>
          </a:prstGeom>
          <a:solidFill>
            <a:srgbClr val="E4F1E4"/>
          </a:solidFill>
          <a:ln/>
        </p:spPr>
        <p:txBody>
          <a:bodyPr/>
          <a:lstStyle/>
          <a:p>
            <a:endParaRPr lang="en-US"/>
          </a:p>
        </p:txBody>
      </p:sp>
      <p:sp>
        <p:nvSpPr>
          <p:cNvPr id="3" name="Shape 1"/>
          <p:cNvSpPr/>
          <p:nvPr/>
        </p:nvSpPr>
        <p:spPr>
          <a:xfrm>
            <a:off x="-914400" y="4480560"/>
            <a:ext cx="2377440" cy="1280160"/>
          </a:xfrm>
          <a:prstGeom prst="ellipse">
            <a:avLst/>
          </a:prstGeom>
          <a:solidFill>
            <a:srgbClr val="E4F1E4"/>
          </a:solidFill>
          <a:ln/>
        </p:spPr>
        <p:txBody>
          <a:bodyPr/>
          <a:lstStyle/>
          <a:p>
            <a:endParaRPr lang="en-US"/>
          </a:p>
        </p:txBody>
      </p:sp>
      <p:sp>
        <p:nvSpPr>
          <p:cNvPr id="4" name="Shape 2"/>
          <p:cNvSpPr/>
          <p:nvPr/>
        </p:nvSpPr>
        <p:spPr>
          <a:xfrm>
            <a:off x="457200" y="256032"/>
            <a:ext cx="4480560" cy="292608"/>
          </a:xfrm>
          <a:prstGeom prst="roundRect">
            <a:avLst>
              <a:gd name="adj" fmla="val 50000"/>
            </a:avLst>
          </a:prstGeom>
          <a:solidFill>
            <a:srgbClr val="DDEFF1"/>
          </a:solidFill>
          <a:ln/>
        </p:spPr>
        <p:txBody>
          <a:bodyPr/>
          <a:lstStyle/>
          <a:p>
            <a:endParaRPr lang="en-US"/>
          </a:p>
        </p:txBody>
      </p:sp>
      <p:sp>
        <p:nvSpPr>
          <p:cNvPr id="5" name="Text 3"/>
          <p:cNvSpPr txBox="1"/>
          <p:nvPr/>
        </p:nvSpPr>
        <p:spPr>
          <a:xfrm>
            <a:off x="594360" y="256032"/>
            <a:ext cx="4297680" cy="292608"/>
          </a:xfrm>
          <a:prstGeom prst="rect">
            <a:avLst/>
          </a:prstGeom>
          <a:noFill/>
          <a:ln/>
        </p:spPr>
        <p:txBody>
          <a:bodyPr wrap="square" lIns="0" tIns="0" rIns="0" bIns="0" rtlCol="0" anchor="ctr"/>
          <a:lstStyle/>
          <a:p>
            <a:pPr marL="0" indent="0">
              <a:buNone/>
            </a:pPr>
            <a:r>
              <a:rPr lang="en-US" sz="1050" b="1" dirty="0">
                <a:solidFill>
                  <a:srgbClr val="3E8E9E"/>
                </a:solidFill>
                <a:latin typeface="Calibri" pitchFamily="34" charset="0"/>
                <a:ea typeface="Calibri" pitchFamily="34" charset="-122"/>
                <a:cs typeface="Calibri" pitchFamily="34" charset="-120"/>
              </a:rPr>
              <a:t>JUDGE ASKS: Can this be done with the data that actually exists?</a:t>
            </a:r>
            <a:endParaRPr lang="en-US" sz="1050" dirty="0"/>
          </a:p>
        </p:txBody>
      </p:sp>
      <p:sp>
        <p:nvSpPr>
          <p:cNvPr id="6" name="Text 4"/>
          <p:cNvSpPr txBox="1"/>
          <p:nvPr/>
        </p:nvSpPr>
        <p:spPr>
          <a:xfrm>
            <a:off x="457200" y="640080"/>
            <a:ext cx="7589520" cy="548640"/>
          </a:xfrm>
          <a:prstGeom prst="rect">
            <a:avLst/>
          </a:prstGeom>
          <a:noFill/>
          <a:ln/>
        </p:spPr>
        <p:txBody>
          <a:bodyPr wrap="square" lIns="0" tIns="0" rIns="0" bIns="0" rtlCol="0" anchor="ctr"/>
          <a:lstStyle/>
          <a:p>
            <a:pPr marL="0" indent="0">
              <a:buNone/>
            </a:pPr>
            <a:r>
              <a:rPr lang="en-US" sz="2600" b="1" dirty="0">
                <a:solidFill>
                  <a:srgbClr val="1F4D3A"/>
                </a:solidFill>
                <a:latin typeface="Cambria" pitchFamily="34" charset="0"/>
                <a:ea typeface="Cambria" pitchFamily="34" charset="-122"/>
                <a:cs typeface="Cambria" pitchFamily="34" charset="-120"/>
              </a:rPr>
              <a:t>Feasibility: built around real data constraints</a:t>
            </a:r>
            <a:endParaRPr lang="en-US" sz="2600" dirty="0"/>
          </a:p>
        </p:txBody>
      </p:sp>
      <p:sp>
        <p:nvSpPr>
          <p:cNvPr id="7" name="Shape 5"/>
          <p:cNvSpPr/>
          <p:nvPr/>
        </p:nvSpPr>
        <p:spPr>
          <a:xfrm>
            <a:off x="8229600" y="292608"/>
            <a:ext cx="502920" cy="502920"/>
          </a:xfrm>
          <a:prstGeom prst="ellipse">
            <a:avLst/>
          </a:prstGeom>
          <a:solidFill>
            <a:srgbClr val="5FA36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355330" y="418338"/>
            <a:ext cx="251460" cy="251460"/>
          </a:xfrm>
          <a:prstGeom prst="rect">
            <a:avLst/>
          </a:prstGeom>
        </p:spPr>
      </p:pic>
      <p:pic>
        <p:nvPicPr>
          <p:cNvPr id="9" name="Image 1" descr="preencoded.png"/>
          <p:cNvPicPr>
            <a:picLocks noChangeAspect="1"/>
          </p:cNvPicPr>
          <p:nvPr/>
        </p:nvPicPr>
        <p:blipFill>
          <a:blip r:embed="rId4"/>
          <a:stretch>
            <a:fillRect/>
          </a:stretch>
        </p:blipFill>
        <p:spPr>
          <a:xfrm>
            <a:off x="457200" y="4773168"/>
            <a:ext cx="182880" cy="182880"/>
          </a:xfrm>
          <a:prstGeom prst="rect">
            <a:avLst/>
          </a:prstGeom>
        </p:spPr>
      </p:pic>
      <p:sp>
        <p:nvSpPr>
          <p:cNvPr id="10" name="Text 6"/>
          <p:cNvSpPr txBox="1"/>
          <p:nvPr/>
        </p:nvSpPr>
        <p:spPr>
          <a:xfrm>
            <a:off x="713232" y="4754880"/>
            <a:ext cx="1828800" cy="219456"/>
          </a:xfrm>
          <a:prstGeom prst="rect">
            <a:avLst/>
          </a:prstGeom>
          <a:noFill/>
          <a:ln/>
        </p:spPr>
        <p:txBody>
          <a:bodyPr wrap="square" lIns="0" tIns="0" rIns="0" bIns="0" rtlCol="0" anchor="ctr"/>
          <a:lstStyle/>
          <a:p>
            <a:pPr marL="0" indent="0">
              <a:buNone/>
            </a:pPr>
            <a:r>
              <a:rPr lang="en-US" sz="1000" b="1" dirty="0">
                <a:solidFill>
                  <a:srgbClr val="6B7F74"/>
                </a:solidFill>
                <a:latin typeface="Calibri" pitchFamily="34" charset="0"/>
                <a:ea typeface="Calibri" pitchFamily="34" charset="-122"/>
                <a:cs typeface="Calibri" pitchFamily="34" charset="-120"/>
              </a:rPr>
              <a:t>Krishan AI</a:t>
            </a:r>
            <a:endParaRPr lang="en-US" sz="1000" dirty="0"/>
          </a:p>
        </p:txBody>
      </p:sp>
      <p:sp>
        <p:nvSpPr>
          <p:cNvPr id="11" name="Text 7"/>
          <p:cNvSpPr txBox="1"/>
          <p:nvPr/>
        </p:nvSpPr>
        <p:spPr>
          <a:xfrm>
            <a:off x="8229600" y="4754880"/>
            <a:ext cx="457200" cy="219456"/>
          </a:xfrm>
          <a:prstGeom prst="rect">
            <a:avLst/>
          </a:prstGeom>
          <a:noFill/>
          <a:ln/>
        </p:spPr>
        <p:txBody>
          <a:bodyPr wrap="square" lIns="0" tIns="0" rIns="0" bIns="0" rtlCol="0" anchor="ctr"/>
          <a:lstStyle/>
          <a:p>
            <a:pPr marL="0" indent="0" algn="r">
              <a:buNone/>
            </a:pPr>
            <a:r>
              <a:rPr lang="en-US" sz="1000" dirty="0">
                <a:solidFill>
                  <a:srgbClr val="6B7F74"/>
                </a:solidFill>
                <a:latin typeface="Calibri" pitchFamily="34" charset="0"/>
                <a:ea typeface="Calibri" pitchFamily="34" charset="-122"/>
                <a:cs typeface="Calibri" pitchFamily="34" charset="-120"/>
              </a:rPr>
              <a:t>5</a:t>
            </a:r>
            <a:endParaRPr lang="en-US" sz="1000" dirty="0"/>
          </a:p>
        </p:txBody>
      </p:sp>
      <p:sp>
        <p:nvSpPr>
          <p:cNvPr id="13" name="Shape 8"/>
          <p:cNvSpPr/>
          <p:nvPr/>
        </p:nvSpPr>
        <p:spPr>
          <a:xfrm>
            <a:off x="457200" y="1325880"/>
            <a:ext cx="4846320" cy="713232"/>
          </a:xfrm>
          <a:prstGeom prst="roundRect">
            <a:avLst>
              <a:gd name="adj" fmla="val 17949"/>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14" name="Shape 9"/>
          <p:cNvSpPr/>
          <p:nvPr/>
        </p:nvSpPr>
        <p:spPr>
          <a:xfrm>
            <a:off x="594360" y="1453896"/>
            <a:ext cx="457200" cy="457200"/>
          </a:xfrm>
          <a:prstGeom prst="ellipse">
            <a:avLst/>
          </a:prstGeom>
          <a:solidFill>
            <a:srgbClr val="DDEFF1"/>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08660" y="1568196"/>
            <a:ext cx="228600" cy="228600"/>
          </a:xfrm>
          <a:prstGeom prst="rect">
            <a:avLst/>
          </a:prstGeom>
        </p:spPr>
      </p:pic>
      <p:sp>
        <p:nvSpPr>
          <p:cNvPr id="16" name="Text 10"/>
          <p:cNvSpPr txBox="1"/>
          <p:nvPr/>
        </p:nvSpPr>
        <p:spPr>
          <a:xfrm>
            <a:off x="1188720" y="1380744"/>
            <a:ext cx="4023360" cy="256032"/>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Limited farm-level readings</a:t>
            </a:r>
            <a:endParaRPr lang="en-US" sz="1300" dirty="0"/>
          </a:p>
        </p:txBody>
      </p:sp>
      <p:sp>
        <p:nvSpPr>
          <p:cNvPr id="17" name="Text 11"/>
          <p:cNvSpPr txBox="1"/>
          <p:nvPr/>
        </p:nvSpPr>
        <p:spPr>
          <a:xfrm>
            <a:off x="1188720" y="1636776"/>
            <a:ext cx="4023360" cy="365760"/>
          </a:xfrm>
          <a:prstGeom prst="rect">
            <a:avLst/>
          </a:prstGeom>
          <a:noFill/>
          <a:ln/>
        </p:spPr>
        <p:txBody>
          <a:bodyPr wrap="square" lIns="0" tIns="0" rIns="0" bIns="0" rtlCol="0" anchor="t"/>
          <a:lstStyle/>
          <a:p>
            <a:pPr marL="0" indent="0">
              <a:buNone/>
            </a:pPr>
            <a:r>
              <a:rPr lang="en-US" sz="1100" dirty="0">
                <a:solidFill>
                  <a:srgbClr val="2B3A33"/>
                </a:solidFill>
                <a:latin typeface="Calibri" pitchFamily="34" charset="0"/>
                <a:ea typeface="Calibri" pitchFamily="34" charset="-122"/>
                <a:cs typeface="Calibri" pitchFamily="34" charset="-120"/>
              </a:rPr>
              <a:t>Combine sources with calibrated field measurements; calibrate meters, flag gaps</a:t>
            </a:r>
            <a:endParaRPr lang="en-US" sz="1100" dirty="0"/>
          </a:p>
        </p:txBody>
      </p:sp>
      <p:sp>
        <p:nvSpPr>
          <p:cNvPr id="18" name="Shape 12"/>
          <p:cNvSpPr/>
          <p:nvPr/>
        </p:nvSpPr>
        <p:spPr>
          <a:xfrm>
            <a:off x="457200" y="2148840"/>
            <a:ext cx="4846320" cy="713232"/>
          </a:xfrm>
          <a:prstGeom prst="roundRect">
            <a:avLst>
              <a:gd name="adj" fmla="val 17949"/>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19" name="Shape 13"/>
          <p:cNvSpPr/>
          <p:nvPr/>
        </p:nvSpPr>
        <p:spPr>
          <a:xfrm>
            <a:off x="594360" y="2276856"/>
            <a:ext cx="457200" cy="457200"/>
          </a:xfrm>
          <a:prstGeom prst="ellipse">
            <a:avLst/>
          </a:prstGeom>
          <a:solidFill>
            <a:srgbClr val="F7E4DA"/>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708660" y="2391156"/>
            <a:ext cx="228600" cy="228600"/>
          </a:xfrm>
          <a:prstGeom prst="rect">
            <a:avLst/>
          </a:prstGeom>
        </p:spPr>
      </p:pic>
      <p:sp>
        <p:nvSpPr>
          <p:cNvPr id="21" name="Text 14"/>
          <p:cNvSpPr txBox="1"/>
          <p:nvPr/>
        </p:nvSpPr>
        <p:spPr>
          <a:xfrm>
            <a:off x="1188720" y="2203704"/>
            <a:ext cx="4023360" cy="256032"/>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Small plots, cloud cover</a:t>
            </a:r>
            <a:endParaRPr lang="en-US" sz="1300" dirty="0"/>
          </a:p>
        </p:txBody>
      </p:sp>
      <p:sp>
        <p:nvSpPr>
          <p:cNvPr id="22" name="Text 15"/>
          <p:cNvSpPr txBox="1"/>
          <p:nvPr/>
        </p:nvSpPr>
        <p:spPr>
          <a:xfrm>
            <a:off x="1188720" y="2459736"/>
            <a:ext cx="4023360" cy="365760"/>
          </a:xfrm>
          <a:prstGeom prst="rect">
            <a:avLst/>
          </a:prstGeom>
          <a:noFill/>
          <a:ln/>
        </p:spPr>
        <p:txBody>
          <a:bodyPr wrap="square" lIns="0" tIns="0" rIns="0" bIns="0" rtlCol="0" anchor="t"/>
          <a:lstStyle/>
          <a:p>
            <a:pPr marL="0" indent="0">
              <a:buNone/>
            </a:pPr>
            <a:r>
              <a:rPr lang="en-US" sz="1100" dirty="0">
                <a:solidFill>
                  <a:srgbClr val="2B3A33"/>
                </a:solidFill>
                <a:latin typeface="Calibri" pitchFamily="34" charset="0"/>
                <a:ea typeface="Calibri" pitchFamily="34" charset="-122"/>
                <a:cs typeface="Calibri" pitchFamily="34" charset="-120"/>
              </a:rPr>
              <a:t>Begin with one defined area and crop; check satellite data against field readings</a:t>
            </a:r>
            <a:endParaRPr lang="en-US" sz="1100" dirty="0"/>
          </a:p>
        </p:txBody>
      </p:sp>
      <p:sp>
        <p:nvSpPr>
          <p:cNvPr id="23" name="Shape 16"/>
          <p:cNvSpPr/>
          <p:nvPr/>
        </p:nvSpPr>
        <p:spPr>
          <a:xfrm>
            <a:off x="457200" y="2971800"/>
            <a:ext cx="4846320" cy="713232"/>
          </a:xfrm>
          <a:prstGeom prst="roundRect">
            <a:avLst>
              <a:gd name="adj" fmla="val 17949"/>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24" name="Shape 17"/>
          <p:cNvSpPr/>
          <p:nvPr/>
        </p:nvSpPr>
        <p:spPr>
          <a:xfrm>
            <a:off x="594360" y="3099816"/>
            <a:ext cx="457200" cy="457200"/>
          </a:xfrm>
          <a:prstGeom prst="ellipse">
            <a:avLst/>
          </a:prstGeom>
          <a:solidFill>
            <a:srgbClr val="E4F1E4"/>
          </a:solidFill>
          <a:ln/>
        </p:spPr>
        <p:txBody>
          <a:bodyPr/>
          <a:lstStyle/>
          <a:p>
            <a:endParaRPr lang="en-US"/>
          </a:p>
        </p:txBody>
      </p:sp>
      <p:pic>
        <p:nvPicPr>
          <p:cNvPr id="25" name="Image 4" descr="preencoded.png"/>
          <p:cNvPicPr>
            <a:picLocks noChangeAspect="1"/>
          </p:cNvPicPr>
          <p:nvPr/>
        </p:nvPicPr>
        <p:blipFill>
          <a:blip r:embed="rId7"/>
          <a:stretch>
            <a:fillRect/>
          </a:stretch>
        </p:blipFill>
        <p:spPr>
          <a:xfrm>
            <a:off x="708660" y="3214116"/>
            <a:ext cx="228600" cy="228600"/>
          </a:xfrm>
          <a:prstGeom prst="rect">
            <a:avLst/>
          </a:prstGeom>
        </p:spPr>
      </p:pic>
      <p:sp>
        <p:nvSpPr>
          <p:cNvPr id="26" name="Text 18"/>
          <p:cNvSpPr txBox="1"/>
          <p:nvPr/>
        </p:nvSpPr>
        <p:spPr>
          <a:xfrm>
            <a:off x="1188720" y="3026664"/>
            <a:ext cx="4023360" cy="256032"/>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Trust and adoption</a:t>
            </a:r>
            <a:endParaRPr lang="en-US" sz="1300" dirty="0"/>
          </a:p>
        </p:txBody>
      </p:sp>
      <p:sp>
        <p:nvSpPr>
          <p:cNvPr id="27" name="Text 19"/>
          <p:cNvSpPr txBox="1"/>
          <p:nvPr/>
        </p:nvSpPr>
        <p:spPr>
          <a:xfrm>
            <a:off x="1188720" y="3282696"/>
            <a:ext cx="4023360" cy="365760"/>
          </a:xfrm>
          <a:prstGeom prst="rect">
            <a:avLst/>
          </a:prstGeom>
          <a:noFill/>
          <a:ln/>
        </p:spPr>
        <p:txBody>
          <a:bodyPr wrap="square" lIns="0" tIns="0" rIns="0" bIns="0" rtlCol="0" anchor="t"/>
          <a:lstStyle/>
          <a:p>
            <a:pPr marL="0" indent="0">
              <a:buNone/>
            </a:pPr>
            <a:r>
              <a:rPr lang="en-US" sz="1100" dirty="0">
                <a:solidFill>
                  <a:srgbClr val="2B3A33"/>
                </a:solidFill>
                <a:latin typeface="Calibri" pitchFamily="34" charset="0"/>
                <a:ea typeface="Calibri" pitchFamily="34" charset="-122"/>
                <a:cs typeface="Calibri" pitchFamily="34" charset="-120"/>
              </a:rPr>
              <a:t>Involve farmers, officers and agricultural experts from the start</a:t>
            </a:r>
            <a:endParaRPr lang="en-US" sz="1100" dirty="0"/>
          </a:p>
        </p:txBody>
      </p:sp>
      <p:sp>
        <p:nvSpPr>
          <p:cNvPr id="28" name="Shape 20"/>
          <p:cNvSpPr/>
          <p:nvPr/>
        </p:nvSpPr>
        <p:spPr>
          <a:xfrm>
            <a:off x="457200" y="3794760"/>
            <a:ext cx="4846320" cy="713232"/>
          </a:xfrm>
          <a:prstGeom prst="roundRect">
            <a:avLst>
              <a:gd name="adj" fmla="val 17949"/>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29" name="Shape 21"/>
          <p:cNvSpPr/>
          <p:nvPr/>
        </p:nvSpPr>
        <p:spPr>
          <a:xfrm>
            <a:off x="594360" y="3922776"/>
            <a:ext cx="457200" cy="457200"/>
          </a:xfrm>
          <a:prstGeom prst="ellipse">
            <a:avLst/>
          </a:prstGeom>
          <a:solidFill>
            <a:srgbClr val="FBF0D5"/>
          </a:solidFill>
          <a:ln/>
        </p:spPr>
        <p:txBody>
          <a:bodyPr/>
          <a:lstStyle/>
          <a:p>
            <a:endParaRPr lang="en-US"/>
          </a:p>
        </p:txBody>
      </p:sp>
      <p:pic>
        <p:nvPicPr>
          <p:cNvPr id="30" name="Image 5" descr="preencoded.png"/>
          <p:cNvPicPr>
            <a:picLocks noChangeAspect="1"/>
          </p:cNvPicPr>
          <p:nvPr/>
        </p:nvPicPr>
        <p:blipFill>
          <a:blip r:embed="rId8"/>
          <a:stretch>
            <a:fillRect/>
          </a:stretch>
        </p:blipFill>
        <p:spPr>
          <a:xfrm>
            <a:off x="708660" y="4037076"/>
            <a:ext cx="228600" cy="228600"/>
          </a:xfrm>
          <a:prstGeom prst="rect">
            <a:avLst/>
          </a:prstGeom>
        </p:spPr>
      </p:pic>
      <p:sp>
        <p:nvSpPr>
          <p:cNvPr id="31" name="Text 22"/>
          <p:cNvSpPr txBox="1"/>
          <p:nvPr/>
        </p:nvSpPr>
        <p:spPr>
          <a:xfrm>
            <a:off x="1188720" y="3849624"/>
            <a:ext cx="4023360" cy="256032"/>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Data gaps</a:t>
            </a:r>
            <a:endParaRPr lang="en-US" sz="1300" dirty="0"/>
          </a:p>
        </p:txBody>
      </p:sp>
      <p:sp>
        <p:nvSpPr>
          <p:cNvPr id="32" name="Text 23"/>
          <p:cNvSpPr txBox="1"/>
          <p:nvPr/>
        </p:nvSpPr>
        <p:spPr>
          <a:xfrm>
            <a:off x="1188720" y="4105656"/>
            <a:ext cx="4023360" cy="365760"/>
          </a:xfrm>
          <a:prstGeom prst="rect">
            <a:avLst/>
          </a:prstGeom>
          <a:noFill/>
          <a:ln/>
        </p:spPr>
        <p:txBody>
          <a:bodyPr wrap="square" lIns="0" tIns="0" rIns="0" bIns="0" rtlCol="0" anchor="t"/>
          <a:lstStyle/>
          <a:p>
            <a:pPr marL="0" indent="0">
              <a:buNone/>
            </a:pPr>
            <a:r>
              <a:rPr lang="en-US" sz="1100" dirty="0">
                <a:solidFill>
                  <a:srgbClr val="2B3A33"/>
                </a:solidFill>
                <a:latin typeface="Calibri" pitchFamily="34" charset="0"/>
                <a:ea typeface="Calibri" pitchFamily="34" charset="-122"/>
                <a:cs typeface="Calibri" pitchFamily="34" charset="-120"/>
              </a:rPr>
              <a:t>Report uncertainty; never give unsupported advice</a:t>
            </a:r>
            <a:endParaRPr lang="en-US" sz="1100" dirty="0"/>
          </a:p>
        </p:txBody>
      </p:sp>
      <p:sp>
        <p:nvSpPr>
          <p:cNvPr id="33" name="Shape 24"/>
          <p:cNvSpPr/>
          <p:nvPr/>
        </p:nvSpPr>
        <p:spPr>
          <a:xfrm>
            <a:off x="5532120" y="1325880"/>
            <a:ext cx="3154680" cy="3182112"/>
          </a:xfrm>
          <a:prstGeom prst="roundRect">
            <a:avLst>
              <a:gd name="adj" fmla="val 4638"/>
            </a:avLst>
          </a:prstGeom>
          <a:solidFill>
            <a:srgbClr val="1F4D3A"/>
          </a:solidFill>
          <a:ln/>
          <a:effectLst>
            <a:outerShdw blurRad="101600" dist="25400" dir="5400000" algn="bl" rotWithShape="0">
              <a:srgbClr val="2F5D46">
                <a:alpha val="14000"/>
              </a:srgbClr>
            </a:outerShdw>
          </a:effectLst>
        </p:spPr>
        <p:txBody>
          <a:bodyPr/>
          <a:lstStyle/>
          <a:p>
            <a:endParaRPr lang="en-US"/>
          </a:p>
        </p:txBody>
      </p:sp>
      <p:sp>
        <p:nvSpPr>
          <p:cNvPr id="34" name="Text 25"/>
          <p:cNvSpPr txBox="1"/>
          <p:nvPr/>
        </p:nvSpPr>
        <p:spPr>
          <a:xfrm>
            <a:off x="5760720" y="1435608"/>
            <a:ext cx="2743200" cy="320040"/>
          </a:xfrm>
          <a:prstGeom prst="rect">
            <a:avLst/>
          </a:prstGeom>
          <a:noFill/>
          <a:ln/>
        </p:spPr>
        <p:txBody>
          <a:bodyPr wrap="square" lIns="0" tIns="0" rIns="0" bIns="0" rtlCol="0" anchor="ctr"/>
          <a:lstStyle/>
          <a:p>
            <a:pPr marL="0" indent="0">
              <a:buNone/>
            </a:pPr>
            <a:r>
              <a:rPr lang="en-US" sz="1500" b="1" dirty="0">
                <a:solidFill>
                  <a:srgbClr val="F2B84B"/>
                </a:solidFill>
                <a:latin typeface="Cambria" pitchFamily="34" charset="0"/>
                <a:ea typeface="Cambria" pitchFamily="34" charset="-122"/>
                <a:cs typeface="Cambria" pitchFamily="34" charset="-120"/>
              </a:rPr>
              <a:t>Proposed data plan</a:t>
            </a:r>
            <a:endParaRPr lang="en-US" sz="1500" dirty="0"/>
          </a:p>
        </p:txBody>
      </p:sp>
      <p:pic>
        <p:nvPicPr>
          <p:cNvPr id="35" name="Image 6" descr="preencoded.png"/>
          <p:cNvPicPr>
            <a:picLocks noChangeAspect="1"/>
          </p:cNvPicPr>
          <p:nvPr/>
        </p:nvPicPr>
        <p:blipFill>
          <a:blip r:embed="rId9"/>
          <a:stretch>
            <a:fillRect/>
          </a:stretch>
        </p:blipFill>
        <p:spPr>
          <a:xfrm>
            <a:off x="5760720" y="1947672"/>
            <a:ext cx="256032" cy="256032"/>
          </a:xfrm>
          <a:prstGeom prst="rect">
            <a:avLst/>
          </a:prstGeom>
        </p:spPr>
      </p:pic>
      <p:sp>
        <p:nvSpPr>
          <p:cNvPr id="36" name="Text 26"/>
          <p:cNvSpPr txBox="1"/>
          <p:nvPr/>
        </p:nvSpPr>
        <p:spPr>
          <a:xfrm>
            <a:off x="6144768" y="1874520"/>
            <a:ext cx="242316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Soil EC / moisture</a:t>
            </a:r>
            <a:endParaRPr lang="en-US" sz="1200" dirty="0"/>
          </a:p>
        </p:txBody>
      </p:sp>
      <p:sp>
        <p:nvSpPr>
          <p:cNvPr id="37" name="Text 27"/>
          <p:cNvSpPr txBox="1"/>
          <p:nvPr/>
        </p:nvSpPr>
        <p:spPr>
          <a:xfrm>
            <a:off x="6144768" y="2103120"/>
            <a:ext cx="2423160" cy="237744"/>
          </a:xfrm>
          <a:prstGeom prst="rect">
            <a:avLst/>
          </a:prstGeom>
          <a:noFill/>
          <a:ln/>
        </p:spPr>
        <p:txBody>
          <a:bodyPr wrap="square" lIns="0" tIns="0" rIns="0" bIns="0" rtlCol="0" anchor="ctr"/>
          <a:lstStyle/>
          <a:p>
            <a:pPr marL="0" indent="0">
              <a:buNone/>
            </a:pPr>
            <a:r>
              <a:rPr lang="en-US" sz="1050" dirty="0">
                <a:solidFill>
                  <a:srgbClr val="C4E1CB"/>
                </a:solidFill>
                <a:latin typeface="Calibri" pitchFamily="34" charset="0"/>
                <a:ea typeface="Calibri" pitchFamily="34" charset="-122"/>
                <a:cs typeface="Calibri" pitchFamily="34" charset="-120"/>
              </a:rPr>
              <a:t>2-weekly in season; monthly off</a:t>
            </a:r>
            <a:endParaRPr lang="en-US" sz="1050" dirty="0"/>
          </a:p>
        </p:txBody>
      </p:sp>
      <p:pic>
        <p:nvPicPr>
          <p:cNvPr id="38" name="Image 7" descr="preencoded.png"/>
          <p:cNvPicPr>
            <a:picLocks noChangeAspect="1"/>
          </p:cNvPicPr>
          <p:nvPr/>
        </p:nvPicPr>
        <p:blipFill>
          <a:blip r:embed="rId10"/>
          <a:stretch>
            <a:fillRect/>
          </a:stretch>
        </p:blipFill>
        <p:spPr>
          <a:xfrm>
            <a:off x="5760720" y="2468880"/>
            <a:ext cx="256032" cy="256032"/>
          </a:xfrm>
          <a:prstGeom prst="rect">
            <a:avLst/>
          </a:prstGeom>
        </p:spPr>
      </p:pic>
      <p:sp>
        <p:nvSpPr>
          <p:cNvPr id="39" name="Text 28"/>
          <p:cNvSpPr txBox="1"/>
          <p:nvPr/>
        </p:nvSpPr>
        <p:spPr>
          <a:xfrm>
            <a:off x="6144768" y="2395728"/>
            <a:ext cx="242316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Water salinity</a:t>
            </a:r>
            <a:endParaRPr lang="en-US" sz="1200" dirty="0"/>
          </a:p>
        </p:txBody>
      </p:sp>
      <p:sp>
        <p:nvSpPr>
          <p:cNvPr id="40" name="Text 29"/>
          <p:cNvSpPr txBox="1"/>
          <p:nvPr/>
        </p:nvSpPr>
        <p:spPr>
          <a:xfrm>
            <a:off x="6144768" y="2624328"/>
            <a:ext cx="2423160" cy="237744"/>
          </a:xfrm>
          <a:prstGeom prst="rect">
            <a:avLst/>
          </a:prstGeom>
          <a:noFill/>
          <a:ln/>
        </p:spPr>
        <p:txBody>
          <a:bodyPr wrap="square" lIns="0" tIns="0" rIns="0" bIns="0" rtlCol="0" anchor="ctr"/>
          <a:lstStyle/>
          <a:p>
            <a:pPr marL="0" indent="0">
              <a:buNone/>
            </a:pPr>
            <a:r>
              <a:rPr lang="en-US" sz="1050" dirty="0">
                <a:solidFill>
                  <a:srgbClr val="C4E1CB"/>
                </a:solidFill>
                <a:latin typeface="Calibri" pitchFamily="34" charset="0"/>
                <a:ea typeface="Calibri" pitchFamily="34" charset="-122"/>
                <a:cs typeface="Calibri" pitchFamily="34" charset="-120"/>
              </a:rPr>
              <a:t>2-weekly; after tide or flood</a:t>
            </a:r>
            <a:endParaRPr lang="en-US" sz="1050" dirty="0"/>
          </a:p>
        </p:txBody>
      </p:sp>
      <p:pic>
        <p:nvPicPr>
          <p:cNvPr id="41" name="Image 8" descr="preencoded.png"/>
          <p:cNvPicPr>
            <a:picLocks noChangeAspect="1"/>
          </p:cNvPicPr>
          <p:nvPr/>
        </p:nvPicPr>
        <p:blipFill>
          <a:blip r:embed="rId11"/>
          <a:stretch>
            <a:fillRect/>
          </a:stretch>
        </p:blipFill>
        <p:spPr>
          <a:xfrm>
            <a:off x="5760720" y="2990088"/>
            <a:ext cx="256032" cy="256032"/>
          </a:xfrm>
          <a:prstGeom prst="rect">
            <a:avLst/>
          </a:prstGeom>
        </p:spPr>
      </p:pic>
      <p:sp>
        <p:nvSpPr>
          <p:cNvPr id="42" name="Text 30"/>
          <p:cNvSpPr txBox="1"/>
          <p:nvPr/>
        </p:nvSpPr>
        <p:spPr>
          <a:xfrm>
            <a:off x="6144768" y="2916936"/>
            <a:ext cx="242316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Weather</a:t>
            </a:r>
            <a:endParaRPr lang="en-US" sz="1200" dirty="0"/>
          </a:p>
        </p:txBody>
      </p:sp>
      <p:sp>
        <p:nvSpPr>
          <p:cNvPr id="43" name="Text 31"/>
          <p:cNvSpPr txBox="1"/>
          <p:nvPr/>
        </p:nvSpPr>
        <p:spPr>
          <a:xfrm>
            <a:off x="6144768" y="3145536"/>
            <a:ext cx="2423160" cy="237744"/>
          </a:xfrm>
          <a:prstGeom prst="rect">
            <a:avLst/>
          </a:prstGeom>
          <a:noFill/>
          <a:ln/>
        </p:spPr>
        <p:txBody>
          <a:bodyPr wrap="square" lIns="0" tIns="0" rIns="0" bIns="0" rtlCol="0" anchor="ctr"/>
          <a:lstStyle/>
          <a:p>
            <a:pPr marL="0" indent="0">
              <a:buNone/>
            </a:pPr>
            <a:r>
              <a:rPr lang="en-US" sz="1050" dirty="0">
                <a:solidFill>
                  <a:srgbClr val="C4E1CB"/>
                </a:solidFill>
                <a:latin typeface="Calibri" pitchFamily="34" charset="0"/>
                <a:ea typeface="Calibri" pitchFamily="34" charset="-122"/>
                <a:cs typeface="Calibri" pitchFamily="34" charset="-120"/>
              </a:rPr>
              <a:t>Daily</a:t>
            </a:r>
            <a:endParaRPr lang="en-US" sz="1050" dirty="0"/>
          </a:p>
        </p:txBody>
      </p:sp>
      <p:pic>
        <p:nvPicPr>
          <p:cNvPr id="44" name="Image 9" descr="preencoded.png"/>
          <p:cNvPicPr>
            <a:picLocks noChangeAspect="1"/>
          </p:cNvPicPr>
          <p:nvPr/>
        </p:nvPicPr>
        <p:blipFill>
          <a:blip r:embed="rId12"/>
          <a:stretch>
            <a:fillRect/>
          </a:stretch>
        </p:blipFill>
        <p:spPr>
          <a:xfrm>
            <a:off x="5760720" y="3511296"/>
            <a:ext cx="256032" cy="256032"/>
          </a:xfrm>
          <a:prstGeom prst="rect">
            <a:avLst/>
          </a:prstGeom>
        </p:spPr>
      </p:pic>
      <p:sp>
        <p:nvSpPr>
          <p:cNvPr id="45" name="Text 32"/>
          <p:cNvSpPr txBox="1"/>
          <p:nvPr/>
        </p:nvSpPr>
        <p:spPr>
          <a:xfrm>
            <a:off x="6144768" y="3438144"/>
            <a:ext cx="242316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Satellite</a:t>
            </a:r>
            <a:endParaRPr lang="en-US" sz="1200" dirty="0"/>
          </a:p>
        </p:txBody>
      </p:sp>
      <p:sp>
        <p:nvSpPr>
          <p:cNvPr id="46" name="Text 33"/>
          <p:cNvSpPr txBox="1"/>
          <p:nvPr/>
        </p:nvSpPr>
        <p:spPr>
          <a:xfrm>
            <a:off x="6144768" y="3666744"/>
            <a:ext cx="2423160" cy="237744"/>
          </a:xfrm>
          <a:prstGeom prst="rect">
            <a:avLst/>
          </a:prstGeom>
          <a:noFill/>
          <a:ln/>
        </p:spPr>
        <p:txBody>
          <a:bodyPr wrap="square" lIns="0" tIns="0" rIns="0" bIns="0" rtlCol="0" anchor="ctr"/>
          <a:lstStyle/>
          <a:p>
            <a:pPr marL="0" indent="0">
              <a:buNone/>
            </a:pPr>
            <a:r>
              <a:rPr lang="en-US" sz="1050" dirty="0">
                <a:solidFill>
                  <a:srgbClr val="C4E1CB"/>
                </a:solidFill>
                <a:latin typeface="Calibri" pitchFamily="34" charset="0"/>
                <a:ea typeface="Calibri" pitchFamily="34" charset="-122"/>
                <a:cs typeface="Calibri" pitchFamily="34" charset="-120"/>
              </a:rPr>
              <a:t>Every 5 to 10 days, cloud-free</a:t>
            </a:r>
            <a:endParaRPr lang="en-US" sz="1050" dirty="0"/>
          </a:p>
        </p:txBody>
      </p:sp>
      <p:pic>
        <p:nvPicPr>
          <p:cNvPr id="47" name="Image 10" descr="preencoded.png"/>
          <p:cNvPicPr>
            <a:picLocks noChangeAspect="1"/>
          </p:cNvPicPr>
          <p:nvPr/>
        </p:nvPicPr>
        <p:blipFill>
          <a:blip r:embed="rId13"/>
          <a:stretch>
            <a:fillRect/>
          </a:stretch>
        </p:blipFill>
        <p:spPr>
          <a:xfrm>
            <a:off x="5760720" y="4032504"/>
            <a:ext cx="256032" cy="256032"/>
          </a:xfrm>
          <a:prstGeom prst="rect">
            <a:avLst/>
          </a:prstGeom>
        </p:spPr>
      </p:pic>
      <p:sp>
        <p:nvSpPr>
          <p:cNvPr id="48" name="Text 34"/>
          <p:cNvSpPr txBox="1"/>
          <p:nvPr/>
        </p:nvSpPr>
        <p:spPr>
          <a:xfrm>
            <a:off x="6144768" y="3959352"/>
            <a:ext cx="2423160"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Crop / stage</a:t>
            </a:r>
            <a:endParaRPr lang="en-US" sz="1200" dirty="0"/>
          </a:p>
        </p:txBody>
      </p:sp>
      <p:sp>
        <p:nvSpPr>
          <p:cNvPr id="49" name="Text 35"/>
          <p:cNvSpPr txBox="1"/>
          <p:nvPr/>
        </p:nvSpPr>
        <p:spPr>
          <a:xfrm>
            <a:off x="6144768" y="4187952"/>
            <a:ext cx="2423160" cy="237744"/>
          </a:xfrm>
          <a:prstGeom prst="rect">
            <a:avLst/>
          </a:prstGeom>
          <a:noFill/>
          <a:ln/>
        </p:spPr>
        <p:txBody>
          <a:bodyPr wrap="square" lIns="0" tIns="0" rIns="0" bIns="0" rtlCol="0" anchor="ctr"/>
          <a:lstStyle/>
          <a:p>
            <a:pPr marL="0" indent="0">
              <a:buNone/>
            </a:pPr>
            <a:r>
              <a:rPr lang="en-US" sz="1050" dirty="0">
                <a:solidFill>
                  <a:srgbClr val="C4E1CB"/>
                </a:solidFill>
                <a:latin typeface="Calibri" pitchFamily="34" charset="0"/>
                <a:ea typeface="Calibri" pitchFamily="34" charset="-122"/>
                <a:cs typeface="Calibri" pitchFamily="34" charset="-120"/>
              </a:rPr>
              <a:t>Planting, stage change, harvest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4"/>
        </a:solidFill>
        <a:effectLst/>
      </p:bgPr>
    </p:bg>
    <p:spTree>
      <p:nvGrpSpPr>
        <p:cNvPr id="1" name=""/>
        <p:cNvGrpSpPr/>
        <p:nvPr/>
      </p:nvGrpSpPr>
      <p:grpSpPr>
        <a:xfrm>
          <a:off x="0" y="0"/>
          <a:ext cx="0" cy="0"/>
          <a:chOff x="0" y="0"/>
          <a:chExt cx="0" cy="0"/>
        </a:xfrm>
      </p:grpSpPr>
      <p:sp>
        <p:nvSpPr>
          <p:cNvPr id="2" name="Shape 0"/>
          <p:cNvSpPr/>
          <p:nvPr/>
        </p:nvSpPr>
        <p:spPr>
          <a:xfrm>
            <a:off x="7680960" y="-822960"/>
            <a:ext cx="2377440" cy="2011680"/>
          </a:xfrm>
          <a:prstGeom prst="ellipse">
            <a:avLst/>
          </a:prstGeom>
          <a:solidFill>
            <a:srgbClr val="E4F1E4"/>
          </a:solidFill>
          <a:ln/>
        </p:spPr>
        <p:txBody>
          <a:bodyPr/>
          <a:lstStyle/>
          <a:p>
            <a:endParaRPr lang="en-US"/>
          </a:p>
        </p:txBody>
      </p:sp>
      <p:sp>
        <p:nvSpPr>
          <p:cNvPr id="3" name="Shape 1"/>
          <p:cNvSpPr/>
          <p:nvPr/>
        </p:nvSpPr>
        <p:spPr>
          <a:xfrm>
            <a:off x="-914400" y="4480560"/>
            <a:ext cx="2377440" cy="1280160"/>
          </a:xfrm>
          <a:prstGeom prst="ellipse">
            <a:avLst/>
          </a:prstGeom>
          <a:solidFill>
            <a:srgbClr val="E4F1E4"/>
          </a:solidFill>
          <a:ln/>
        </p:spPr>
        <p:txBody>
          <a:bodyPr/>
          <a:lstStyle/>
          <a:p>
            <a:endParaRPr lang="en-US"/>
          </a:p>
        </p:txBody>
      </p:sp>
      <p:sp>
        <p:nvSpPr>
          <p:cNvPr id="4" name="Shape 2"/>
          <p:cNvSpPr/>
          <p:nvPr/>
        </p:nvSpPr>
        <p:spPr>
          <a:xfrm>
            <a:off x="457200" y="256032"/>
            <a:ext cx="4480560" cy="292608"/>
          </a:xfrm>
          <a:prstGeom prst="roundRect">
            <a:avLst>
              <a:gd name="adj" fmla="val 50000"/>
            </a:avLst>
          </a:prstGeom>
          <a:solidFill>
            <a:srgbClr val="DDEFF1"/>
          </a:solidFill>
          <a:ln/>
        </p:spPr>
        <p:txBody>
          <a:bodyPr/>
          <a:lstStyle/>
          <a:p>
            <a:endParaRPr lang="en-US"/>
          </a:p>
        </p:txBody>
      </p:sp>
      <p:sp>
        <p:nvSpPr>
          <p:cNvPr id="5" name="Text 3"/>
          <p:cNvSpPr txBox="1"/>
          <p:nvPr/>
        </p:nvSpPr>
        <p:spPr>
          <a:xfrm>
            <a:off x="594360" y="256032"/>
            <a:ext cx="4297680" cy="292608"/>
          </a:xfrm>
          <a:prstGeom prst="rect">
            <a:avLst/>
          </a:prstGeom>
          <a:noFill/>
          <a:ln/>
        </p:spPr>
        <p:txBody>
          <a:bodyPr wrap="square" lIns="0" tIns="0" rIns="0" bIns="0" rtlCol="0" anchor="ctr"/>
          <a:lstStyle/>
          <a:p>
            <a:pPr marL="0" indent="0">
              <a:buNone/>
            </a:pPr>
            <a:r>
              <a:rPr lang="en-US" sz="1050" b="1" dirty="0">
                <a:solidFill>
                  <a:srgbClr val="3E8E9E"/>
                </a:solidFill>
                <a:latin typeface="Calibri" pitchFamily="34" charset="0"/>
                <a:ea typeface="Calibri" pitchFamily="34" charset="-122"/>
                <a:cs typeface="Calibri" pitchFamily="34" charset="-120"/>
              </a:rPr>
              <a:t>JUDGE ASKS: What have you achieved, and what are you only promising?</a:t>
            </a:r>
            <a:endParaRPr lang="en-US" sz="1050" dirty="0"/>
          </a:p>
        </p:txBody>
      </p:sp>
      <p:sp>
        <p:nvSpPr>
          <p:cNvPr id="6" name="Text 4"/>
          <p:cNvSpPr txBox="1"/>
          <p:nvPr/>
        </p:nvSpPr>
        <p:spPr>
          <a:xfrm>
            <a:off x="457200" y="640080"/>
            <a:ext cx="7589520" cy="548640"/>
          </a:xfrm>
          <a:prstGeom prst="rect">
            <a:avLst/>
          </a:prstGeom>
          <a:noFill/>
          <a:ln/>
        </p:spPr>
        <p:txBody>
          <a:bodyPr wrap="square" lIns="0" tIns="0" rIns="0" bIns="0" rtlCol="0" anchor="ctr"/>
          <a:lstStyle/>
          <a:p>
            <a:pPr marL="0" indent="0">
              <a:buNone/>
            </a:pPr>
            <a:r>
              <a:rPr lang="en-US" sz="2200" b="1" dirty="0">
                <a:solidFill>
                  <a:srgbClr val="1F4D3A"/>
                </a:solidFill>
                <a:latin typeface="Cambria" pitchFamily="34" charset="0"/>
                <a:ea typeface="Cambria" pitchFamily="34" charset="-122"/>
                <a:cs typeface="Cambria" pitchFamily="34" charset="-120"/>
              </a:rPr>
              <a:t>Pilot: what we will measure, and what we do not claim</a:t>
            </a:r>
            <a:endParaRPr lang="en-US" sz="2200" dirty="0"/>
          </a:p>
        </p:txBody>
      </p:sp>
      <p:sp>
        <p:nvSpPr>
          <p:cNvPr id="7" name="Shape 5"/>
          <p:cNvSpPr/>
          <p:nvPr/>
        </p:nvSpPr>
        <p:spPr>
          <a:xfrm>
            <a:off x="8229600" y="292608"/>
            <a:ext cx="502920" cy="502920"/>
          </a:xfrm>
          <a:prstGeom prst="ellipse">
            <a:avLst/>
          </a:prstGeom>
          <a:solidFill>
            <a:srgbClr val="5FA36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355330" y="418338"/>
            <a:ext cx="251460" cy="251460"/>
          </a:xfrm>
          <a:prstGeom prst="rect">
            <a:avLst/>
          </a:prstGeom>
        </p:spPr>
      </p:pic>
      <p:pic>
        <p:nvPicPr>
          <p:cNvPr id="9" name="Image 1" descr="preencoded.png"/>
          <p:cNvPicPr>
            <a:picLocks noChangeAspect="1"/>
          </p:cNvPicPr>
          <p:nvPr/>
        </p:nvPicPr>
        <p:blipFill>
          <a:blip r:embed="rId4"/>
          <a:stretch>
            <a:fillRect/>
          </a:stretch>
        </p:blipFill>
        <p:spPr>
          <a:xfrm>
            <a:off x="457200" y="4773168"/>
            <a:ext cx="182880" cy="182880"/>
          </a:xfrm>
          <a:prstGeom prst="rect">
            <a:avLst/>
          </a:prstGeom>
        </p:spPr>
      </p:pic>
      <p:sp>
        <p:nvSpPr>
          <p:cNvPr id="10" name="Text 6"/>
          <p:cNvSpPr txBox="1"/>
          <p:nvPr/>
        </p:nvSpPr>
        <p:spPr>
          <a:xfrm>
            <a:off x="713232" y="4754880"/>
            <a:ext cx="1828800" cy="219456"/>
          </a:xfrm>
          <a:prstGeom prst="rect">
            <a:avLst/>
          </a:prstGeom>
          <a:noFill/>
          <a:ln/>
        </p:spPr>
        <p:txBody>
          <a:bodyPr wrap="square" lIns="0" tIns="0" rIns="0" bIns="0" rtlCol="0" anchor="ctr"/>
          <a:lstStyle/>
          <a:p>
            <a:pPr marL="0" indent="0">
              <a:buNone/>
            </a:pPr>
            <a:r>
              <a:rPr lang="en-US" sz="1000" b="1" dirty="0">
                <a:solidFill>
                  <a:srgbClr val="6B7F74"/>
                </a:solidFill>
                <a:latin typeface="Calibri" pitchFamily="34" charset="0"/>
                <a:ea typeface="Calibri" pitchFamily="34" charset="-122"/>
                <a:cs typeface="Calibri" pitchFamily="34" charset="-120"/>
              </a:rPr>
              <a:t>Krishan AI</a:t>
            </a:r>
            <a:endParaRPr lang="en-US" sz="1000" dirty="0"/>
          </a:p>
        </p:txBody>
      </p:sp>
      <p:sp>
        <p:nvSpPr>
          <p:cNvPr id="11" name="Text 7"/>
          <p:cNvSpPr txBox="1"/>
          <p:nvPr/>
        </p:nvSpPr>
        <p:spPr>
          <a:xfrm>
            <a:off x="8229600" y="4754880"/>
            <a:ext cx="457200" cy="219456"/>
          </a:xfrm>
          <a:prstGeom prst="rect">
            <a:avLst/>
          </a:prstGeom>
          <a:noFill/>
          <a:ln/>
        </p:spPr>
        <p:txBody>
          <a:bodyPr wrap="square" lIns="0" tIns="0" rIns="0" bIns="0" rtlCol="0" anchor="ctr"/>
          <a:lstStyle/>
          <a:p>
            <a:pPr marL="0" indent="0" algn="r">
              <a:buNone/>
            </a:pPr>
            <a:r>
              <a:rPr lang="en-US" sz="1000" dirty="0">
                <a:solidFill>
                  <a:srgbClr val="6B7F74"/>
                </a:solidFill>
                <a:latin typeface="Calibri" pitchFamily="34" charset="0"/>
                <a:ea typeface="Calibri" pitchFamily="34" charset="-122"/>
                <a:cs typeface="Calibri" pitchFamily="34" charset="-120"/>
              </a:rPr>
              <a:t>6</a:t>
            </a:r>
            <a:endParaRPr lang="en-US" sz="1000" dirty="0"/>
          </a:p>
        </p:txBody>
      </p:sp>
      <p:sp>
        <p:nvSpPr>
          <p:cNvPr id="13" name="Shape 8"/>
          <p:cNvSpPr/>
          <p:nvPr/>
        </p:nvSpPr>
        <p:spPr>
          <a:xfrm>
            <a:off x="457200" y="1325880"/>
            <a:ext cx="2103120" cy="2788920"/>
          </a:xfrm>
          <a:prstGeom prst="roundRect">
            <a:avLst>
              <a:gd name="adj" fmla="val 6957"/>
            </a:avLst>
          </a:prstGeom>
          <a:solidFill>
            <a:srgbClr val="1F4D3A"/>
          </a:solidFill>
          <a:ln/>
          <a:effectLst>
            <a:outerShdw blurRad="101600" dist="25400" dir="5400000" algn="bl" rotWithShape="0">
              <a:srgbClr val="2F5D46">
                <a:alpha val="14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1188720" y="1463040"/>
            <a:ext cx="640080" cy="640080"/>
          </a:xfrm>
          <a:prstGeom prst="rect">
            <a:avLst/>
          </a:prstGeom>
        </p:spPr>
      </p:pic>
      <p:sp>
        <p:nvSpPr>
          <p:cNvPr id="15" name="Text 9"/>
          <p:cNvSpPr txBox="1"/>
          <p:nvPr/>
        </p:nvSpPr>
        <p:spPr>
          <a:xfrm>
            <a:off x="457200" y="2103120"/>
            <a:ext cx="2103120" cy="868680"/>
          </a:xfrm>
          <a:prstGeom prst="rect">
            <a:avLst/>
          </a:prstGeom>
          <a:noFill/>
          <a:ln/>
        </p:spPr>
        <p:txBody>
          <a:bodyPr wrap="square" lIns="0" tIns="0" rIns="0" bIns="0" rtlCol="0" anchor="ctr"/>
          <a:lstStyle/>
          <a:p>
            <a:pPr marL="0" indent="0" algn="ctr">
              <a:buNone/>
            </a:pPr>
            <a:r>
              <a:rPr lang="en-US" sz="6000" b="1" dirty="0">
                <a:solidFill>
                  <a:srgbClr val="F2B84B"/>
                </a:solidFill>
                <a:latin typeface="Cambria" pitchFamily="34" charset="0"/>
                <a:ea typeface="Cambria" pitchFamily="34" charset="-122"/>
                <a:cs typeface="Cambria" pitchFamily="34" charset="-120"/>
              </a:rPr>
              <a:t>100</a:t>
            </a:r>
            <a:endParaRPr lang="en-US" sz="6000" dirty="0"/>
          </a:p>
        </p:txBody>
      </p:sp>
      <p:sp>
        <p:nvSpPr>
          <p:cNvPr id="16" name="Text 10"/>
          <p:cNvSpPr txBox="1"/>
          <p:nvPr/>
        </p:nvSpPr>
        <p:spPr>
          <a:xfrm>
            <a:off x="594360" y="2971800"/>
            <a:ext cx="182880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farms, proposed initial field pilot</a:t>
            </a:r>
            <a:endParaRPr lang="en-US" sz="1300" dirty="0"/>
          </a:p>
        </p:txBody>
      </p:sp>
      <p:sp>
        <p:nvSpPr>
          <p:cNvPr id="17" name="Text 11"/>
          <p:cNvSpPr txBox="1"/>
          <p:nvPr/>
        </p:nvSpPr>
        <p:spPr>
          <a:xfrm>
            <a:off x="594360" y="3474720"/>
            <a:ext cx="1828800" cy="548640"/>
          </a:xfrm>
          <a:prstGeom prst="rect">
            <a:avLst/>
          </a:prstGeom>
          <a:noFill/>
          <a:ln/>
        </p:spPr>
        <p:txBody>
          <a:bodyPr wrap="square" lIns="0" tIns="0" rIns="0" bIns="0" rtlCol="0" anchor="t"/>
          <a:lstStyle/>
          <a:p>
            <a:pPr marL="0" indent="0" algn="ctr">
              <a:buNone/>
            </a:pPr>
            <a:r>
              <a:rPr lang="en-US" sz="1100" dirty="0">
                <a:solidFill>
                  <a:srgbClr val="C4E1CB"/>
                </a:solidFill>
                <a:latin typeface="Calibri" pitchFamily="34" charset="0"/>
                <a:ea typeface="Calibri" pitchFamily="34" charset="-122"/>
                <a:cs typeface="Calibri" pitchFamily="34" charset="-120"/>
              </a:rPr>
              <a:t>Tests the full loop: data, risk, explanation, recommendation</a:t>
            </a:r>
            <a:endParaRPr lang="en-US" sz="1100" dirty="0"/>
          </a:p>
        </p:txBody>
      </p:sp>
      <p:sp>
        <p:nvSpPr>
          <p:cNvPr id="18" name="Shape 12"/>
          <p:cNvSpPr/>
          <p:nvPr/>
        </p:nvSpPr>
        <p:spPr>
          <a:xfrm>
            <a:off x="2743200" y="1325880"/>
            <a:ext cx="2834640" cy="2788920"/>
          </a:xfrm>
          <a:prstGeom prst="roundRect">
            <a:avLst>
              <a:gd name="adj" fmla="val 4590"/>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19" name="Text 13"/>
          <p:cNvSpPr txBox="1"/>
          <p:nvPr/>
        </p:nvSpPr>
        <p:spPr>
          <a:xfrm>
            <a:off x="2971800" y="1444752"/>
            <a:ext cx="2468880" cy="292608"/>
          </a:xfrm>
          <a:prstGeom prst="rect">
            <a:avLst/>
          </a:prstGeom>
          <a:noFill/>
          <a:ln/>
        </p:spPr>
        <p:txBody>
          <a:bodyPr wrap="square" lIns="0" tIns="0" rIns="0" bIns="0" rtlCol="0" anchor="ctr"/>
          <a:lstStyle/>
          <a:p>
            <a:pPr marL="0" indent="0">
              <a:buNone/>
            </a:pPr>
            <a:r>
              <a:rPr lang="en-US" sz="1500" b="1" dirty="0">
                <a:solidFill>
                  <a:srgbClr val="1F4D3A"/>
                </a:solidFill>
                <a:latin typeface="Cambria" pitchFamily="34" charset="0"/>
                <a:ea typeface="Cambria" pitchFamily="34" charset="-122"/>
                <a:cs typeface="Cambria" pitchFamily="34" charset="-120"/>
              </a:rPr>
              <a:t>We will measure</a:t>
            </a:r>
            <a:endParaRPr lang="en-US" sz="1500" dirty="0"/>
          </a:p>
        </p:txBody>
      </p:sp>
      <p:sp>
        <p:nvSpPr>
          <p:cNvPr id="20" name="Text 14"/>
          <p:cNvSpPr txBox="1"/>
          <p:nvPr/>
        </p:nvSpPr>
        <p:spPr>
          <a:xfrm>
            <a:off x="2971800" y="1828800"/>
            <a:ext cx="2468880" cy="219456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2B3A33"/>
                </a:solidFill>
                <a:latin typeface="Calibri" pitchFamily="34" charset="0"/>
                <a:ea typeface="Calibri" pitchFamily="34" charset="-122"/>
                <a:cs typeface="Calibri" pitchFamily="34" charset="-120"/>
              </a:rPr>
              <a:t>Prediction performance</a:t>
            </a:r>
            <a:endParaRPr lang="en-US" sz="1250" dirty="0"/>
          </a:p>
          <a:p>
            <a:pPr marL="177800" indent="-177800">
              <a:spcAft>
                <a:spcPts val="500"/>
              </a:spcAft>
              <a:buSzPct val="100000"/>
              <a:buChar char="•"/>
            </a:pPr>
            <a:r>
              <a:rPr lang="en-US" sz="1250" dirty="0">
                <a:solidFill>
                  <a:srgbClr val="2B3A33"/>
                </a:solidFill>
                <a:latin typeface="Calibri" pitchFamily="34" charset="0"/>
                <a:ea typeface="Calibri" pitchFamily="34" charset="-122"/>
                <a:cs typeface="Calibri" pitchFamily="34" charset="-120"/>
              </a:rPr>
              <a:t>Warning lead time</a:t>
            </a:r>
            <a:endParaRPr lang="en-US" sz="1250" dirty="0"/>
          </a:p>
          <a:p>
            <a:pPr marL="177800" indent="-177800">
              <a:spcAft>
                <a:spcPts val="500"/>
              </a:spcAft>
              <a:buSzPct val="100000"/>
              <a:buChar char="•"/>
            </a:pPr>
            <a:r>
              <a:rPr lang="en-US" sz="1250" dirty="0">
                <a:solidFill>
                  <a:srgbClr val="2B3A33"/>
                </a:solidFill>
                <a:latin typeface="Calibri" pitchFamily="34" charset="0"/>
                <a:ea typeface="Calibri" pitchFamily="34" charset="-122"/>
                <a:cs typeface="Calibri" pitchFamily="34" charset="-120"/>
              </a:rPr>
              <a:t>False alarms, data sufficiency</a:t>
            </a:r>
            <a:endParaRPr lang="en-US" sz="1250" dirty="0"/>
          </a:p>
          <a:p>
            <a:pPr marL="177800" indent="-177800">
              <a:spcAft>
                <a:spcPts val="500"/>
              </a:spcAft>
              <a:buSzPct val="100000"/>
              <a:buChar char="•"/>
            </a:pPr>
            <a:r>
              <a:rPr lang="en-US" sz="1250" dirty="0">
                <a:solidFill>
                  <a:srgbClr val="2B3A33"/>
                </a:solidFill>
                <a:latin typeface="Calibri" pitchFamily="34" charset="0"/>
                <a:ea typeface="Calibri" pitchFamily="34" charset="-122"/>
                <a:cs typeface="Calibri" pitchFamily="34" charset="-120"/>
              </a:rPr>
              <a:t>Farmer understanding</a:t>
            </a:r>
            <a:endParaRPr lang="en-US" sz="1250" dirty="0"/>
          </a:p>
          <a:p>
            <a:pPr marL="177800" indent="-177800">
              <a:spcAft>
                <a:spcPts val="500"/>
              </a:spcAft>
              <a:buSzPct val="100000"/>
              <a:buChar char="•"/>
            </a:pPr>
            <a:r>
              <a:rPr lang="en-US" sz="1250" dirty="0">
                <a:solidFill>
                  <a:srgbClr val="2B3A33"/>
                </a:solidFill>
                <a:latin typeface="Calibri" pitchFamily="34" charset="0"/>
                <a:ea typeface="Calibri" pitchFamily="34" charset="-122"/>
                <a:cs typeface="Calibri" pitchFamily="34" charset="-120"/>
              </a:rPr>
              <a:t>Recommendation uptake</a:t>
            </a:r>
            <a:endParaRPr lang="en-US" sz="1250" dirty="0"/>
          </a:p>
          <a:p>
            <a:pPr marL="177800" indent="-177800">
              <a:spcAft>
                <a:spcPts val="500"/>
              </a:spcAft>
              <a:buSzPct val="100000"/>
              <a:buChar char="•"/>
            </a:pPr>
            <a:r>
              <a:rPr lang="en-US" sz="1250" dirty="0">
                <a:solidFill>
                  <a:srgbClr val="2B3A33"/>
                </a:solidFill>
                <a:latin typeface="Calibri" pitchFamily="34" charset="0"/>
                <a:ea typeface="Calibri" pitchFamily="34" charset="-122"/>
                <a:cs typeface="Calibri" pitchFamily="34" charset="-120"/>
              </a:rPr>
              <a:t>Changes after interventions</a:t>
            </a:r>
            <a:endParaRPr lang="en-US" sz="1250" dirty="0"/>
          </a:p>
        </p:txBody>
      </p:sp>
      <p:sp>
        <p:nvSpPr>
          <p:cNvPr id="21" name="Shape 15"/>
          <p:cNvSpPr/>
          <p:nvPr/>
        </p:nvSpPr>
        <p:spPr>
          <a:xfrm>
            <a:off x="5760720" y="1325880"/>
            <a:ext cx="2926080" cy="1325880"/>
          </a:xfrm>
          <a:prstGeom prst="roundRect">
            <a:avLst>
              <a:gd name="adj" fmla="val 9655"/>
            </a:avLst>
          </a:prstGeom>
          <a:solidFill>
            <a:srgbClr val="E4F1E4"/>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pic>
        <p:nvPicPr>
          <p:cNvPr id="22" name="Image 3" descr="preencoded.png"/>
          <p:cNvPicPr>
            <a:picLocks noChangeAspect="1"/>
          </p:cNvPicPr>
          <p:nvPr/>
        </p:nvPicPr>
        <p:blipFill>
          <a:blip r:embed="rId6"/>
          <a:stretch>
            <a:fillRect/>
          </a:stretch>
        </p:blipFill>
        <p:spPr>
          <a:xfrm>
            <a:off x="5943600" y="1463040"/>
            <a:ext cx="274320" cy="274320"/>
          </a:xfrm>
          <a:prstGeom prst="rect">
            <a:avLst/>
          </a:prstGeom>
        </p:spPr>
      </p:pic>
      <p:sp>
        <p:nvSpPr>
          <p:cNvPr id="23" name="Text 16"/>
          <p:cNvSpPr txBox="1"/>
          <p:nvPr/>
        </p:nvSpPr>
        <p:spPr>
          <a:xfrm>
            <a:off x="6327648" y="1444752"/>
            <a:ext cx="2194560" cy="310896"/>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We claim today</a:t>
            </a:r>
            <a:endParaRPr lang="en-US" sz="1300" dirty="0"/>
          </a:p>
        </p:txBody>
      </p:sp>
      <p:sp>
        <p:nvSpPr>
          <p:cNvPr id="24" name="Text 17"/>
          <p:cNvSpPr txBox="1"/>
          <p:nvPr/>
        </p:nvSpPr>
        <p:spPr>
          <a:xfrm>
            <a:off x="5943600" y="1828800"/>
            <a:ext cx="2606040" cy="731520"/>
          </a:xfrm>
          <a:prstGeom prst="rect">
            <a:avLst/>
          </a:prstGeom>
          <a:noFill/>
          <a:ln/>
        </p:spPr>
        <p:txBody>
          <a:bodyPr wrap="square" lIns="0" tIns="0" rIns="0" bIns="0" rtlCol="0" anchor="t"/>
          <a:lstStyle/>
          <a:p>
            <a:pPr marL="0" indent="0">
              <a:buNone/>
            </a:pPr>
            <a:r>
              <a:rPr lang="en-US" sz="1250" dirty="0">
                <a:solidFill>
                  <a:srgbClr val="2B3A33"/>
                </a:solidFill>
                <a:latin typeface="Calibri" pitchFamily="34" charset="0"/>
                <a:ea typeface="Calibri" pitchFamily="34" charset="-122"/>
                <a:cs typeface="Calibri" pitchFamily="34" charset="-120"/>
              </a:rPr>
              <a:t>A defined, testable system and a pilot design.</a:t>
            </a:r>
            <a:endParaRPr lang="en-US" sz="1250" dirty="0"/>
          </a:p>
        </p:txBody>
      </p:sp>
      <p:sp>
        <p:nvSpPr>
          <p:cNvPr id="25" name="Shape 18"/>
          <p:cNvSpPr/>
          <p:nvPr/>
        </p:nvSpPr>
        <p:spPr>
          <a:xfrm>
            <a:off x="5760720" y="2788920"/>
            <a:ext cx="2926080" cy="1325880"/>
          </a:xfrm>
          <a:prstGeom prst="roundRect">
            <a:avLst>
              <a:gd name="adj" fmla="val 9655"/>
            </a:avLst>
          </a:prstGeom>
          <a:solidFill>
            <a:srgbClr val="F7E4DA"/>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pic>
        <p:nvPicPr>
          <p:cNvPr id="26" name="Image 4" descr="preencoded.png"/>
          <p:cNvPicPr>
            <a:picLocks noChangeAspect="1"/>
          </p:cNvPicPr>
          <p:nvPr/>
        </p:nvPicPr>
        <p:blipFill>
          <a:blip r:embed="rId7"/>
          <a:stretch>
            <a:fillRect/>
          </a:stretch>
        </p:blipFill>
        <p:spPr>
          <a:xfrm>
            <a:off x="5943600" y="2926080"/>
            <a:ext cx="274320" cy="274320"/>
          </a:xfrm>
          <a:prstGeom prst="rect">
            <a:avLst/>
          </a:prstGeom>
        </p:spPr>
      </p:pic>
      <p:sp>
        <p:nvSpPr>
          <p:cNvPr id="27" name="Text 19"/>
          <p:cNvSpPr txBox="1"/>
          <p:nvPr/>
        </p:nvSpPr>
        <p:spPr>
          <a:xfrm>
            <a:off x="6327648" y="2907792"/>
            <a:ext cx="2194560" cy="310896"/>
          </a:xfrm>
          <a:prstGeom prst="rect">
            <a:avLst/>
          </a:prstGeom>
          <a:noFill/>
          <a:ln/>
        </p:spPr>
        <p:txBody>
          <a:bodyPr wrap="square" lIns="0" tIns="0" rIns="0" bIns="0" rtlCol="0" anchor="ctr"/>
          <a:lstStyle/>
          <a:p>
            <a:pPr marL="0" indent="0">
              <a:buNone/>
            </a:pPr>
            <a:r>
              <a:rPr lang="en-US" sz="1300" b="1" dirty="0">
                <a:solidFill>
                  <a:srgbClr val="A4522D"/>
                </a:solidFill>
                <a:latin typeface="Calibri" pitchFamily="34" charset="0"/>
                <a:ea typeface="Calibri" pitchFamily="34" charset="-122"/>
                <a:cs typeface="Calibri" pitchFamily="34" charset="-120"/>
              </a:rPr>
              <a:t>We do not claim</a:t>
            </a:r>
            <a:endParaRPr lang="en-US" sz="1300" dirty="0"/>
          </a:p>
        </p:txBody>
      </p:sp>
      <p:sp>
        <p:nvSpPr>
          <p:cNvPr id="28" name="Text 20"/>
          <p:cNvSpPr txBox="1"/>
          <p:nvPr/>
        </p:nvSpPr>
        <p:spPr>
          <a:xfrm>
            <a:off x="5943600" y="3291840"/>
            <a:ext cx="2606040" cy="777240"/>
          </a:xfrm>
          <a:prstGeom prst="rect">
            <a:avLst/>
          </a:prstGeom>
          <a:noFill/>
          <a:ln/>
        </p:spPr>
        <p:txBody>
          <a:bodyPr wrap="square" lIns="0" tIns="0" rIns="0" bIns="0" rtlCol="0" anchor="t"/>
          <a:lstStyle/>
          <a:p>
            <a:pPr marL="0" indent="0">
              <a:buNone/>
            </a:pPr>
            <a:r>
              <a:rPr lang="en-US" sz="1250" dirty="0">
                <a:solidFill>
                  <a:srgbClr val="2B3A33"/>
                </a:solidFill>
                <a:latin typeface="Calibri" pitchFamily="34" charset="0"/>
                <a:ea typeface="Calibri" pitchFamily="34" charset="-122"/>
                <a:cs typeface="Calibri" pitchFamily="34" charset="-120"/>
              </a:rPr>
              <a:t>Accuracy, reduced losses or water savings. These are hypotheses the pilot will test.</a:t>
            </a:r>
            <a:endParaRPr lang="en-US" sz="1250" dirty="0"/>
          </a:p>
        </p:txBody>
      </p:sp>
      <p:pic>
        <p:nvPicPr>
          <p:cNvPr id="29" name="Image 5" descr="preencoded.png"/>
          <p:cNvPicPr>
            <a:picLocks noChangeAspect="1"/>
          </p:cNvPicPr>
          <p:nvPr/>
        </p:nvPicPr>
        <p:blipFill>
          <a:blip r:embed="rId8"/>
          <a:stretch>
            <a:fillRect/>
          </a:stretch>
        </p:blipFill>
        <p:spPr>
          <a:xfrm>
            <a:off x="457200" y="4297680"/>
            <a:ext cx="237744" cy="237744"/>
          </a:xfrm>
          <a:prstGeom prst="rect">
            <a:avLst/>
          </a:prstGeom>
        </p:spPr>
      </p:pic>
      <p:sp>
        <p:nvSpPr>
          <p:cNvPr id="30" name="Text 21"/>
          <p:cNvSpPr txBox="1"/>
          <p:nvPr/>
        </p:nvSpPr>
        <p:spPr>
          <a:xfrm>
            <a:off x="822960" y="4251960"/>
            <a:ext cx="7863840" cy="329184"/>
          </a:xfrm>
          <a:prstGeom prst="rect">
            <a:avLst/>
          </a:prstGeom>
          <a:noFill/>
          <a:ln/>
        </p:spPr>
        <p:txBody>
          <a:bodyPr wrap="square" lIns="0" tIns="0" rIns="0" bIns="0" rtlCol="0" anchor="ctr"/>
          <a:lstStyle/>
          <a:p>
            <a:pPr marL="0" indent="0">
              <a:buNone/>
            </a:pPr>
            <a:r>
              <a:rPr lang="en-US" sz="1300" b="1" i="1" dirty="0">
                <a:solidFill>
                  <a:srgbClr val="1F4D3A"/>
                </a:solidFill>
                <a:latin typeface="Calibri" pitchFamily="34" charset="0"/>
                <a:ea typeface="Calibri" pitchFamily="34" charset="-122"/>
                <a:cs typeface="Calibri" pitchFamily="34" charset="-120"/>
              </a:rPr>
              <a:t>Success also means knowing when there is not enough data to trust a prediction.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4"/>
        </a:solidFill>
        <a:effectLst/>
      </p:bgPr>
    </p:bg>
    <p:spTree>
      <p:nvGrpSpPr>
        <p:cNvPr id="1" name=""/>
        <p:cNvGrpSpPr/>
        <p:nvPr/>
      </p:nvGrpSpPr>
      <p:grpSpPr>
        <a:xfrm>
          <a:off x="0" y="0"/>
          <a:ext cx="0" cy="0"/>
          <a:chOff x="0" y="0"/>
          <a:chExt cx="0" cy="0"/>
        </a:xfrm>
      </p:grpSpPr>
      <p:sp>
        <p:nvSpPr>
          <p:cNvPr id="2" name="Shape 0"/>
          <p:cNvSpPr/>
          <p:nvPr/>
        </p:nvSpPr>
        <p:spPr>
          <a:xfrm>
            <a:off x="7680960" y="-822960"/>
            <a:ext cx="2377440" cy="2011680"/>
          </a:xfrm>
          <a:prstGeom prst="ellipse">
            <a:avLst/>
          </a:prstGeom>
          <a:solidFill>
            <a:srgbClr val="E4F1E4"/>
          </a:solidFill>
          <a:ln/>
        </p:spPr>
        <p:txBody>
          <a:bodyPr/>
          <a:lstStyle/>
          <a:p>
            <a:endParaRPr lang="en-US"/>
          </a:p>
        </p:txBody>
      </p:sp>
      <p:sp>
        <p:nvSpPr>
          <p:cNvPr id="3" name="Shape 1"/>
          <p:cNvSpPr/>
          <p:nvPr/>
        </p:nvSpPr>
        <p:spPr>
          <a:xfrm>
            <a:off x="-914400" y="4480560"/>
            <a:ext cx="2377440" cy="1280160"/>
          </a:xfrm>
          <a:prstGeom prst="ellipse">
            <a:avLst/>
          </a:prstGeom>
          <a:solidFill>
            <a:srgbClr val="E4F1E4"/>
          </a:solidFill>
          <a:ln/>
        </p:spPr>
        <p:txBody>
          <a:bodyPr/>
          <a:lstStyle/>
          <a:p>
            <a:endParaRPr lang="en-US"/>
          </a:p>
        </p:txBody>
      </p:sp>
      <p:sp>
        <p:nvSpPr>
          <p:cNvPr id="4" name="Shape 2"/>
          <p:cNvSpPr/>
          <p:nvPr/>
        </p:nvSpPr>
        <p:spPr>
          <a:xfrm>
            <a:off x="457200" y="256032"/>
            <a:ext cx="4480560" cy="292608"/>
          </a:xfrm>
          <a:prstGeom prst="roundRect">
            <a:avLst>
              <a:gd name="adj" fmla="val 50000"/>
            </a:avLst>
          </a:prstGeom>
          <a:solidFill>
            <a:srgbClr val="DDEFF1"/>
          </a:solidFill>
          <a:ln/>
        </p:spPr>
        <p:txBody>
          <a:bodyPr/>
          <a:lstStyle/>
          <a:p>
            <a:endParaRPr lang="en-US"/>
          </a:p>
        </p:txBody>
      </p:sp>
      <p:sp>
        <p:nvSpPr>
          <p:cNvPr id="5" name="Text 3"/>
          <p:cNvSpPr txBox="1"/>
          <p:nvPr/>
        </p:nvSpPr>
        <p:spPr>
          <a:xfrm>
            <a:off x="594360" y="256032"/>
            <a:ext cx="4297680" cy="292608"/>
          </a:xfrm>
          <a:prstGeom prst="rect">
            <a:avLst/>
          </a:prstGeom>
          <a:noFill/>
          <a:ln/>
        </p:spPr>
        <p:txBody>
          <a:bodyPr wrap="square" lIns="0" tIns="0" rIns="0" bIns="0" rtlCol="0" anchor="ctr"/>
          <a:lstStyle/>
          <a:p>
            <a:pPr marL="0" indent="0">
              <a:buNone/>
            </a:pPr>
            <a:r>
              <a:rPr lang="en-US" sz="1050" b="1" dirty="0">
                <a:solidFill>
                  <a:srgbClr val="3E8E9E"/>
                </a:solidFill>
                <a:latin typeface="Calibri" pitchFamily="34" charset="0"/>
                <a:ea typeface="Calibri" pitchFamily="34" charset="-122"/>
                <a:cs typeface="Calibri" pitchFamily="34" charset="-120"/>
              </a:rPr>
              <a:t>JUDGE ASKS: What is different, and what do you need from us?</a:t>
            </a:r>
            <a:endParaRPr lang="en-US" sz="1050" dirty="0"/>
          </a:p>
        </p:txBody>
      </p:sp>
      <p:sp>
        <p:nvSpPr>
          <p:cNvPr id="6" name="Text 4"/>
          <p:cNvSpPr txBox="1"/>
          <p:nvPr/>
        </p:nvSpPr>
        <p:spPr>
          <a:xfrm>
            <a:off x="457200" y="640080"/>
            <a:ext cx="7589520" cy="548640"/>
          </a:xfrm>
          <a:prstGeom prst="rect">
            <a:avLst/>
          </a:prstGeom>
          <a:noFill/>
          <a:ln/>
        </p:spPr>
        <p:txBody>
          <a:bodyPr wrap="square" lIns="0" tIns="0" rIns="0" bIns="0" rtlCol="0" anchor="ctr"/>
          <a:lstStyle/>
          <a:p>
            <a:pPr marL="0" indent="0">
              <a:buNone/>
            </a:pPr>
            <a:r>
              <a:rPr lang="en-US" sz="2600" b="1" dirty="0">
                <a:solidFill>
                  <a:srgbClr val="1F4D3A"/>
                </a:solidFill>
                <a:latin typeface="Cambria" pitchFamily="34" charset="0"/>
                <a:ea typeface="Cambria" pitchFamily="34" charset="-122"/>
                <a:cs typeface="Cambria" pitchFamily="34" charset="-120"/>
              </a:rPr>
              <a:t>Evidence-gated roadmap, and what we need</a:t>
            </a:r>
            <a:endParaRPr lang="en-US" sz="2600" dirty="0"/>
          </a:p>
        </p:txBody>
      </p:sp>
      <p:sp>
        <p:nvSpPr>
          <p:cNvPr id="7" name="Shape 5"/>
          <p:cNvSpPr/>
          <p:nvPr/>
        </p:nvSpPr>
        <p:spPr>
          <a:xfrm>
            <a:off x="8229600" y="292608"/>
            <a:ext cx="502920" cy="502920"/>
          </a:xfrm>
          <a:prstGeom prst="ellipse">
            <a:avLst/>
          </a:prstGeom>
          <a:solidFill>
            <a:srgbClr val="5FA36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355330" y="418338"/>
            <a:ext cx="251460" cy="251460"/>
          </a:xfrm>
          <a:prstGeom prst="rect">
            <a:avLst/>
          </a:prstGeom>
        </p:spPr>
      </p:pic>
      <p:pic>
        <p:nvPicPr>
          <p:cNvPr id="9" name="Image 1" descr="preencoded.png"/>
          <p:cNvPicPr>
            <a:picLocks noChangeAspect="1"/>
          </p:cNvPicPr>
          <p:nvPr/>
        </p:nvPicPr>
        <p:blipFill>
          <a:blip r:embed="rId4"/>
          <a:stretch>
            <a:fillRect/>
          </a:stretch>
        </p:blipFill>
        <p:spPr>
          <a:xfrm>
            <a:off x="457200" y="4773168"/>
            <a:ext cx="182880" cy="182880"/>
          </a:xfrm>
          <a:prstGeom prst="rect">
            <a:avLst/>
          </a:prstGeom>
        </p:spPr>
      </p:pic>
      <p:sp>
        <p:nvSpPr>
          <p:cNvPr id="10" name="Text 6"/>
          <p:cNvSpPr txBox="1"/>
          <p:nvPr/>
        </p:nvSpPr>
        <p:spPr>
          <a:xfrm>
            <a:off x="713232" y="4754880"/>
            <a:ext cx="1828800" cy="219456"/>
          </a:xfrm>
          <a:prstGeom prst="rect">
            <a:avLst/>
          </a:prstGeom>
          <a:noFill/>
          <a:ln/>
        </p:spPr>
        <p:txBody>
          <a:bodyPr wrap="square" lIns="0" tIns="0" rIns="0" bIns="0" rtlCol="0" anchor="ctr"/>
          <a:lstStyle/>
          <a:p>
            <a:pPr marL="0" indent="0">
              <a:buNone/>
            </a:pPr>
            <a:r>
              <a:rPr lang="en-US" sz="1000" b="1" dirty="0">
                <a:solidFill>
                  <a:srgbClr val="6B7F74"/>
                </a:solidFill>
                <a:latin typeface="Calibri" pitchFamily="34" charset="0"/>
                <a:ea typeface="Calibri" pitchFamily="34" charset="-122"/>
                <a:cs typeface="Calibri" pitchFamily="34" charset="-120"/>
              </a:rPr>
              <a:t>Krishan AI</a:t>
            </a:r>
            <a:endParaRPr lang="en-US" sz="1000" dirty="0"/>
          </a:p>
        </p:txBody>
      </p:sp>
      <p:sp>
        <p:nvSpPr>
          <p:cNvPr id="11" name="Text 7"/>
          <p:cNvSpPr txBox="1"/>
          <p:nvPr/>
        </p:nvSpPr>
        <p:spPr>
          <a:xfrm>
            <a:off x="8229600" y="4754880"/>
            <a:ext cx="457200" cy="219456"/>
          </a:xfrm>
          <a:prstGeom prst="rect">
            <a:avLst/>
          </a:prstGeom>
          <a:noFill/>
          <a:ln/>
        </p:spPr>
        <p:txBody>
          <a:bodyPr wrap="square" lIns="0" tIns="0" rIns="0" bIns="0" rtlCol="0" anchor="ctr"/>
          <a:lstStyle/>
          <a:p>
            <a:pPr marL="0" indent="0" algn="r">
              <a:buNone/>
            </a:pPr>
            <a:r>
              <a:rPr lang="en-US" sz="1000" dirty="0">
                <a:solidFill>
                  <a:srgbClr val="6B7F74"/>
                </a:solidFill>
                <a:latin typeface="Calibri" pitchFamily="34" charset="0"/>
                <a:ea typeface="Calibri" pitchFamily="34" charset="-122"/>
                <a:cs typeface="Calibri" pitchFamily="34" charset="-120"/>
              </a:rPr>
              <a:t>7</a:t>
            </a:r>
            <a:endParaRPr lang="en-US" sz="1000" dirty="0"/>
          </a:p>
        </p:txBody>
      </p:sp>
      <p:sp>
        <p:nvSpPr>
          <p:cNvPr id="13" name="Shape 8"/>
          <p:cNvSpPr/>
          <p:nvPr/>
        </p:nvSpPr>
        <p:spPr>
          <a:xfrm>
            <a:off x="457200" y="1280160"/>
            <a:ext cx="2651760" cy="1600200"/>
          </a:xfrm>
          <a:prstGeom prst="roundRect">
            <a:avLst>
              <a:gd name="adj" fmla="val 8000"/>
            </a:avLst>
          </a:prstGeom>
          <a:solidFill>
            <a:srgbClr val="DDEFF1"/>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14" name="Shape 9"/>
          <p:cNvSpPr/>
          <p:nvPr/>
        </p:nvSpPr>
        <p:spPr>
          <a:xfrm>
            <a:off x="594360" y="1389888"/>
            <a:ext cx="420624" cy="420624"/>
          </a:xfrm>
          <a:prstGeom prst="ellipse">
            <a:avLst/>
          </a:prstGeom>
          <a:solidFill>
            <a:srgbClr val="FFFFFF"/>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699516" y="1495044"/>
            <a:ext cx="210312" cy="210312"/>
          </a:xfrm>
          <a:prstGeom prst="rect">
            <a:avLst/>
          </a:prstGeom>
        </p:spPr>
      </p:pic>
      <p:sp>
        <p:nvSpPr>
          <p:cNvPr id="16" name="Text 10"/>
          <p:cNvSpPr txBox="1"/>
          <p:nvPr/>
        </p:nvSpPr>
        <p:spPr>
          <a:xfrm>
            <a:off x="1143000" y="1371600"/>
            <a:ext cx="1828800" cy="256032"/>
          </a:xfrm>
          <a:prstGeom prst="rect">
            <a:avLst/>
          </a:prstGeom>
          <a:noFill/>
          <a:ln/>
        </p:spPr>
        <p:txBody>
          <a:bodyPr wrap="square" lIns="0" tIns="0" rIns="0" bIns="0" rtlCol="0" anchor="ctr"/>
          <a:lstStyle/>
          <a:p>
            <a:pPr marL="0" indent="0">
              <a:buNone/>
            </a:pPr>
            <a:r>
              <a:rPr lang="en-US" sz="1200" b="1" dirty="0">
                <a:solidFill>
                  <a:srgbClr val="3E8E9E"/>
                </a:solidFill>
                <a:latin typeface="Calibri" pitchFamily="34" charset="0"/>
                <a:ea typeface="Calibri" pitchFamily="34" charset="-122"/>
                <a:cs typeface="Calibri" pitchFamily="34" charset="-120"/>
              </a:rPr>
              <a:t>Months 0-6</a:t>
            </a:r>
            <a:endParaRPr lang="en-US" sz="1200" dirty="0"/>
          </a:p>
        </p:txBody>
      </p:sp>
      <p:sp>
        <p:nvSpPr>
          <p:cNvPr id="17" name="Text 11"/>
          <p:cNvSpPr txBox="1"/>
          <p:nvPr/>
        </p:nvSpPr>
        <p:spPr>
          <a:xfrm>
            <a:off x="1143000" y="1609344"/>
            <a:ext cx="1920240" cy="274320"/>
          </a:xfrm>
          <a:prstGeom prst="rect">
            <a:avLst/>
          </a:prstGeom>
          <a:noFill/>
          <a:ln/>
        </p:spPr>
        <p:txBody>
          <a:bodyPr wrap="square" lIns="0" tIns="0" rIns="0" bIns="0" rtlCol="0" anchor="ctr"/>
          <a:lstStyle/>
          <a:p>
            <a:pPr marL="0" indent="0">
              <a:buNone/>
            </a:pPr>
            <a:r>
              <a:rPr lang="en-US" sz="1200" b="1" dirty="0">
                <a:solidFill>
                  <a:srgbClr val="1F4D3A"/>
                </a:solidFill>
                <a:latin typeface="Cambria" pitchFamily="34" charset="0"/>
                <a:ea typeface="Cambria" pitchFamily="34" charset="-122"/>
                <a:cs typeface="Cambria" pitchFamily="34" charset="-120"/>
              </a:rPr>
              <a:t>Data discovery</a:t>
            </a:r>
            <a:endParaRPr lang="en-US" sz="1200" dirty="0"/>
          </a:p>
        </p:txBody>
      </p:sp>
      <p:sp>
        <p:nvSpPr>
          <p:cNvPr id="18" name="Text 12"/>
          <p:cNvSpPr txBox="1"/>
          <p:nvPr/>
        </p:nvSpPr>
        <p:spPr>
          <a:xfrm>
            <a:off x="594360" y="2011680"/>
            <a:ext cx="2395728" cy="822960"/>
          </a:xfrm>
          <a:prstGeom prst="rect">
            <a:avLst/>
          </a:prstGeom>
          <a:noFill/>
          <a:ln/>
        </p:spPr>
        <p:txBody>
          <a:bodyPr wrap="square" lIns="0" tIns="0" rIns="0" bIns="0" rtlCol="0" anchor="t"/>
          <a:lstStyle/>
          <a:p>
            <a:pPr marL="0" indent="0">
              <a:buNone/>
            </a:pPr>
            <a:r>
              <a:rPr lang="en-US" sz="1100" dirty="0">
                <a:solidFill>
                  <a:srgbClr val="2B3A33"/>
                </a:solidFill>
                <a:latin typeface="Calibri" pitchFamily="34" charset="0"/>
                <a:ea typeface="Calibri" pitchFamily="34" charset="-122"/>
                <a:cs typeface="Calibri" pitchFamily="34" charset="-120"/>
              </a:rPr>
              <a:t>Map public, institutional, API, satellite and field data; define the target with experts</a:t>
            </a:r>
            <a:endParaRPr lang="en-US" sz="1100" dirty="0"/>
          </a:p>
        </p:txBody>
      </p:sp>
      <p:sp>
        <p:nvSpPr>
          <p:cNvPr id="19" name="Shape 13"/>
          <p:cNvSpPr/>
          <p:nvPr/>
        </p:nvSpPr>
        <p:spPr>
          <a:xfrm>
            <a:off x="3246120" y="1280160"/>
            <a:ext cx="2651760" cy="1600200"/>
          </a:xfrm>
          <a:prstGeom prst="roundRect">
            <a:avLst>
              <a:gd name="adj" fmla="val 8000"/>
            </a:avLst>
          </a:prstGeom>
          <a:solidFill>
            <a:srgbClr val="FBF0D5"/>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20" name="Shape 14"/>
          <p:cNvSpPr/>
          <p:nvPr/>
        </p:nvSpPr>
        <p:spPr>
          <a:xfrm>
            <a:off x="3383280" y="1389888"/>
            <a:ext cx="420624" cy="420624"/>
          </a:xfrm>
          <a:prstGeom prst="ellipse">
            <a:avLst/>
          </a:prstGeom>
          <a:solidFill>
            <a:srgbClr val="FFFFFF"/>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3488436" y="1495044"/>
            <a:ext cx="210312" cy="210312"/>
          </a:xfrm>
          <a:prstGeom prst="rect">
            <a:avLst/>
          </a:prstGeom>
        </p:spPr>
      </p:pic>
      <p:sp>
        <p:nvSpPr>
          <p:cNvPr id="22" name="Text 15"/>
          <p:cNvSpPr txBox="1"/>
          <p:nvPr/>
        </p:nvSpPr>
        <p:spPr>
          <a:xfrm>
            <a:off x="3931920" y="1371600"/>
            <a:ext cx="1828800" cy="256032"/>
          </a:xfrm>
          <a:prstGeom prst="rect">
            <a:avLst/>
          </a:prstGeom>
          <a:noFill/>
          <a:ln/>
        </p:spPr>
        <p:txBody>
          <a:bodyPr wrap="square" lIns="0" tIns="0" rIns="0" bIns="0" rtlCol="0" anchor="ctr"/>
          <a:lstStyle/>
          <a:p>
            <a:pPr marL="0" indent="0">
              <a:buNone/>
            </a:pPr>
            <a:r>
              <a:rPr lang="en-US" sz="1200" b="1" dirty="0">
                <a:solidFill>
                  <a:srgbClr val="D9962B"/>
                </a:solidFill>
                <a:latin typeface="Calibri" pitchFamily="34" charset="0"/>
                <a:ea typeface="Calibri" pitchFamily="34" charset="-122"/>
                <a:cs typeface="Calibri" pitchFamily="34" charset="-120"/>
              </a:rPr>
              <a:t>Months 6-12</a:t>
            </a:r>
            <a:endParaRPr lang="en-US" sz="1200" dirty="0"/>
          </a:p>
        </p:txBody>
      </p:sp>
      <p:sp>
        <p:nvSpPr>
          <p:cNvPr id="23" name="Text 16"/>
          <p:cNvSpPr txBox="1"/>
          <p:nvPr/>
        </p:nvSpPr>
        <p:spPr>
          <a:xfrm>
            <a:off x="3931920" y="1609344"/>
            <a:ext cx="1920240" cy="274320"/>
          </a:xfrm>
          <a:prstGeom prst="rect">
            <a:avLst/>
          </a:prstGeom>
          <a:noFill/>
          <a:ln/>
        </p:spPr>
        <p:txBody>
          <a:bodyPr wrap="square" lIns="0" tIns="0" rIns="0" bIns="0" rtlCol="0" anchor="ctr"/>
          <a:lstStyle/>
          <a:p>
            <a:pPr marL="0" indent="0">
              <a:buNone/>
            </a:pPr>
            <a:r>
              <a:rPr lang="en-US" sz="1200" b="1" dirty="0">
                <a:solidFill>
                  <a:srgbClr val="1F4D3A"/>
                </a:solidFill>
                <a:latin typeface="Cambria" pitchFamily="34" charset="0"/>
                <a:ea typeface="Cambria" pitchFamily="34" charset="-122"/>
                <a:cs typeface="Cambria" pitchFamily="34" charset="-120"/>
              </a:rPr>
              <a:t>Research and MVP target</a:t>
            </a:r>
            <a:endParaRPr lang="en-US" sz="1200" dirty="0"/>
          </a:p>
        </p:txBody>
      </p:sp>
      <p:sp>
        <p:nvSpPr>
          <p:cNvPr id="24" name="Text 17"/>
          <p:cNvSpPr txBox="1"/>
          <p:nvPr/>
        </p:nvSpPr>
        <p:spPr>
          <a:xfrm>
            <a:off x="3383280" y="2011680"/>
            <a:ext cx="2395728" cy="822960"/>
          </a:xfrm>
          <a:prstGeom prst="rect">
            <a:avLst/>
          </a:prstGeom>
          <a:noFill/>
          <a:ln/>
        </p:spPr>
        <p:txBody>
          <a:bodyPr wrap="square" lIns="0" tIns="0" rIns="0" bIns="0" rtlCol="0" anchor="t"/>
          <a:lstStyle/>
          <a:p>
            <a:pPr marL="0" indent="0">
              <a:buNone/>
            </a:pPr>
            <a:r>
              <a:rPr lang="en-US" sz="1100" dirty="0">
                <a:solidFill>
                  <a:srgbClr val="2B3A33"/>
                </a:solidFill>
                <a:latin typeface="Calibri" pitchFamily="34" charset="0"/>
                <a:ea typeface="Calibri" pitchFamily="34" charset="-122"/>
                <a:cs typeface="Calibri" pitchFamily="34" charset="-120"/>
              </a:rPr>
              <a:t>Validate data; compare baselines and methods; MVP near month 12 only if evidence supports it</a:t>
            </a:r>
            <a:endParaRPr lang="en-US" sz="1100" dirty="0"/>
          </a:p>
        </p:txBody>
      </p:sp>
      <p:sp>
        <p:nvSpPr>
          <p:cNvPr id="25" name="Shape 18"/>
          <p:cNvSpPr/>
          <p:nvPr/>
        </p:nvSpPr>
        <p:spPr>
          <a:xfrm>
            <a:off x="6035040" y="1280160"/>
            <a:ext cx="2651760" cy="1600200"/>
          </a:xfrm>
          <a:prstGeom prst="roundRect">
            <a:avLst>
              <a:gd name="adj" fmla="val 8000"/>
            </a:avLst>
          </a:prstGeom>
          <a:solidFill>
            <a:srgbClr val="E4F1E4"/>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26" name="Shape 19"/>
          <p:cNvSpPr/>
          <p:nvPr/>
        </p:nvSpPr>
        <p:spPr>
          <a:xfrm>
            <a:off x="6172200" y="1389888"/>
            <a:ext cx="420624" cy="420624"/>
          </a:xfrm>
          <a:prstGeom prst="ellipse">
            <a:avLst/>
          </a:prstGeom>
          <a:solidFill>
            <a:srgbClr val="FFFFFF"/>
          </a:solidFill>
          <a:ln/>
        </p:spPr>
        <p:txBody>
          <a:bodyPr/>
          <a:lstStyle/>
          <a:p>
            <a:endParaRPr lang="en-US"/>
          </a:p>
        </p:txBody>
      </p:sp>
      <p:pic>
        <p:nvPicPr>
          <p:cNvPr id="27" name="Image 4" descr="preencoded.png"/>
          <p:cNvPicPr>
            <a:picLocks noChangeAspect="1"/>
          </p:cNvPicPr>
          <p:nvPr/>
        </p:nvPicPr>
        <p:blipFill>
          <a:blip r:embed="rId7"/>
          <a:stretch>
            <a:fillRect/>
          </a:stretch>
        </p:blipFill>
        <p:spPr>
          <a:xfrm>
            <a:off x="6277356" y="1495044"/>
            <a:ext cx="210312" cy="210312"/>
          </a:xfrm>
          <a:prstGeom prst="rect">
            <a:avLst/>
          </a:prstGeom>
        </p:spPr>
      </p:pic>
      <p:sp>
        <p:nvSpPr>
          <p:cNvPr id="28" name="Text 20"/>
          <p:cNvSpPr txBox="1"/>
          <p:nvPr/>
        </p:nvSpPr>
        <p:spPr>
          <a:xfrm>
            <a:off x="6720840" y="1371600"/>
            <a:ext cx="1828800" cy="256032"/>
          </a:xfrm>
          <a:prstGeom prst="rect">
            <a:avLst/>
          </a:prstGeom>
          <a:noFill/>
          <a:ln/>
        </p:spPr>
        <p:txBody>
          <a:bodyPr wrap="square" lIns="0" tIns="0" rIns="0" bIns="0" rtlCol="0" anchor="ctr"/>
          <a:lstStyle/>
          <a:p>
            <a:pPr marL="0" indent="0">
              <a:buNone/>
            </a:pPr>
            <a:r>
              <a:rPr lang="en-US" sz="1200" b="1" dirty="0">
                <a:solidFill>
                  <a:srgbClr val="1F4D3A"/>
                </a:solidFill>
                <a:latin typeface="Calibri" pitchFamily="34" charset="0"/>
                <a:ea typeface="Calibri" pitchFamily="34" charset="-122"/>
                <a:cs typeface="Calibri" pitchFamily="34" charset="-120"/>
              </a:rPr>
              <a:t>Years 2-3</a:t>
            </a:r>
            <a:endParaRPr lang="en-US" sz="1200" dirty="0"/>
          </a:p>
        </p:txBody>
      </p:sp>
      <p:sp>
        <p:nvSpPr>
          <p:cNvPr id="29" name="Text 21"/>
          <p:cNvSpPr txBox="1"/>
          <p:nvPr/>
        </p:nvSpPr>
        <p:spPr>
          <a:xfrm>
            <a:off x="6720840" y="1609344"/>
            <a:ext cx="1920240" cy="274320"/>
          </a:xfrm>
          <a:prstGeom prst="rect">
            <a:avLst/>
          </a:prstGeom>
          <a:noFill/>
          <a:ln/>
        </p:spPr>
        <p:txBody>
          <a:bodyPr wrap="square" lIns="0" tIns="0" rIns="0" bIns="0" rtlCol="0" anchor="ctr"/>
          <a:lstStyle/>
          <a:p>
            <a:pPr marL="0" indent="0">
              <a:buNone/>
            </a:pPr>
            <a:r>
              <a:rPr lang="en-US" sz="1200" b="1" dirty="0">
                <a:solidFill>
                  <a:srgbClr val="1F4D3A"/>
                </a:solidFill>
                <a:latin typeface="Cambria" pitchFamily="34" charset="0"/>
                <a:ea typeface="Cambria" pitchFamily="34" charset="-122"/>
                <a:cs typeface="Cambria" pitchFamily="34" charset="-120"/>
              </a:rPr>
              <a:t>Pilot, improve, expand</a:t>
            </a:r>
            <a:endParaRPr lang="en-US" sz="1200" dirty="0"/>
          </a:p>
        </p:txBody>
      </p:sp>
      <p:sp>
        <p:nvSpPr>
          <p:cNvPr id="30" name="Text 22"/>
          <p:cNvSpPr txBox="1"/>
          <p:nvPr/>
        </p:nvSpPr>
        <p:spPr>
          <a:xfrm>
            <a:off x="6172200" y="2011680"/>
            <a:ext cx="2395728" cy="822960"/>
          </a:xfrm>
          <a:prstGeom prst="rect">
            <a:avLst/>
          </a:prstGeom>
          <a:noFill/>
          <a:ln/>
        </p:spPr>
        <p:txBody>
          <a:bodyPr wrap="square" lIns="0" tIns="0" rIns="0" bIns="0" rtlCol="0" anchor="t"/>
          <a:lstStyle/>
          <a:p>
            <a:pPr marL="0" indent="0">
              <a:buNone/>
            </a:pPr>
            <a:r>
              <a:rPr lang="en-US" sz="1100" dirty="0">
                <a:solidFill>
                  <a:srgbClr val="2B3A33"/>
                </a:solidFill>
                <a:latin typeface="Calibri" pitchFamily="34" charset="0"/>
                <a:ea typeface="Calibri" pitchFamily="34" charset="-122"/>
                <a:cs typeface="Calibri" pitchFamily="34" charset="-120"/>
              </a:rPr>
              <a:t>One new risk at a time, only after the previous one is validated</a:t>
            </a:r>
            <a:endParaRPr lang="en-US" sz="1100" dirty="0"/>
          </a:p>
        </p:txBody>
      </p:sp>
      <p:sp>
        <p:nvSpPr>
          <p:cNvPr id="31" name="Shape 23"/>
          <p:cNvSpPr/>
          <p:nvPr/>
        </p:nvSpPr>
        <p:spPr>
          <a:xfrm>
            <a:off x="457200" y="3017520"/>
            <a:ext cx="4023360" cy="1600200"/>
          </a:xfrm>
          <a:prstGeom prst="roundRect">
            <a:avLst>
              <a:gd name="adj" fmla="val 8000"/>
            </a:avLst>
          </a:prstGeom>
          <a:solidFill>
            <a:srgbClr val="FFFFFF"/>
          </a:solidFill>
          <a:ln w="9525">
            <a:solidFill>
              <a:srgbClr val="DCE9DC"/>
            </a:solidFill>
            <a:prstDash val="solid"/>
          </a:ln>
          <a:effectLst>
            <a:outerShdw blurRad="101600" dist="25400" dir="5400000" algn="bl" rotWithShape="0">
              <a:srgbClr val="2F5D46">
                <a:alpha val="14000"/>
              </a:srgbClr>
            </a:outerShdw>
          </a:effectLst>
        </p:spPr>
        <p:txBody>
          <a:bodyPr/>
          <a:lstStyle/>
          <a:p>
            <a:endParaRPr lang="en-US"/>
          </a:p>
        </p:txBody>
      </p:sp>
      <p:sp>
        <p:nvSpPr>
          <p:cNvPr id="32" name="Shape 24"/>
          <p:cNvSpPr/>
          <p:nvPr/>
        </p:nvSpPr>
        <p:spPr>
          <a:xfrm>
            <a:off x="621792" y="3154680"/>
            <a:ext cx="384048" cy="384048"/>
          </a:xfrm>
          <a:prstGeom prst="ellipse">
            <a:avLst/>
          </a:prstGeom>
          <a:solidFill>
            <a:srgbClr val="E4F1E4"/>
          </a:solidFill>
          <a:ln/>
        </p:spPr>
        <p:txBody>
          <a:bodyPr/>
          <a:lstStyle/>
          <a:p>
            <a:endParaRPr lang="en-US"/>
          </a:p>
        </p:txBody>
      </p:sp>
      <p:pic>
        <p:nvPicPr>
          <p:cNvPr id="33" name="Image 5" descr="preencoded.png"/>
          <p:cNvPicPr>
            <a:picLocks noChangeAspect="1"/>
          </p:cNvPicPr>
          <p:nvPr/>
        </p:nvPicPr>
        <p:blipFill>
          <a:blip r:embed="rId8"/>
          <a:stretch>
            <a:fillRect/>
          </a:stretch>
        </p:blipFill>
        <p:spPr>
          <a:xfrm>
            <a:off x="717804" y="3250692"/>
            <a:ext cx="192024" cy="192024"/>
          </a:xfrm>
          <a:prstGeom prst="rect">
            <a:avLst/>
          </a:prstGeom>
        </p:spPr>
      </p:pic>
      <p:sp>
        <p:nvSpPr>
          <p:cNvPr id="34" name="Text 25"/>
          <p:cNvSpPr txBox="1"/>
          <p:nvPr/>
        </p:nvSpPr>
        <p:spPr>
          <a:xfrm>
            <a:off x="1143000" y="3154680"/>
            <a:ext cx="3108960" cy="384048"/>
          </a:xfrm>
          <a:prstGeom prst="rect">
            <a:avLst/>
          </a:prstGeom>
          <a:noFill/>
          <a:ln/>
        </p:spPr>
        <p:txBody>
          <a:bodyPr wrap="square" lIns="0" tIns="0" rIns="0" bIns="0" rtlCol="0" anchor="ctr"/>
          <a:lstStyle/>
          <a:p>
            <a:pPr marL="0" indent="0">
              <a:buNone/>
            </a:pPr>
            <a:r>
              <a:rPr lang="en-US" sz="1300" b="1" dirty="0">
                <a:solidFill>
                  <a:srgbClr val="1F4D3A"/>
                </a:solidFill>
                <a:latin typeface="Calibri" pitchFamily="34" charset="0"/>
                <a:ea typeface="Calibri" pitchFamily="34" charset="-122"/>
                <a:cs typeface="Calibri" pitchFamily="34" charset="-120"/>
              </a:rPr>
              <a:t>What is different</a:t>
            </a:r>
            <a:endParaRPr lang="en-US" sz="1300" dirty="0"/>
          </a:p>
        </p:txBody>
      </p:sp>
      <p:sp>
        <p:nvSpPr>
          <p:cNvPr id="35" name="Text 26"/>
          <p:cNvSpPr txBox="1"/>
          <p:nvPr/>
        </p:nvSpPr>
        <p:spPr>
          <a:xfrm>
            <a:off x="621792" y="3584448"/>
            <a:ext cx="3703320" cy="987552"/>
          </a:xfrm>
          <a:prstGeom prst="rect">
            <a:avLst/>
          </a:prstGeom>
          <a:noFill/>
          <a:ln/>
        </p:spPr>
        <p:txBody>
          <a:bodyPr wrap="square" lIns="0" tIns="0" rIns="0" bIns="0" rtlCol="0" anchor="t"/>
          <a:lstStyle/>
          <a:p>
            <a:pPr marL="0" indent="0">
              <a:buNone/>
            </a:pPr>
            <a:r>
              <a:rPr lang="en-US" sz="1100" dirty="0">
                <a:solidFill>
                  <a:srgbClr val="2B3A33"/>
                </a:solidFill>
                <a:latin typeface="Calibri" pitchFamily="34" charset="0"/>
                <a:ea typeface="Calibri" pitchFamily="34" charset="-122"/>
                <a:cs typeface="Calibri" pitchFamily="34" charset="-120"/>
              </a:rPr>
              <a:t>Bangladesh has advisories, crop zoning and regional salinity forecasts. We build on them. Our difference is the farm-level workflow from data to validated advice in Bengali, to be confirmed by benchmarking and field tests.</a:t>
            </a:r>
            <a:endParaRPr lang="en-US" sz="1100" dirty="0"/>
          </a:p>
        </p:txBody>
      </p:sp>
      <p:sp>
        <p:nvSpPr>
          <p:cNvPr id="36" name="Shape 27"/>
          <p:cNvSpPr/>
          <p:nvPr/>
        </p:nvSpPr>
        <p:spPr>
          <a:xfrm>
            <a:off x="4663440" y="3017520"/>
            <a:ext cx="4023360" cy="1600200"/>
          </a:xfrm>
          <a:prstGeom prst="roundRect">
            <a:avLst>
              <a:gd name="adj" fmla="val 9143"/>
            </a:avLst>
          </a:prstGeom>
          <a:solidFill>
            <a:srgbClr val="1F4D3A"/>
          </a:solidFill>
          <a:ln/>
          <a:effectLst>
            <a:outerShdw blurRad="101600" dist="25400" dir="5400000" algn="bl" rotWithShape="0">
              <a:srgbClr val="2F5D46">
                <a:alpha val="14000"/>
              </a:srgbClr>
            </a:outerShdw>
          </a:effectLst>
        </p:spPr>
        <p:txBody>
          <a:bodyPr/>
          <a:lstStyle/>
          <a:p>
            <a:endParaRPr lang="en-US"/>
          </a:p>
        </p:txBody>
      </p:sp>
      <p:sp>
        <p:nvSpPr>
          <p:cNvPr id="37" name="Shape 28"/>
          <p:cNvSpPr/>
          <p:nvPr/>
        </p:nvSpPr>
        <p:spPr>
          <a:xfrm>
            <a:off x="4828032" y="3154680"/>
            <a:ext cx="384048" cy="384048"/>
          </a:xfrm>
          <a:prstGeom prst="ellipse">
            <a:avLst/>
          </a:prstGeom>
          <a:solidFill>
            <a:srgbClr val="F2B84B"/>
          </a:solidFill>
          <a:ln/>
        </p:spPr>
        <p:txBody>
          <a:bodyPr/>
          <a:lstStyle/>
          <a:p>
            <a:endParaRPr lang="en-US"/>
          </a:p>
        </p:txBody>
      </p:sp>
      <p:pic>
        <p:nvPicPr>
          <p:cNvPr id="38" name="Image 6" descr="preencoded.png"/>
          <p:cNvPicPr>
            <a:picLocks noChangeAspect="1"/>
          </p:cNvPicPr>
          <p:nvPr/>
        </p:nvPicPr>
        <p:blipFill>
          <a:blip r:embed="rId9"/>
          <a:stretch>
            <a:fillRect/>
          </a:stretch>
        </p:blipFill>
        <p:spPr>
          <a:xfrm>
            <a:off x="4924044" y="3250692"/>
            <a:ext cx="192024" cy="192024"/>
          </a:xfrm>
          <a:prstGeom prst="rect">
            <a:avLst/>
          </a:prstGeom>
        </p:spPr>
      </p:pic>
      <p:sp>
        <p:nvSpPr>
          <p:cNvPr id="39" name="Text 29"/>
          <p:cNvSpPr txBox="1"/>
          <p:nvPr/>
        </p:nvSpPr>
        <p:spPr>
          <a:xfrm>
            <a:off x="5349240" y="3154680"/>
            <a:ext cx="3108960" cy="384048"/>
          </a:xfrm>
          <a:prstGeom prst="rect">
            <a:avLst/>
          </a:prstGeom>
          <a:noFill/>
          <a:ln/>
        </p:spPr>
        <p:txBody>
          <a:bodyPr wrap="square" lIns="0" tIns="0" rIns="0" bIns="0" rtlCol="0" anchor="ctr"/>
          <a:lstStyle/>
          <a:p>
            <a:pPr marL="0" indent="0">
              <a:buNone/>
            </a:pPr>
            <a:r>
              <a:rPr lang="en-US" sz="1300" b="1" dirty="0">
                <a:solidFill>
                  <a:srgbClr val="F2B84B"/>
                </a:solidFill>
                <a:latin typeface="Calibri" pitchFamily="34" charset="0"/>
                <a:ea typeface="Calibri" pitchFamily="34" charset="-122"/>
                <a:cs typeface="Calibri" pitchFamily="34" charset="-120"/>
              </a:rPr>
              <a:t>We need</a:t>
            </a:r>
            <a:endParaRPr lang="en-US" sz="1300" dirty="0"/>
          </a:p>
        </p:txBody>
      </p:sp>
      <p:sp>
        <p:nvSpPr>
          <p:cNvPr id="40" name="Text 30"/>
          <p:cNvSpPr txBox="1"/>
          <p:nvPr/>
        </p:nvSpPr>
        <p:spPr>
          <a:xfrm>
            <a:off x="4828032" y="3584448"/>
            <a:ext cx="3703320" cy="987552"/>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Reliable data access, repeated farm measurements, agricultural experts, farmer and field partners, pilot support and funding.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1722</Words>
  <Application>Microsoft Office PowerPoint</Application>
  <PresentationFormat>On-screen Show (16:9)</PresentationFormat>
  <Paragraphs>141</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Krishan AI - Judges Presentation</dc:title>
  <dc:subject>PptxGenJS Presentation</dc:subject>
  <dc:creator>PptxGenJS</dc:creator>
  <cp:lastModifiedBy>Irfan</cp:lastModifiedBy>
  <cp:revision>2</cp:revision>
  <dcterms:created xsi:type="dcterms:W3CDTF">2026-09-28T20:07:32Z</dcterms:created>
  <dcterms:modified xsi:type="dcterms:W3CDTF">2026-09-29T12:27:25Z</dcterms:modified>
</cp:coreProperties>
</file>