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8" d="100"/>
          <a:sy n="48" d="100"/>
        </p:scale>
        <p:origin x="34" y="9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3246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judges. We're Irfan and Noor, and this is Krishan AI: climate intelligence, one farm at a time. It's a proposed platform at concept stage, and we'll be clear about what is not yet proven.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Farmers in Bangladesh face different risks: salinity on the coast, flooding in low-lying areas, drought elsewhere. Forecasts exist and help, but a regional forecast can't tell a farmer what it means for their own field and crop.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Krishan AI would combine environmental data with the context of one farm, estimate risk where prediction is reliable, and turn it into guidance a farmer can act on. It's broader than salinity. The question is simple: what should I do next?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sources are proposed, and access is still to be confirmed. AI would find patterns, estimate risk, and support decisions. Each risk may need its own model, and we'd keep one only if it beats a simple baseline.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data is stale or missing, Krishan AI won't guess. It says insufficient data, asks for a new reading, or refers the case for expert review, a safeguard we propose, not one we've established. It supports local expertise; it never replaces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hope for more informed decisions, better preparedness and fewer avoidable losses, but these are hypotheses to test. We'd measure performance against a baseline, false alarms, and farmer usefulness, and benchmark against existing services.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is staged. In the first six months we listen to farmers, inventory data, and choose one feasible use case. Next we test in different areas of the selected region. In years one and two we run a controlled pilot and, if results hold, cover all areas of that region. Only in years two to three would we expand to new regions and begin separate research on chemical adulteration. Every stage can proceed, narrow, or pause.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more data, but a clearer next step. Our aim is farm-level climate intelligence, built on evidence and honest about uncertainty.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3.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png"/><Relationship Id="rId4" Type="http://schemas.openxmlformats.org/officeDocument/2006/relationships/image" Target="../media/image11.pn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528"/>
        </a:solidFill>
        <a:effectLst/>
      </p:bgPr>
    </p:bg>
    <p:spTree>
      <p:nvGrpSpPr>
        <p:cNvPr id="1" name=""/>
        <p:cNvGrpSpPr/>
        <p:nvPr/>
      </p:nvGrpSpPr>
      <p:grpSpPr>
        <a:xfrm>
          <a:off x="0" y="0"/>
          <a:ext cx="0" cy="0"/>
          <a:chOff x="0" y="0"/>
          <a:chExt cx="0" cy="0"/>
        </a:xfrm>
      </p:grpSpPr>
      <p:pic>
        <p:nvPicPr>
          <p:cNvPr id="2" name="Image 0" descr="hero_dusk.png"/>
          <p:cNvPicPr>
            <a:picLocks noChangeAspect="1"/>
          </p:cNvPicPr>
          <p:nvPr/>
        </p:nvPicPr>
        <p:blipFill>
          <a:blip r:embed="rId3"/>
          <a:stretch>
            <a:fillRect/>
          </a:stretch>
        </p:blipFill>
        <p:spPr>
          <a:xfrm>
            <a:off x="7079681" y="0"/>
            <a:ext cx="5120640" cy="6858000"/>
          </a:xfrm>
          <a:prstGeom prst="rect">
            <a:avLst/>
          </a:prstGeom>
        </p:spPr>
      </p:pic>
      <p:sp>
        <p:nvSpPr>
          <p:cNvPr id="3" name="Shape 0"/>
          <p:cNvSpPr/>
          <p:nvPr/>
        </p:nvSpPr>
        <p:spPr>
          <a:xfrm>
            <a:off x="640080" y="594360"/>
            <a:ext cx="566928" cy="566928"/>
          </a:xfrm>
          <a:prstGeom prst="ellipse">
            <a:avLst/>
          </a:prstGeom>
          <a:solidFill>
            <a:srgbClr val="245C43"/>
          </a:solidFill>
          <a:ln w="12700">
            <a:solidFill>
              <a:srgbClr val="245C43"/>
            </a:solidFill>
            <a:prstDash val="solid"/>
          </a:ln>
        </p:spPr>
        <p:txBody>
          <a:bodyPr/>
          <a:lstStyle/>
          <a:p>
            <a:endParaRPr lang="en-US"/>
          </a:p>
        </p:txBody>
      </p:sp>
      <p:pic>
        <p:nvPicPr>
          <p:cNvPr id="4" name="Image 1" descr="preencoded.png"/>
          <p:cNvPicPr>
            <a:picLocks noChangeAspect="1"/>
          </p:cNvPicPr>
          <p:nvPr/>
        </p:nvPicPr>
        <p:blipFill>
          <a:blip r:embed="rId4"/>
          <a:stretch>
            <a:fillRect/>
          </a:stretch>
        </p:blipFill>
        <p:spPr>
          <a:xfrm>
            <a:off x="781812" y="736092"/>
            <a:ext cx="283464" cy="283464"/>
          </a:xfrm>
          <a:prstGeom prst="rect">
            <a:avLst/>
          </a:prstGeom>
        </p:spPr>
      </p:pic>
      <p:sp>
        <p:nvSpPr>
          <p:cNvPr id="5" name="Text 1"/>
          <p:cNvSpPr txBox="1"/>
          <p:nvPr/>
        </p:nvSpPr>
        <p:spPr>
          <a:xfrm>
            <a:off x="1371600" y="731520"/>
            <a:ext cx="5486400" cy="320040"/>
          </a:xfrm>
          <a:prstGeom prst="rect">
            <a:avLst/>
          </a:prstGeom>
          <a:noFill/>
          <a:ln/>
        </p:spPr>
        <p:txBody>
          <a:bodyPr wrap="square" lIns="0" tIns="0" rIns="0" bIns="0" rtlCol="0" anchor="ctr"/>
          <a:lstStyle/>
          <a:p>
            <a:pPr marL="0" indent="0">
              <a:buNone/>
            </a:pPr>
            <a:r>
              <a:rPr lang="en-US" sz="1300" b="1" kern="0" spc="200" dirty="0">
                <a:solidFill>
                  <a:srgbClr val="C9E265"/>
                </a:solidFill>
                <a:latin typeface="Calibri" pitchFamily="34" charset="0"/>
                <a:ea typeface="Calibri" pitchFamily="34" charset="-122"/>
                <a:cs typeface="Calibri" pitchFamily="34" charset="-120"/>
              </a:rPr>
              <a:t>GRAMEENPHONE FUTURE MAKERS  ·  AI FOR SOCIAL GOOD</a:t>
            </a:r>
            <a:endParaRPr lang="en-US" sz="1300" dirty="0"/>
          </a:p>
        </p:txBody>
      </p:sp>
      <p:sp>
        <p:nvSpPr>
          <p:cNvPr id="6" name="Text 2"/>
          <p:cNvSpPr txBox="1"/>
          <p:nvPr/>
        </p:nvSpPr>
        <p:spPr>
          <a:xfrm>
            <a:off x="640080" y="1737360"/>
            <a:ext cx="6400800" cy="1188720"/>
          </a:xfrm>
          <a:prstGeom prst="rect">
            <a:avLst/>
          </a:prstGeom>
          <a:noFill/>
          <a:ln/>
        </p:spPr>
        <p:txBody>
          <a:bodyPr wrap="square" lIns="0" tIns="0" rIns="0" bIns="0" rtlCol="0" anchor="t"/>
          <a:lstStyle/>
          <a:p>
            <a:pPr marL="0" indent="0">
              <a:buNone/>
            </a:pPr>
            <a:r>
              <a:rPr lang="en-US" sz="6800" b="1" dirty="0">
                <a:solidFill>
                  <a:srgbClr val="FFFFFF"/>
                </a:solidFill>
                <a:latin typeface="Cambria" pitchFamily="34" charset="0"/>
                <a:ea typeface="Cambria" pitchFamily="34" charset="-122"/>
                <a:cs typeface="Cambria" pitchFamily="34" charset="-120"/>
              </a:rPr>
              <a:t>Krishan AI</a:t>
            </a:r>
            <a:endParaRPr lang="en-US" sz="6800" dirty="0"/>
          </a:p>
        </p:txBody>
      </p:sp>
      <p:sp>
        <p:nvSpPr>
          <p:cNvPr id="7" name="Text 3"/>
          <p:cNvSpPr txBox="1"/>
          <p:nvPr/>
        </p:nvSpPr>
        <p:spPr>
          <a:xfrm>
            <a:off x="640080" y="2971800"/>
            <a:ext cx="6400800" cy="822960"/>
          </a:xfrm>
          <a:prstGeom prst="rect">
            <a:avLst/>
          </a:prstGeom>
          <a:noFill/>
          <a:ln/>
        </p:spPr>
        <p:txBody>
          <a:bodyPr wrap="square" lIns="0" tIns="0" rIns="0" bIns="0" rtlCol="0" anchor="t"/>
          <a:lstStyle/>
          <a:p>
            <a:pPr marL="0" indent="0">
              <a:buNone/>
            </a:pPr>
            <a:r>
              <a:rPr lang="en-US" sz="3000" i="1" dirty="0">
                <a:solidFill>
                  <a:srgbClr val="C9E265"/>
                </a:solidFill>
                <a:latin typeface="Cambria" pitchFamily="34" charset="0"/>
                <a:ea typeface="Cambria" pitchFamily="34" charset="-122"/>
                <a:cs typeface="Cambria" pitchFamily="34" charset="-120"/>
              </a:rPr>
              <a:t>A Climate Risk Engine, for Bangladesh.</a:t>
            </a:r>
            <a:endParaRPr lang="en-US" sz="3000" dirty="0"/>
          </a:p>
        </p:txBody>
      </p:sp>
      <p:sp>
        <p:nvSpPr>
          <p:cNvPr id="8" name="Text 4"/>
          <p:cNvSpPr txBox="1"/>
          <p:nvPr/>
        </p:nvSpPr>
        <p:spPr>
          <a:xfrm>
            <a:off x="650432" y="3794760"/>
            <a:ext cx="6035040" cy="914400"/>
          </a:xfrm>
          <a:prstGeom prst="rect">
            <a:avLst/>
          </a:prstGeom>
          <a:noFill/>
          <a:ln/>
        </p:spPr>
        <p:txBody>
          <a:bodyPr wrap="square" lIns="0" tIns="0" rIns="0" bIns="0" rtlCol="0" anchor="t"/>
          <a:lstStyle/>
          <a:p>
            <a:pPr marL="0" indent="0">
              <a:buNone/>
            </a:pPr>
            <a:r>
              <a:rPr lang="en-US" sz="1800" dirty="0">
                <a:solidFill>
                  <a:srgbClr val="E3EFE4"/>
                </a:solidFill>
                <a:latin typeface="Calibri" pitchFamily="34" charset="0"/>
                <a:ea typeface="Calibri" pitchFamily="34" charset="-122"/>
                <a:cs typeface="Calibri" pitchFamily="34" charset="-120"/>
              </a:rPr>
              <a:t>A farm-level climate-risk engine for Bangladesh, turning scattered environmental data into practical farming guidance.</a:t>
            </a:r>
            <a:endParaRPr lang="en-US" sz="1800" dirty="0"/>
          </a:p>
        </p:txBody>
      </p:sp>
      <p:sp>
        <p:nvSpPr>
          <p:cNvPr id="9" name="Text 5"/>
          <p:cNvSpPr txBox="1"/>
          <p:nvPr/>
        </p:nvSpPr>
        <p:spPr>
          <a:xfrm>
            <a:off x="640080" y="5166360"/>
            <a:ext cx="6035040" cy="685800"/>
          </a:xfrm>
          <a:prstGeom prst="rect">
            <a:avLst/>
          </a:prstGeom>
          <a:noFill/>
          <a:ln/>
        </p:spPr>
        <p:txBody>
          <a:bodyPr wrap="square" lIns="0" tIns="0" rIns="0" bIns="0" rtlCol="0" anchor="t"/>
          <a:lstStyle/>
          <a:p>
            <a:pPr>
              <a:spcAft>
                <a:spcPts val="400"/>
              </a:spcAft>
            </a:pPr>
            <a:r>
              <a:rPr lang="en-US" sz="1500" b="1" dirty="0">
                <a:solidFill>
                  <a:srgbClr val="FFFFFF"/>
                </a:solidFill>
                <a:latin typeface="Calibri" pitchFamily="34" charset="0"/>
                <a:ea typeface="Calibri" pitchFamily="34" charset="-122"/>
                <a:cs typeface="Calibri" pitchFamily="34" charset="-120"/>
              </a:rPr>
              <a:t>Team OPROTIM</a:t>
            </a:r>
          </a:p>
          <a:p>
            <a:pPr marL="0" indent="0">
              <a:spcAft>
                <a:spcPts val="400"/>
              </a:spcAft>
              <a:buNone/>
            </a:pPr>
            <a:r>
              <a:rPr lang="en-US" sz="1500" b="1" dirty="0">
                <a:solidFill>
                  <a:srgbClr val="FFFFFF"/>
                </a:solidFill>
                <a:latin typeface="Calibri" pitchFamily="34" charset="0"/>
                <a:ea typeface="Calibri" pitchFamily="34" charset="-122"/>
                <a:cs typeface="Calibri" pitchFamily="34" charset="-120"/>
              </a:rPr>
              <a:t>Irfan Sadik</a:t>
            </a:r>
            <a:r>
              <a:rPr lang="en-US" sz="1500" dirty="0">
                <a:solidFill>
                  <a:srgbClr val="E3EFE4"/>
                </a:solidFill>
                <a:latin typeface="Calibri" pitchFamily="34" charset="0"/>
                <a:ea typeface="Calibri" pitchFamily="34" charset="-122"/>
                <a:cs typeface="Calibri" pitchFamily="34" charset="-120"/>
              </a:rPr>
              <a:t>  Team Leader &amp; AI/ML Engineer</a:t>
            </a:r>
            <a:endParaRPr lang="en-US" sz="1500" dirty="0"/>
          </a:p>
          <a:p>
            <a:pPr marL="0" indent="0">
              <a:spcAft>
                <a:spcPts val="400"/>
              </a:spcAft>
              <a:buNone/>
            </a:pPr>
            <a:r>
              <a:rPr lang="en-US" sz="1500" b="1" dirty="0">
                <a:solidFill>
                  <a:srgbClr val="FFFFFF"/>
                </a:solidFill>
                <a:latin typeface="Calibri" pitchFamily="34" charset="0"/>
                <a:ea typeface="Calibri" pitchFamily="34" charset="-122"/>
                <a:cs typeface="Calibri" pitchFamily="34" charset="-120"/>
              </a:rPr>
              <a:t>Noor E Jannat Mawa</a:t>
            </a:r>
            <a:r>
              <a:rPr lang="en-US" sz="1500" dirty="0">
                <a:solidFill>
                  <a:srgbClr val="E3EFE4"/>
                </a:solidFill>
                <a:latin typeface="Calibri" pitchFamily="34" charset="0"/>
                <a:ea typeface="Calibri" pitchFamily="34" charset="-122"/>
                <a:cs typeface="Calibri" pitchFamily="34" charset="-120"/>
              </a:rPr>
              <a:t>  Business Lead</a:t>
            </a:r>
            <a:endParaRPr lang="en-US" sz="1500" dirty="0"/>
          </a:p>
        </p:txBody>
      </p:sp>
      <p:sp>
        <p:nvSpPr>
          <p:cNvPr id="10" name="Text 6"/>
          <p:cNvSpPr txBox="1"/>
          <p:nvPr/>
        </p:nvSpPr>
        <p:spPr>
          <a:xfrm>
            <a:off x="640080" y="6172200"/>
            <a:ext cx="6035040" cy="274320"/>
          </a:xfrm>
          <a:prstGeom prst="rect">
            <a:avLst/>
          </a:prstGeom>
          <a:noFill/>
          <a:ln/>
        </p:spPr>
        <p:txBody>
          <a:bodyPr wrap="square" lIns="0" tIns="0" rIns="0" bIns="0" rtlCol="0" anchor="t"/>
          <a:lstStyle/>
          <a:p>
            <a:pPr marL="0" indent="0">
              <a:buNone/>
            </a:pPr>
            <a:r>
              <a:rPr lang="en-US" sz="1200" i="1" dirty="0">
                <a:solidFill>
                  <a:srgbClr val="5FA777"/>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marL="0" indent="0">
              <a:buNone/>
            </a:pPr>
            <a:r>
              <a:rPr lang="en-US" sz="1300" b="1" kern="0" spc="300" dirty="0">
                <a:solidFill>
                  <a:srgbClr val="2E8B87"/>
                </a:solidFill>
                <a:latin typeface="Calibri" pitchFamily="34" charset="0"/>
                <a:ea typeface="Calibri" pitchFamily="34" charset="-122"/>
                <a:cs typeface="Calibri" pitchFamily="34" charset="-120"/>
              </a:rPr>
              <a:t>01  ·  THE PROBLEM</a:t>
            </a:r>
            <a:endParaRPr lang="en-US" sz="1300" dirty="0"/>
          </a:p>
        </p:txBody>
      </p:sp>
      <p:sp>
        <p:nvSpPr>
          <p:cNvPr id="3" name="Text 1"/>
          <p:cNvSpPr txBox="1"/>
          <p:nvPr/>
        </p:nvSpPr>
        <p:spPr>
          <a:xfrm>
            <a:off x="548640" y="777240"/>
            <a:ext cx="11064240" cy="731520"/>
          </a:xfrm>
          <a:prstGeom prst="rect">
            <a:avLst/>
          </a:prstGeom>
          <a:noFill/>
          <a:ln/>
        </p:spPr>
        <p:txBody>
          <a:bodyPr wrap="square" lIns="0" tIns="0" rIns="0" bIns="0" rtlCol="0" anchor="ctr"/>
          <a:lstStyle/>
          <a:p>
            <a:pPr marL="0" indent="0">
              <a:buNone/>
            </a:pPr>
            <a:r>
              <a:rPr lang="en-US" sz="3600" b="1" dirty="0">
                <a:solidFill>
                  <a:srgbClr val="143528"/>
                </a:solidFill>
                <a:latin typeface="Cambria" pitchFamily="34" charset="0"/>
                <a:ea typeface="Cambria" pitchFamily="34" charset="-122"/>
                <a:cs typeface="Cambria" pitchFamily="34" charset="-120"/>
              </a:rPr>
              <a:t>Every farm faces its own climate risk</a:t>
            </a:r>
            <a:endParaRPr lang="en-US" sz="3600" dirty="0"/>
          </a:p>
        </p:txBody>
      </p:sp>
      <p:sp>
        <p:nvSpPr>
          <p:cNvPr id="4" name="Text 2"/>
          <p:cNvSpPr txBox="1"/>
          <p:nvPr/>
        </p:nvSpPr>
        <p:spPr>
          <a:xfrm>
            <a:off x="548640" y="1481328"/>
            <a:ext cx="11064240" cy="365760"/>
          </a:xfrm>
          <a:prstGeom prst="rect">
            <a:avLst/>
          </a:prstGeom>
          <a:noFill/>
          <a:ln/>
        </p:spPr>
        <p:txBody>
          <a:bodyPr wrap="square" lIns="0" tIns="0" rIns="0" bIns="0" rtlCol="0" anchor="t"/>
          <a:lstStyle/>
          <a:p>
            <a:pPr marL="0" indent="0">
              <a:buNone/>
            </a:pPr>
            <a:r>
              <a:rPr lang="en-US" sz="1700" dirty="0">
                <a:solidFill>
                  <a:srgbClr val="5B6B62"/>
                </a:solidFill>
                <a:latin typeface="Calibri" pitchFamily="34" charset="0"/>
                <a:ea typeface="Calibri" pitchFamily="34" charset="-122"/>
                <a:cs typeface="Calibri" pitchFamily="34" charset="-120"/>
              </a:rPr>
              <a:t>Risks differ by region, and weather stress on crops can affect farms almost anywhere.</a:t>
            </a:r>
            <a:endParaRPr lang="en-US" sz="1700" dirty="0"/>
          </a:p>
        </p:txBody>
      </p:sp>
      <p:sp>
        <p:nvSpPr>
          <p:cNvPr id="5" name="Shape 3"/>
          <p:cNvSpPr/>
          <p:nvPr/>
        </p:nvSpPr>
        <p:spPr>
          <a:xfrm>
            <a:off x="548640" y="1920240"/>
            <a:ext cx="3483864" cy="3383280"/>
          </a:xfrm>
          <a:prstGeom prst="roundRect">
            <a:avLst>
              <a:gd name="adj" fmla="val 4324"/>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pic>
        <p:nvPicPr>
          <p:cNvPr id="6" name="Image 0" descr="coast.png"/>
          <p:cNvPicPr>
            <a:picLocks noChangeAspect="1"/>
          </p:cNvPicPr>
          <p:nvPr/>
        </p:nvPicPr>
        <p:blipFill>
          <a:blip r:embed="rId3"/>
          <a:stretch>
            <a:fillRect/>
          </a:stretch>
        </p:blipFill>
        <p:spPr>
          <a:xfrm>
            <a:off x="685800" y="2057400"/>
            <a:ext cx="3209544" cy="2086830"/>
          </a:xfrm>
          <a:prstGeom prst="rect">
            <a:avLst/>
          </a:prstGeom>
        </p:spPr>
      </p:pic>
      <p:sp>
        <p:nvSpPr>
          <p:cNvPr id="7" name="Text 4"/>
          <p:cNvSpPr txBox="1"/>
          <p:nvPr/>
        </p:nvSpPr>
        <p:spPr>
          <a:xfrm>
            <a:off x="777240" y="4251960"/>
            <a:ext cx="3026664" cy="228600"/>
          </a:xfrm>
          <a:prstGeom prst="rect">
            <a:avLst/>
          </a:prstGeom>
          <a:noFill/>
          <a:ln/>
        </p:spPr>
        <p:txBody>
          <a:bodyPr wrap="square" lIns="0" tIns="0" rIns="0" bIns="0" rtlCol="0" anchor="t"/>
          <a:lstStyle/>
          <a:p>
            <a:pPr marL="0" indent="0">
              <a:buNone/>
            </a:pPr>
            <a:r>
              <a:rPr lang="en-US" sz="1100" b="1" kern="0" spc="200" dirty="0">
                <a:solidFill>
                  <a:srgbClr val="2E8B87"/>
                </a:solidFill>
                <a:latin typeface="Calibri" pitchFamily="34" charset="0"/>
                <a:ea typeface="Calibri" pitchFamily="34" charset="-122"/>
                <a:cs typeface="Calibri" pitchFamily="34" charset="-120"/>
              </a:rPr>
              <a:t>COASTAL AREAS</a:t>
            </a:r>
            <a:endParaRPr lang="en-US" sz="1100" dirty="0"/>
          </a:p>
        </p:txBody>
      </p:sp>
      <p:sp>
        <p:nvSpPr>
          <p:cNvPr id="8" name="Text 5"/>
          <p:cNvSpPr txBox="1"/>
          <p:nvPr/>
        </p:nvSpPr>
        <p:spPr>
          <a:xfrm>
            <a:off x="777240" y="4480560"/>
            <a:ext cx="3026664" cy="365760"/>
          </a:xfrm>
          <a:prstGeom prst="rect">
            <a:avLst/>
          </a:prstGeom>
          <a:noFill/>
          <a:ln/>
        </p:spPr>
        <p:txBody>
          <a:bodyPr wrap="square" lIns="0" tIns="0" rIns="0" bIns="0" rtlCol="0" anchor="t"/>
          <a:lstStyle/>
          <a:p>
            <a:pPr marL="0" indent="0">
              <a:buNone/>
            </a:pPr>
            <a:r>
              <a:rPr lang="en-US" sz="2000" b="1" dirty="0">
                <a:solidFill>
                  <a:srgbClr val="143528"/>
                </a:solidFill>
                <a:latin typeface="Cambria" pitchFamily="34" charset="0"/>
                <a:ea typeface="Cambria" pitchFamily="34" charset="-122"/>
                <a:cs typeface="Cambria" pitchFamily="34" charset="-120"/>
              </a:rPr>
              <a:t>Salinity risk</a:t>
            </a:r>
            <a:endParaRPr lang="en-US" sz="2000" dirty="0"/>
          </a:p>
        </p:txBody>
      </p:sp>
      <p:sp>
        <p:nvSpPr>
          <p:cNvPr id="9" name="Text 6"/>
          <p:cNvSpPr txBox="1"/>
          <p:nvPr/>
        </p:nvSpPr>
        <p:spPr>
          <a:xfrm>
            <a:off x="777240" y="4846320"/>
            <a:ext cx="3026664" cy="457200"/>
          </a:xfrm>
          <a:prstGeom prst="rect">
            <a:avLst/>
          </a:prstGeom>
          <a:noFill/>
          <a:ln/>
        </p:spPr>
        <p:txBody>
          <a:bodyPr wrap="square" lIns="0" tIns="0" rIns="0" bIns="0" rtlCol="0" anchor="t"/>
          <a:lstStyle/>
          <a:p>
            <a:pPr marL="0" indent="0">
              <a:buNone/>
            </a:pPr>
            <a:r>
              <a:rPr lang="en-US" sz="1300" dirty="0">
                <a:solidFill>
                  <a:srgbClr val="5B6B62"/>
                </a:solidFill>
                <a:latin typeface="Calibri" pitchFamily="34" charset="0"/>
                <a:ea typeface="Calibri" pitchFamily="34" charset="-122"/>
                <a:cs typeface="Calibri" pitchFamily="34" charset="-120"/>
              </a:rPr>
              <a:t>Rising soil and water salinity can stress crops.</a:t>
            </a:r>
            <a:endParaRPr lang="en-US" sz="1300" dirty="0"/>
          </a:p>
        </p:txBody>
      </p:sp>
      <p:sp>
        <p:nvSpPr>
          <p:cNvPr id="10" name="Shape 7"/>
          <p:cNvSpPr/>
          <p:nvPr/>
        </p:nvSpPr>
        <p:spPr>
          <a:xfrm>
            <a:off x="4352544" y="1920240"/>
            <a:ext cx="3483864" cy="3383280"/>
          </a:xfrm>
          <a:prstGeom prst="roundRect">
            <a:avLst>
              <a:gd name="adj" fmla="val 4324"/>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pic>
        <p:nvPicPr>
          <p:cNvPr id="11" name="Image 1" descr="flood.png"/>
          <p:cNvPicPr>
            <a:picLocks noChangeAspect="1"/>
          </p:cNvPicPr>
          <p:nvPr/>
        </p:nvPicPr>
        <p:blipFill>
          <a:blip r:embed="rId4"/>
          <a:stretch>
            <a:fillRect/>
          </a:stretch>
        </p:blipFill>
        <p:spPr>
          <a:xfrm>
            <a:off x="4489704" y="2057400"/>
            <a:ext cx="3209544" cy="2086830"/>
          </a:xfrm>
          <a:prstGeom prst="rect">
            <a:avLst/>
          </a:prstGeom>
        </p:spPr>
      </p:pic>
      <p:sp>
        <p:nvSpPr>
          <p:cNvPr id="12" name="Text 8"/>
          <p:cNvSpPr txBox="1"/>
          <p:nvPr/>
        </p:nvSpPr>
        <p:spPr>
          <a:xfrm>
            <a:off x="4581144" y="4251960"/>
            <a:ext cx="3026664" cy="228600"/>
          </a:xfrm>
          <a:prstGeom prst="rect">
            <a:avLst/>
          </a:prstGeom>
          <a:noFill/>
          <a:ln/>
        </p:spPr>
        <p:txBody>
          <a:bodyPr wrap="square" lIns="0" tIns="0" rIns="0" bIns="0" rtlCol="0" anchor="t"/>
          <a:lstStyle/>
          <a:p>
            <a:pPr marL="0" indent="0">
              <a:buNone/>
            </a:pPr>
            <a:r>
              <a:rPr lang="en-US" sz="1100" b="1" kern="0" spc="200" dirty="0">
                <a:solidFill>
                  <a:srgbClr val="2E8B87"/>
                </a:solidFill>
                <a:latin typeface="Calibri" pitchFamily="34" charset="0"/>
                <a:ea typeface="Calibri" pitchFamily="34" charset="-122"/>
                <a:cs typeface="Calibri" pitchFamily="34" charset="-120"/>
              </a:rPr>
              <a:t>FLOOD-PRONE AREAS</a:t>
            </a:r>
            <a:endParaRPr lang="en-US" sz="1100" dirty="0"/>
          </a:p>
        </p:txBody>
      </p:sp>
      <p:sp>
        <p:nvSpPr>
          <p:cNvPr id="13" name="Text 9"/>
          <p:cNvSpPr txBox="1"/>
          <p:nvPr/>
        </p:nvSpPr>
        <p:spPr>
          <a:xfrm>
            <a:off x="4581144" y="4480560"/>
            <a:ext cx="3026664" cy="365760"/>
          </a:xfrm>
          <a:prstGeom prst="rect">
            <a:avLst/>
          </a:prstGeom>
          <a:noFill/>
          <a:ln/>
        </p:spPr>
        <p:txBody>
          <a:bodyPr wrap="square" lIns="0" tIns="0" rIns="0" bIns="0" rtlCol="0" anchor="t"/>
          <a:lstStyle/>
          <a:p>
            <a:pPr marL="0" indent="0">
              <a:buNone/>
            </a:pPr>
            <a:r>
              <a:rPr lang="en-US" sz="2000" b="1" dirty="0">
                <a:solidFill>
                  <a:srgbClr val="143528"/>
                </a:solidFill>
                <a:latin typeface="Cambria" pitchFamily="34" charset="0"/>
                <a:ea typeface="Cambria" pitchFamily="34" charset="-122"/>
                <a:cs typeface="Cambria" pitchFamily="34" charset="-120"/>
              </a:rPr>
              <a:t>Flooding &amp; waterlogging</a:t>
            </a:r>
            <a:endParaRPr lang="en-US" sz="2000" dirty="0"/>
          </a:p>
        </p:txBody>
      </p:sp>
      <p:sp>
        <p:nvSpPr>
          <p:cNvPr id="14" name="Text 10"/>
          <p:cNvSpPr txBox="1"/>
          <p:nvPr/>
        </p:nvSpPr>
        <p:spPr>
          <a:xfrm>
            <a:off x="4581144" y="4846320"/>
            <a:ext cx="3026664" cy="457200"/>
          </a:xfrm>
          <a:prstGeom prst="rect">
            <a:avLst/>
          </a:prstGeom>
          <a:noFill/>
          <a:ln/>
        </p:spPr>
        <p:txBody>
          <a:bodyPr wrap="square" lIns="0" tIns="0" rIns="0" bIns="0" rtlCol="0" anchor="t"/>
          <a:lstStyle/>
          <a:p>
            <a:pPr marL="0" indent="0">
              <a:buNone/>
            </a:pPr>
            <a:r>
              <a:rPr lang="en-US" sz="1300" dirty="0">
                <a:solidFill>
                  <a:srgbClr val="5B6B62"/>
                </a:solidFill>
                <a:latin typeface="Calibri" pitchFamily="34" charset="0"/>
                <a:ea typeface="Calibri" pitchFamily="34" charset="-122"/>
                <a:cs typeface="Calibri" pitchFamily="34" charset="-120"/>
              </a:rPr>
              <a:t>Excess water can damage crops and disrupt field work.</a:t>
            </a:r>
            <a:endParaRPr lang="en-US" sz="1300" dirty="0"/>
          </a:p>
        </p:txBody>
      </p:sp>
      <p:sp>
        <p:nvSpPr>
          <p:cNvPr id="15" name="Shape 11"/>
          <p:cNvSpPr/>
          <p:nvPr/>
        </p:nvSpPr>
        <p:spPr>
          <a:xfrm>
            <a:off x="8156448" y="1920240"/>
            <a:ext cx="3483864" cy="3383280"/>
          </a:xfrm>
          <a:prstGeom prst="roundRect">
            <a:avLst>
              <a:gd name="adj" fmla="val 4324"/>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pic>
        <p:nvPicPr>
          <p:cNvPr id="16" name="Image 2" descr="drought.png"/>
          <p:cNvPicPr>
            <a:picLocks noChangeAspect="1"/>
          </p:cNvPicPr>
          <p:nvPr/>
        </p:nvPicPr>
        <p:blipFill>
          <a:blip r:embed="rId5"/>
          <a:stretch>
            <a:fillRect/>
          </a:stretch>
        </p:blipFill>
        <p:spPr>
          <a:xfrm>
            <a:off x="8293608" y="2057400"/>
            <a:ext cx="3209544" cy="2086830"/>
          </a:xfrm>
          <a:prstGeom prst="rect">
            <a:avLst/>
          </a:prstGeom>
        </p:spPr>
      </p:pic>
      <p:sp>
        <p:nvSpPr>
          <p:cNvPr id="17" name="Text 12"/>
          <p:cNvSpPr txBox="1"/>
          <p:nvPr/>
        </p:nvSpPr>
        <p:spPr>
          <a:xfrm>
            <a:off x="8385048" y="4251960"/>
            <a:ext cx="3026664" cy="228600"/>
          </a:xfrm>
          <a:prstGeom prst="rect">
            <a:avLst/>
          </a:prstGeom>
          <a:noFill/>
          <a:ln/>
        </p:spPr>
        <p:txBody>
          <a:bodyPr wrap="square" lIns="0" tIns="0" rIns="0" bIns="0" rtlCol="0" anchor="t"/>
          <a:lstStyle/>
          <a:p>
            <a:pPr marL="0" indent="0">
              <a:buNone/>
            </a:pPr>
            <a:r>
              <a:rPr lang="en-US" sz="1100" b="1" kern="0" spc="200" dirty="0">
                <a:solidFill>
                  <a:srgbClr val="2E8B87"/>
                </a:solidFill>
                <a:latin typeface="Calibri" pitchFamily="34" charset="0"/>
                <a:ea typeface="Calibri" pitchFamily="34" charset="-122"/>
                <a:cs typeface="Calibri" pitchFamily="34" charset="-120"/>
              </a:rPr>
              <a:t>DROUGHT-PRONE AREAS</a:t>
            </a:r>
            <a:endParaRPr lang="en-US" sz="1100" dirty="0"/>
          </a:p>
        </p:txBody>
      </p:sp>
      <p:sp>
        <p:nvSpPr>
          <p:cNvPr id="18" name="Text 13"/>
          <p:cNvSpPr txBox="1"/>
          <p:nvPr/>
        </p:nvSpPr>
        <p:spPr>
          <a:xfrm>
            <a:off x="8385048" y="4480560"/>
            <a:ext cx="3026664" cy="365760"/>
          </a:xfrm>
          <a:prstGeom prst="rect">
            <a:avLst/>
          </a:prstGeom>
          <a:noFill/>
          <a:ln/>
        </p:spPr>
        <p:txBody>
          <a:bodyPr wrap="square" lIns="0" tIns="0" rIns="0" bIns="0" rtlCol="0" anchor="t"/>
          <a:lstStyle/>
          <a:p>
            <a:pPr marL="0" indent="0">
              <a:buNone/>
            </a:pPr>
            <a:r>
              <a:rPr lang="en-US" sz="2000" b="1" dirty="0">
                <a:solidFill>
                  <a:srgbClr val="143528"/>
                </a:solidFill>
                <a:latin typeface="Cambria" pitchFamily="34" charset="0"/>
                <a:ea typeface="Cambria" pitchFamily="34" charset="-122"/>
                <a:cs typeface="Cambria" pitchFamily="34" charset="-120"/>
              </a:rPr>
              <a:t>Drought &amp; water stress</a:t>
            </a:r>
            <a:endParaRPr lang="en-US" sz="2000" dirty="0"/>
          </a:p>
        </p:txBody>
      </p:sp>
      <p:sp>
        <p:nvSpPr>
          <p:cNvPr id="19" name="Text 14"/>
          <p:cNvSpPr txBox="1"/>
          <p:nvPr/>
        </p:nvSpPr>
        <p:spPr>
          <a:xfrm>
            <a:off x="8385048" y="4846320"/>
            <a:ext cx="3026664" cy="457200"/>
          </a:xfrm>
          <a:prstGeom prst="rect">
            <a:avLst/>
          </a:prstGeom>
          <a:noFill/>
          <a:ln/>
        </p:spPr>
        <p:txBody>
          <a:bodyPr wrap="square" lIns="0" tIns="0" rIns="0" bIns="0" rtlCol="0" anchor="t"/>
          <a:lstStyle/>
          <a:p>
            <a:pPr marL="0" indent="0">
              <a:buNone/>
            </a:pPr>
            <a:r>
              <a:rPr lang="en-US" sz="1300" dirty="0">
                <a:solidFill>
                  <a:srgbClr val="5B6B62"/>
                </a:solidFill>
                <a:latin typeface="Calibri" pitchFamily="34" charset="0"/>
                <a:ea typeface="Calibri" pitchFamily="34" charset="-122"/>
                <a:cs typeface="Calibri" pitchFamily="34" charset="-120"/>
              </a:rPr>
              <a:t>Water shortage can hit crops at critical growth stages.</a:t>
            </a:r>
            <a:endParaRPr lang="en-US" sz="1300" dirty="0"/>
          </a:p>
        </p:txBody>
      </p:sp>
      <p:sp>
        <p:nvSpPr>
          <p:cNvPr id="20" name="Shape 15"/>
          <p:cNvSpPr/>
          <p:nvPr/>
        </p:nvSpPr>
        <p:spPr>
          <a:xfrm>
            <a:off x="548640" y="5577840"/>
            <a:ext cx="11091672" cy="548640"/>
          </a:xfrm>
          <a:prstGeom prst="roundRect">
            <a:avLst>
              <a:gd name="adj" fmla="val 50000"/>
            </a:avLst>
          </a:prstGeom>
          <a:solidFill>
            <a:srgbClr val="143528"/>
          </a:solidFill>
          <a:ln w="12700">
            <a:solidFill>
              <a:srgbClr val="143528"/>
            </a:solidFill>
            <a:prstDash val="solid"/>
          </a:ln>
        </p:spPr>
        <p:txBody>
          <a:bodyPr/>
          <a:lstStyle/>
          <a:p>
            <a:endParaRPr lang="en-US"/>
          </a:p>
        </p:txBody>
      </p:sp>
      <p:sp>
        <p:nvSpPr>
          <p:cNvPr id="21" name="Text 16"/>
          <p:cNvSpPr txBox="1"/>
          <p:nvPr/>
        </p:nvSpPr>
        <p:spPr>
          <a:xfrm>
            <a:off x="822960" y="5577840"/>
            <a:ext cx="1060704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regional forecast is not a decision for one farm. Farmers need to know what it means for their own field and crop.</a:t>
            </a:r>
            <a:endParaRPr lang="en-US" sz="1600" dirty="0"/>
          </a:p>
        </p:txBody>
      </p:sp>
      <p:sp>
        <p:nvSpPr>
          <p:cNvPr id="22" name="Shape 17"/>
          <p:cNvSpPr/>
          <p:nvPr/>
        </p:nvSpPr>
        <p:spPr>
          <a:xfrm>
            <a:off x="548640" y="6336792"/>
            <a:ext cx="310896" cy="310896"/>
          </a:xfrm>
          <a:prstGeom prst="ellipse">
            <a:avLst/>
          </a:prstGeom>
          <a:solidFill>
            <a:srgbClr val="245C43"/>
          </a:solidFill>
          <a:ln w="12700">
            <a:solidFill>
              <a:srgbClr val="245C43"/>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626364" y="6414516"/>
            <a:ext cx="155448" cy="155448"/>
          </a:xfrm>
          <a:prstGeom prst="rect">
            <a:avLst/>
          </a:prstGeom>
        </p:spPr>
      </p:pic>
      <p:sp>
        <p:nvSpPr>
          <p:cNvPr id="24" name="Text 18"/>
          <p:cNvSpPr txBox="1"/>
          <p:nvPr/>
        </p:nvSpPr>
        <p:spPr>
          <a:xfrm>
            <a:off x="960120" y="6364224"/>
            <a:ext cx="2743200" cy="274320"/>
          </a:xfrm>
          <a:prstGeom prst="rect">
            <a:avLst/>
          </a:prstGeom>
          <a:noFill/>
          <a:ln/>
        </p:spPr>
        <p:txBody>
          <a:bodyPr wrap="square" lIns="0" tIns="0" rIns="0" bIns="0" rtlCol="0" anchor="t"/>
          <a:lstStyle/>
          <a:p>
            <a:pPr marL="0" indent="0">
              <a:buNone/>
            </a:pPr>
            <a:r>
              <a:rPr lang="en-US" sz="1200" b="1" dirty="0">
                <a:solidFill>
                  <a:srgbClr val="5B6B62"/>
                </a:solidFill>
                <a:latin typeface="Calibri" pitchFamily="34" charset="0"/>
                <a:ea typeface="Calibri" pitchFamily="34" charset="-122"/>
                <a:cs typeface="Calibri" pitchFamily="34" charset="-120"/>
              </a:rPr>
              <a:t>Krishan AI</a:t>
            </a:r>
            <a:endParaRPr lang="en-US" sz="1200" dirty="0"/>
          </a:p>
        </p:txBody>
      </p:sp>
      <p:sp>
        <p:nvSpPr>
          <p:cNvPr id="25" name="Text 19"/>
          <p:cNvSpPr txBox="1"/>
          <p:nvPr/>
        </p:nvSpPr>
        <p:spPr>
          <a:xfrm>
            <a:off x="11185855" y="6364224"/>
            <a:ext cx="457200" cy="274320"/>
          </a:xfrm>
          <a:prstGeom prst="rect">
            <a:avLst/>
          </a:prstGeom>
          <a:noFill/>
          <a:ln/>
        </p:spPr>
        <p:txBody>
          <a:bodyPr wrap="square" lIns="0" tIns="0" rIns="0" bIns="0" rtlCol="0" anchor="t"/>
          <a:lstStyle/>
          <a:p>
            <a:pPr marL="0" indent="0" algn="r">
              <a:buNone/>
            </a:pPr>
            <a:r>
              <a:rPr lang="en-US" sz="1200" dirty="0">
                <a:solidFill>
                  <a:srgbClr val="5B6B62"/>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marL="0" indent="0">
              <a:buNone/>
            </a:pPr>
            <a:r>
              <a:rPr lang="en-US" sz="1300" b="1" kern="0" spc="300" dirty="0">
                <a:solidFill>
                  <a:srgbClr val="2E8B87"/>
                </a:solidFill>
                <a:latin typeface="Calibri" pitchFamily="34" charset="0"/>
                <a:ea typeface="Calibri" pitchFamily="34" charset="-122"/>
                <a:cs typeface="Calibri" pitchFamily="34" charset="-120"/>
              </a:rPr>
              <a:t>02  ·  OUR PROPOSED SOLUTION</a:t>
            </a:r>
            <a:endParaRPr lang="en-US" sz="1300" dirty="0"/>
          </a:p>
        </p:txBody>
      </p:sp>
      <p:sp>
        <p:nvSpPr>
          <p:cNvPr id="3" name="Text 1"/>
          <p:cNvSpPr txBox="1"/>
          <p:nvPr/>
        </p:nvSpPr>
        <p:spPr>
          <a:xfrm>
            <a:off x="548640" y="777240"/>
            <a:ext cx="11064240" cy="731520"/>
          </a:xfrm>
          <a:prstGeom prst="rect">
            <a:avLst/>
          </a:prstGeom>
          <a:noFill/>
          <a:ln/>
        </p:spPr>
        <p:txBody>
          <a:bodyPr wrap="square" lIns="0" tIns="0" rIns="0" bIns="0" rtlCol="0" anchor="ctr"/>
          <a:lstStyle/>
          <a:p>
            <a:pPr marL="0" indent="0">
              <a:buNone/>
            </a:pPr>
            <a:r>
              <a:rPr lang="en-US" sz="3600" b="1" dirty="0">
                <a:solidFill>
                  <a:srgbClr val="143528"/>
                </a:solidFill>
                <a:latin typeface="Cambria" pitchFamily="34" charset="0"/>
                <a:ea typeface="Cambria" pitchFamily="34" charset="-122"/>
                <a:cs typeface="Cambria" pitchFamily="34" charset="-120"/>
              </a:rPr>
              <a:t>From scattered data to a clear next step</a:t>
            </a:r>
            <a:endParaRPr lang="en-US" sz="3600" dirty="0"/>
          </a:p>
        </p:txBody>
      </p:sp>
      <p:sp>
        <p:nvSpPr>
          <p:cNvPr id="4" name="Shape 2"/>
          <p:cNvSpPr/>
          <p:nvPr/>
        </p:nvSpPr>
        <p:spPr>
          <a:xfrm>
            <a:off x="548640" y="1783080"/>
            <a:ext cx="2432304" cy="2606040"/>
          </a:xfrm>
          <a:prstGeom prst="roundRect">
            <a:avLst>
              <a:gd name="adj" fmla="val 6015"/>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5" name="Shape 3"/>
          <p:cNvSpPr/>
          <p:nvPr/>
        </p:nvSpPr>
        <p:spPr>
          <a:xfrm>
            <a:off x="777240" y="2011680"/>
            <a:ext cx="640080" cy="640080"/>
          </a:xfrm>
          <a:prstGeom prst="ellipse">
            <a:avLst/>
          </a:prstGeom>
          <a:solidFill>
            <a:srgbClr val="E3EFE4"/>
          </a:solidFill>
          <a:ln w="12700">
            <a:solidFill>
              <a:srgbClr val="E3EFE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37260" y="2171700"/>
            <a:ext cx="320040" cy="320040"/>
          </a:xfrm>
          <a:prstGeom prst="rect">
            <a:avLst/>
          </a:prstGeom>
        </p:spPr>
      </p:pic>
      <p:sp>
        <p:nvSpPr>
          <p:cNvPr id="7" name="Text 4"/>
          <p:cNvSpPr txBox="1"/>
          <p:nvPr/>
        </p:nvSpPr>
        <p:spPr>
          <a:xfrm>
            <a:off x="2340864" y="1965960"/>
            <a:ext cx="411480" cy="457200"/>
          </a:xfrm>
          <a:prstGeom prst="rect">
            <a:avLst/>
          </a:prstGeom>
          <a:noFill/>
          <a:ln/>
        </p:spPr>
        <p:txBody>
          <a:bodyPr wrap="square" lIns="0" tIns="0" rIns="0" bIns="0" rtlCol="0" anchor="t"/>
          <a:lstStyle/>
          <a:p>
            <a:pPr marL="0" indent="0" algn="r">
              <a:buNone/>
            </a:pPr>
            <a:r>
              <a:rPr lang="en-US" sz="3000" b="1" dirty="0">
                <a:solidFill>
                  <a:srgbClr val="E3EFE4"/>
                </a:solidFill>
                <a:latin typeface="Cambria" pitchFamily="34" charset="0"/>
                <a:ea typeface="Cambria" pitchFamily="34" charset="-122"/>
                <a:cs typeface="Cambria" pitchFamily="34" charset="-120"/>
              </a:rPr>
              <a:t>1</a:t>
            </a:r>
            <a:endParaRPr lang="en-US" sz="3000" dirty="0"/>
          </a:p>
        </p:txBody>
      </p:sp>
      <p:sp>
        <p:nvSpPr>
          <p:cNvPr id="8" name="Text 5"/>
          <p:cNvSpPr txBox="1"/>
          <p:nvPr/>
        </p:nvSpPr>
        <p:spPr>
          <a:xfrm>
            <a:off x="777240" y="2788920"/>
            <a:ext cx="1975104" cy="594360"/>
          </a:xfrm>
          <a:prstGeom prst="rect">
            <a:avLst/>
          </a:prstGeom>
          <a:noFill/>
          <a:ln/>
        </p:spPr>
        <p:txBody>
          <a:bodyPr wrap="square" lIns="0" tIns="0" rIns="0" bIns="0" rtlCol="0" anchor="t"/>
          <a:lstStyle/>
          <a:p>
            <a:pPr marL="0" indent="0">
              <a:buNone/>
            </a:pPr>
            <a:r>
              <a:rPr lang="en-US" sz="1900" b="1" dirty="0">
                <a:solidFill>
                  <a:srgbClr val="143528"/>
                </a:solidFill>
                <a:latin typeface="Cambria" pitchFamily="34" charset="0"/>
                <a:ea typeface="Cambria" pitchFamily="34" charset="-122"/>
                <a:cs typeface="Cambria" pitchFamily="34" charset="-120"/>
              </a:rPr>
              <a:t>Environmental data</a:t>
            </a:r>
            <a:endParaRPr lang="en-US" sz="1900" dirty="0"/>
          </a:p>
        </p:txBody>
      </p:sp>
      <p:sp>
        <p:nvSpPr>
          <p:cNvPr id="9" name="Text 6"/>
          <p:cNvSpPr txBox="1"/>
          <p:nvPr/>
        </p:nvSpPr>
        <p:spPr>
          <a:xfrm>
            <a:off x="777240" y="3429000"/>
            <a:ext cx="1975104" cy="868680"/>
          </a:xfrm>
          <a:prstGeom prst="rect">
            <a:avLst/>
          </a:prstGeom>
          <a:noFill/>
          <a:ln/>
        </p:spPr>
        <p:txBody>
          <a:bodyPr wrap="square" lIns="0" tIns="0" rIns="0" bIns="0" rtlCol="0" anchor="t"/>
          <a:lstStyle/>
          <a:p>
            <a:pPr marL="0" indent="0">
              <a:buNone/>
            </a:pPr>
            <a:r>
              <a:rPr lang="en-US" sz="1400" dirty="0">
                <a:solidFill>
                  <a:srgbClr val="5B6B62"/>
                </a:solidFill>
                <a:latin typeface="Calibri" pitchFamily="34" charset="0"/>
                <a:ea typeface="Calibri" pitchFamily="34" charset="-122"/>
                <a:cs typeface="Calibri" pitchFamily="34" charset="-120"/>
              </a:rPr>
              <a:t>Weather, soil, water and satellite information, where accessible</a:t>
            </a:r>
            <a:endParaRPr lang="en-US" sz="1400" dirty="0"/>
          </a:p>
        </p:txBody>
      </p:sp>
      <p:sp>
        <p:nvSpPr>
          <p:cNvPr id="10" name="Shape 7"/>
          <p:cNvSpPr/>
          <p:nvPr/>
        </p:nvSpPr>
        <p:spPr>
          <a:xfrm>
            <a:off x="0" y="0"/>
            <a:ext cx="9144" cy="9144"/>
          </a:xfrm>
          <a:prstGeom prst="rtTriangle">
            <a:avLst/>
          </a:prstGeom>
          <a:solidFill>
            <a:srgbClr val="F6F4EC"/>
          </a:solidFill>
          <a:ln w="12700">
            <a:solidFill>
              <a:srgbClr val="F6F4E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090672" y="2971800"/>
            <a:ext cx="237744" cy="237744"/>
          </a:xfrm>
          <a:prstGeom prst="rect">
            <a:avLst/>
          </a:prstGeom>
        </p:spPr>
      </p:pic>
      <p:sp>
        <p:nvSpPr>
          <p:cNvPr id="12" name="Shape 8"/>
          <p:cNvSpPr/>
          <p:nvPr/>
        </p:nvSpPr>
        <p:spPr>
          <a:xfrm>
            <a:off x="3438144" y="1783080"/>
            <a:ext cx="2432304" cy="2606040"/>
          </a:xfrm>
          <a:prstGeom prst="roundRect">
            <a:avLst>
              <a:gd name="adj" fmla="val 6015"/>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13" name="Shape 9"/>
          <p:cNvSpPr/>
          <p:nvPr/>
        </p:nvSpPr>
        <p:spPr>
          <a:xfrm>
            <a:off x="3666744" y="2011680"/>
            <a:ext cx="640080" cy="640080"/>
          </a:xfrm>
          <a:prstGeom prst="ellipse">
            <a:avLst/>
          </a:prstGeom>
          <a:solidFill>
            <a:srgbClr val="E3EFE4"/>
          </a:solidFill>
          <a:ln w="12700">
            <a:solidFill>
              <a:srgbClr val="E3EFE4"/>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3826764" y="2171700"/>
            <a:ext cx="320040" cy="320040"/>
          </a:xfrm>
          <a:prstGeom prst="rect">
            <a:avLst/>
          </a:prstGeom>
        </p:spPr>
      </p:pic>
      <p:sp>
        <p:nvSpPr>
          <p:cNvPr id="15" name="Text 10"/>
          <p:cNvSpPr txBox="1"/>
          <p:nvPr/>
        </p:nvSpPr>
        <p:spPr>
          <a:xfrm>
            <a:off x="5230368" y="1965960"/>
            <a:ext cx="411480" cy="457200"/>
          </a:xfrm>
          <a:prstGeom prst="rect">
            <a:avLst/>
          </a:prstGeom>
          <a:noFill/>
          <a:ln/>
        </p:spPr>
        <p:txBody>
          <a:bodyPr wrap="square" lIns="0" tIns="0" rIns="0" bIns="0" rtlCol="0" anchor="t"/>
          <a:lstStyle/>
          <a:p>
            <a:pPr marL="0" indent="0" algn="r">
              <a:buNone/>
            </a:pPr>
            <a:r>
              <a:rPr lang="en-US" sz="3000" b="1" dirty="0">
                <a:solidFill>
                  <a:srgbClr val="E3EFE4"/>
                </a:solidFill>
                <a:latin typeface="Cambria" pitchFamily="34" charset="0"/>
                <a:ea typeface="Cambria" pitchFamily="34" charset="-122"/>
                <a:cs typeface="Cambria" pitchFamily="34" charset="-120"/>
              </a:rPr>
              <a:t>2</a:t>
            </a:r>
            <a:endParaRPr lang="en-US" sz="3000" dirty="0"/>
          </a:p>
        </p:txBody>
      </p:sp>
      <p:sp>
        <p:nvSpPr>
          <p:cNvPr id="16" name="Text 11"/>
          <p:cNvSpPr txBox="1"/>
          <p:nvPr/>
        </p:nvSpPr>
        <p:spPr>
          <a:xfrm>
            <a:off x="3666744" y="2788920"/>
            <a:ext cx="1975104" cy="594360"/>
          </a:xfrm>
          <a:prstGeom prst="rect">
            <a:avLst/>
          </a:prstGeom>
          <a:noFill/>
          <a:ln/>
        </p:spPr>
        <p:txBody>
          <a:bodyPr wrap="square" lIns="0" tIns="0" rIns="0" bIns="0" rtlCol="0" anchor="t"/>
          <a:lstStyle/>
          <a:p>
            <a:pPr marL="0" indent="0">
              <a:buNone/>
            </a:pPr>
            <a:r>
              <a:rPr lang="en-US" sz="1900" b="1" dirty="0">
                <a:solidFill>
                  <a:srgbClr val="143528"/>
                </a:solidFill>
                <a:latin typeface="Cambria" pitchFamily="34" charset="0"/>
                <a:ea typeface="Cambria" pitchFamily="34" charset="-122"/>
                <a:cs typeface="Cambria" pitchFamily="34" charset="-120"/>
              </a:rPr>
              <a:t>Farm Context Model</a:t>
            </a:r>
            <a:endParaRPr lang="en-US" sz="1900" dirty="0"/>
          </a:p>
        </p:txBody>
      </p:sp>
      <p:sp>
        <p:nvSpPr>
          <p:cNvPr id="17" name="Text 12"/>
          <p:cNvSpPr txBox="1"/>
          <p:nvPr/>
        </p:nvSpPr>
        <p:spPr>
          <a:xfrm>
            <a:off x="3666744" y="3429000"/>
            <a:ext cx="1975104" cy="868680"/>
          </a:xfrm>
          <a:prstGeom prst="rect">
            <a:avLst/>
          </a:prstGeom>
          <a:noFill/>
          <a:ln/>
        </p:spPr>
        <p:txBody>
          <a:bodyPr wrap="square" lIns="0" tIns="0" rIns="0" bIns="0" rtlCol="0" anchor="t"/>
          <a:lstStyle/>
          <a:p>
            <a:pPr marL="0" indent="0">
              <a:buNone/>
            </a:pPr>
            <a:r>
              <a:rPr lang="en-US" sz="1400" dirty="0">
                <a:solidFill>
                  <a:srgbClr val="5B6B62"/>
                </a:solidFill>
                <a:latin typeface="Calibri" pitchFamily="34" charset="0"/>
                <a:ea typeface="Calibri" pitchFamily="34" charset="-122"/>
                <a:cs typeface="Calibri" pitchFamily="34" charset="-120"/>
              </a:rPr>
              <a:t>Location, crop, growth stage and history for one farm</a:t>
            </a:r>
            <a:endParaRPr lang="en-US" sz="1400" dirty="0"/>
          </a:p>
        </p:txBody>
      </p:sp>
      <p:sp>
        <p:nvSpPr>
          <p:cNvPr id="18" name="Shape 13"/>
          <p:cNvSpPr/>
          <p:nvPr/>
        </p:nvSpPr>
        <p:spPr>
          <a:xfrm>
            <a:off x="0" y="0"/>
            <a:ext cx="9144" cy="9144"/>
          </a:xfrm>
          <a:prstGeom prst="rtTriangle">
            <a:avLst/>
          </a:prstGeom>
          <a:solidFill>
            <a:srgbClr val="F6F4EC"/>
          </a:solidFill>
          <a:ln w="12700">
            <a:solidFill>
              <a:srgbClr val="F6F4EC"/>
            </a:solidFill>
            <a:prstDash val="solid"/>
          </a:ln>
        </p:spPr>
        <p:txBody>
          <a:bodyPr/>
          <a:lstStyle/>
          <a:p>
            <a:endParaRPr lang="en-US"/>
          </a:p>
        </p:txBody>
      </p:sp>
      <p:pic>
        <p:nvPicPr>
          <p:cNvPr id="19" name="Image 3" descr="preencoded.png"/>
          <p:cNvPicPr>
            <a:picLocks noChangeAspect="1"/>
          </p:cNvPicPr>
          <p:nvPr/>
        </p:nvPicPr>
        <p:blipFill>
          <a:blip r:embed="rId4"/>
          <a:stretch>
            <a:fillRect/>
          </a:stretch>
        </p:blipFill>
        <p:spPr>
          <a:xfrm>
            <a:off x="5980176" y="2971800"/>
            <a:ext cx="237744" cy="237744"/>
          </a:xfrm>
          <a:prstGeom prst="rect">
            <a:avLst/>
          </a:prstGeom>
        </p:spPr>
      </p:pic>
      <p:sp>
        <p:nvSpPr>
          <p:cNvPr id="20" name="Shape 14"/>
          <p:cNvSpPr/>
          <p:nvPr/>
        </p:nvSpPr>
        <p:spPr>
          <a:xfrm>
            <a:off x="6327648" y="1783080"/>
            <a:ext cx="2432304" cy="2606040"/>
          </a:xfrm>
          <a:prstGeom prst="roundRect">
            <a:avLst>
              <a:gd name="adj" fmla="val 6015"/>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21" name="Shape 15"/>
          <p:cNvSpPr/>
          <p:nvPr/>
        </p:nvSpPr>
        <p:spPr>
          <a:xfrm>
            <a:off x="6556248" y="2011680"/>
            <a:ext cx="640080" cy="640080"/>
          </a:xfrm>
          <a:prstGeom prst="ellipse">
            <a:avLst/>
          </a:prstGeom>
          <a:solidFill>
            <a:srgbClr val="E3EFE4"/>
          </a:solidFill>
          <a:ln w="12700">
            <a:solidFill>
              <a:srgbClr val="E3EFE4"/>
            </a:solidFill>
            <a:prstDash val="solid"/>
          </a:ln>
        </p:spPr>
        <p:txBody>
          <a:bodyPr/>
          <a:lstStyle/>
          <a:p>
            <a:endParaRPr lang="en-US"/>
          </a:p>
        </p:txBody>
      </p:sp>
      <p:pic>
        <p:nvPicPr>
          <p:cNvPr id="22" name="Image 4" descr="preencoded.png"/>
          <p:cNvPicPr>
            <a:picLocks noChangeAspect="1"/>
          </p:cNvPicPr>
          <p:nvPr/>
        </p:nvPicPr>
        <p:blipFill>
          <a:blip r:embed="rId6"/>
          <a:stretch>
            <a:fillRect/>
          </a:stretch>
        </p:blipFill>
        <p:spPr>
          <a:xfrm>
            <a:off x="6716268" y="2171700"/>
            <a:ext cx="320040" cy="320040"/>
          </a:xfrm>
          <a:prstGeom prst="rect">
            <a:avLst/>
          </a:prstGeom>
        </p:spPr>
      </p:pic>
      <p:sp>
        <p:nvSpPr>
          <p:cNvPr id="23" name="Text 16"/>
          <p:cNvSpPr txBox="1"/>
          <p:nvPr/>
        </p:nvSpPr>
        <p:spPr>
          <a:xfrm>
            <a:off x="8119872" y="1965960"/>
            <a:ext cx="411480" cy="457200"/>
          </a:xfrm>
          <a:prstGeom prst="rect">
            <a:avLst/>
          </a:prstGeom>
          <a:noFill/>
          <a:ln/>
        </p:spPr>
        <p:txBody>
          <a:bodyPr wrap="square" lIns="0" tIns="0" rIns="0" bIns="0" rtlCol="0" anchor="t"/>
          <a:lstStyle/>
          <a:p>
            <a:pPr marL="0" indent="0" algn="r">
              <a:buNone/>
            </a:pPr>
            <a:r>
              <a:rPr lang="en-US" sz="3000" b="1" dirty="0">
                <a:solidFill>
                  <a:srgbClr val="E3EFE4"/>
                </a:solidFill>
                <a:latin typeface="Cambria" pitchFamily="34" charset="0"/>
                <a:ea typeface="Cambria" pitchFamily="34" charset="-122"/>
                <a:cs typeface="Cambria" pitchFamily="34" charset="-120"/>
              </a:rPr>
              <a:t>3</a:t>
            </a:r>
            <a:endParaRPr lang="en-US" sz="3000" dirty="0"/>
          </a:p>
        </p:txBody>
      </p:sp>
      <p:sp>
        <p:nvSpPr>
          <p:cNvPr id="24" name="Text 17"/>
          <p:cNvSpPr txBox="1"/>
          <p:nvPr/>
        </p:nvSpPr>
        <p:spPr>
          <a:xfrm>
            <a:off x="6556248" y="2788920"/>
            <a:ext cx="1975104" cy="594360"/>
          </a:xfrm>
          <a:prstGeom prst="rect">
            <a:avLst/>
          </a:prstGeom>
          <a:noFill/>
          <a:ln/>
        </p:spPr>
        <p:txBody>
          <a:bodyPr wrap="square" lIns="0" tIns="0" rIns="0" bIns="0" rtlCol="0" anchor="t"/>
          <a:lstStyle/>
          <a:p>
            <a:pPr marL="0" indent="0">
              <a:buNone/>
            </a:pPr>
            <a:r>
              <a:rPr lang="en-US" sz="1900" b="1" dirty="0">
                <a:solidFill>
                  <a:srgbClr val="143528"/>
                </a:solidFill>
                <a:latin typeface="Cambria" pitchFamily="34" charset="0"/>
                <a:ea typeface="Cambria" pitchFamily="34" charset="-122"/>
                <a:cs typeface="Cambria" pitchFamily="34" charset="-120"/>
              </a:rPr>
              <a:t>Risk assessment</a:t>
            </a:r>
            <a:endParaRPr lang="en-US" sz="1900" dirty="0"/>
          </a:p>
        </p:txBody>
      </p:sp>
      <p:sp>
        <p:nvSpPr>
          <p:cNvPr id="25" name="Text 18"/>
          <p:cNvSpPr txBox="1"/>
          <p:nvPr/>
        </p:nvSpPr>
        <p:spPr>
          <a:xfrm>
            <a:off x="6556248" y="3429000"/>
            <a:ext cx="1975104" cy="868680"/>
          </a:xfrm>
          <a:prstGeom prst="rect">
            <a:avLst/>
          </a:prstGeom>
          <a:noFill/>
          <a:ln/>
        </p:spPr>
        <p:txBody>
          <a:bodyPr wrap="square" lIns="0" tIns="0" rIns="0" bIns="0" rtlCol="0" anchor="t"/>
          <a:lstStyle/>
          <a:p>
            <a:pPr marL="0" indent="0">
              <a:buNone/>
            </a:pPr>
            <a:r>
              <a:rPr lang="en-US" sz="1400" dirty="0">
                <a:solidFill>
                  <a:srgbClr val="5B6B62"/>
                </a:solidFill>
                <a:latin typeface="Calibri" pitchFamily="34" charset="0"/>
                <a:ea typeface="Calibri" pitchFamily="34" charset="-122"/>
                <a:cs typeface="Calibri" pitchFamily="34" charset="-120"/>
              </a:rPr>
              <a:t>Estimated only where reliable prediction is feasible</a:t>
            </a:r>
            <a:endParaRPr lang="en-US" sz="1400" dirty="0"/>
          </a:p>
        </p:txBody>
      </p:sp>
      <p:sp>
        <p:nvSpPr>
          <p:cNvPr id="26" name="Shape 19"/>
          <p:cNvSpPr/>
          <p:nvPr/>
        </p:nvSpPr>
        <p:spPr>
          <a:xfrm>
            <a:off x="0" y="0"/>
            <a:ext cx="9144" cy="9144"/>
          </a:xfrm>
          <a:prstGeom prst="rtTriangle">
            <a:avLst/>
          </a:prstGeom>
          <a:solidFill>
            <a:srgbClr val="F6F4EC"/>
          </a:solidFill>
          <a:ln w="12700">
            <a:solidFill>
              <a:srgbClr val="F6F4EC"/>
            </a:solidFill>
            <a:prstDash val="solid"/>
          </a:ln>
        </p:spPr>
        <p:txBody>
          <a:bodyPr/>
          <a:lstStyle/>
          <a:p>
            <a:endParaRPr lang="en-US"/>
          </a:p>
        </p:txBody>
      </p:sp>
      <p:pic>
        <p:nvPicPr>
          <p:cNvPr id="27" name="Image 5" descr="preencoded.png"/>
          <p:cNvPicPr>
            <a:picLocks noChangeAspect="1"/>
          </p:cNvPicPr>
          <p:nvPr/>
        </p:nvPicPr>
        <p:blipFill>
          <a:blip r:embed="rId4"/>
          <a:stretch>
            <a:fillRect/>
          </a:stretch>
        </p:blipFill>
        <p:spPr>
          <a:xfrm>
            <a:off x="8869680" y="2971800"/>
            <a:ext cx="237744" cy="237744"/>
          </a:xfrm>
          <a:prstGeom prst="rect">
            <a:avLst/>
          </a:prstGeom>
        </p:spPr>
      </p:pic>
      <p:sp>
        <p:nvSpPr>
          <p:cNvPr id="28" name="Shape 20"/>
          <p:cNvSpPr/>
          <p:nvPr/>
        </p:nvSpPr>
        <p:spPr>
          <a:xfrm>
            <a:off x="9217152" y="1783080"/>
            <a:ext cx="2432304" cy="2606040"/>
          </a:xfrm>
          <a:prstGeom prst="roundRect">
            <a:avLst>
              <a:gd name="adj" fmla="val 6015"/>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29" name="Shape 21"/>
          <p:cNvSpPr/>
          <p:nvPr/>
        </p:nvSpPr>
        <p:spPr>
          <a:xfrm>
            <a:off x="9445752" y="2011680"/>
            <a:ext cx="640080" cy="640080"/>
          </a:xfrm>
          <a:prstGeom prst="ellipse">
            <a:avLst/>
          </a:prstGeom>
          <a:solidFill>
            <a:srgbClr val="C9E265"/>
          </a:solidFill>
          <a:ln w="12700">
            <a:solidFill>
              <a:srgbClr val="C9E265"/>
            </a:solidFill>
            <a:prstDash val="solid"/>
          </a:ln>
        </p:spPr>
        <p:txBody>
          <a:bodyPr/>
          <a:lstStyle/>
          <a:p>
            <a:endParaRPr lang="en-US"/>
          </a:p>
        </p:txBody>
      </p:sp>
      <p:pic>
        <p:nvPicPr>
          <p:cNvPr id="30" name="Image 6" descr="preencoded.png"/>
          <p:cNvPicPr>
            <a:picLocks noChangeAspect="1"/>
          </p:cNvPicPr>
          <p:nvPr/>
        </p:nvPicPr>
        <p:blipFill>
          <a:blip r:embed="rId7"/>
          <a:stretch>
            <a:fillRect/>
          </a:stretch>
        </p:blipFill>
        <p:spPr>
          <a:xfrm>
            <a:off x="9605772" y="2171700"/>
            <a:ext cx="320040" cy="320040"/>
          </a:xfrm>
          <a:prstGeom prst="rect">
            <a:avLst/>
          </a:prstGeom>
        </p:spPr>
      </p:pic>
      <p:sp>
        <p:nvSpPr>
          <p:cNvPr id="31" name="Text 22"/>
          <p:cNvSpPr txBox="1"/>
          <p:nvPr/>
        </p:nvSpPr>
        <p:spPr>
          <a:xfrm>
            <a:off x="11009376" y="1965960"/>
            <a:ext cx="411480" cy="457200"/>
          </a:xfrm>
          <a:prstGeom prst="rect">
            <a:avLst/>
          </a:prstGeom>
          <a:noFill/>
          <a:ln/>
        </p:spPr>
        <p:txBody>
          <a:bodyPr wrap="square" lIns="0" tIns="0" rIns="0" bIns="0" rtlCol="0" anchor="t"/>
          <a:lstStyle/>
          <a:p>
            <a:pPr marL="0" indent="0" algn="r">
              <a:buNone/>
            </a:pPr>
            <a:r>
              <a:rPr lang="en-US" sz="3000" b="1" dirty="0">
                <a:solidFill>
                  <a:srgbClr val="E3EFE4"/>
                </a:solidFill>
                <a:latin typeface="Cambria" pitchFamily="34" charset="0"/>
                <a:ea typeface="Cambria" pitchFamily="34" charset="-122"/>
                <a:cs typeface="Cambria" pitchFamily="34" charset="-120"/>
              </a:rPr>
              <a:t>4</a:t>
            </a:r>
            <a:endParaRPr lang="en-US" sz="3000" dirty="0"/>
          </a:p>
        </p:txBody>
      </p:sp>
      <p:sp>
        <p:nvSpPr>
          <p:cNvPr id="32" name="Text 23"/>
          <p:cNvSpPr txBox="1"/>
          <p:nvPr/>
        </p:nvSpPr>
        <p:spPr>
          <a:xfrm>
            <a:off x="9445752" y="2788920"/>
            <a:ext cx="1975104" cy="594360"/>
          </a:xfrm>
          <a:prstGeom prst="rect">
            <a:avLst/>
          </a:prstGeom>
          <a:noFill/>
          <a:ln/>
        </p:spPr>
        <p:txBody>
          <a:bodyPr wrap="square" lIns="0" tIns="0" rIns="0" bIns="0" rtlCol="0" anchor="t"/>
          <a:lstStyle/>
          <a:p>
            <a:pPr marL="0" indent="0">
              <a:buNone/>
            </a:pPr>
            <a:r>
              <a:rPr lang="en-US" sz="1900" b="1" dirty="0">
                <a:solidFill>
                  <a:srgbClr val="143528"/>
                </a:solidFill>
                <a:latin typeface="Cambria" pitchFamily="34" charset="0"/>
                <a:ea typeface="Cambria" pitchFamily="34" charset="-122"/>
                <a:cs typeface="Cambria" pitchFamily="34" charset="-120"/>
              </a:rPr>
              <a:t>Practical guidance</a:t>
            </a:r>
            <a:endParaRPr lang="en-US" sz="1900" dirty="0"/>
          </a:p>
        </p:txBody>
      </p:sp>
      <p:sp>
        <p:nvSpPr>
          <p:cNvPr id="33" name="Text 24"/>
          <p:cNvSpPr txBox="1"/>
          <p:nvPr/>
        </p:nvSpPr>
        <p:spPr>
          <a:xfrm>
            <a:off x="9445752" y="3429000"/>
            <a:ext cx="1975104" cy="868680"/>
          </a:xfrm>
          <a:prstGeom prst="rect">
            <a:avLst/>
          </a:prstGeom>
          <a:noFill/>
          <a:ln/>
        </p:spPr>
        <p:txBody>
          <a:bodyPr wrap="square" lIns="0" tIns="0" rIns="0" bIns="0" rtlCol="0" anchor="t"/>
          <a:lstStyle/>
          <a:p>
            <a:pPr marL="0" indent="0">
              <a:buNone/>
            </a:pPr>
            <a:r>
              <a:rPr lang="en-US" sz="1400" dirty="0">
                <a:solidFill>
                  <a:srgbClr val="5B6B62"/>
                </a:solidFill>
                <a:latin typeface="Calibri" pitchFamily="34" charset="0"/>
                <a:ea typeface="Calibri" pitchFamily="34" charset="-122"/>
                <a:cs typeface="Calibri" pitchFamily="34" charset="-120"/>
              </a:rPr>
              <a:t>Expert-reviewed advice in plain Bengali</a:t>
            </a:r>
            <a:endParaRPr lang="en-US" sz="1400" dirty="0"/>
          </a:p>
        </p:txBody>
      </p:sp>
      <p:sp>
        <p:nvSpPr>
          <p:cNvPr id="34" name="Shape 25"/>
          <p:cNvSpPr/>
          <p:nvPr/>
        </p:nvSpPr>
        <p:spPr>
          <a:xfrm>
            <a:off x="548640" y="4617720"/>
            <a:ext cx="11091672" cy="1097280"/>
          </a:xfrm>
          <a:prstGeom prst="roundRect">
            <a:avLst>
              <a:gd name="adj" fmla="val 15000"/>
            </a:avLst>
          </a:prstGeom>
          <a:solidFill>
            <a:srgbClr val="143528"/>
          </a:solidFill>
          <a:ln w="12700">
            <a:solidFill>
              <a:srgbClr val="143528"/>
            </a:solidFill>
            <a:prstDash val="solid"/>
          </a:ln>
        </p:spPr>
        <p:txBody>
          <a:bodyPr/>
          <a:lstStyle/>
          <a:p>
            <a:endParaRPr lang="en-US"/>
          </a:p>
        </p:txBody>
      </p:sp>
      <p:sp>
        <p:nvSpPr>
          <p:cNvPr id="35" name="Text 26"/>
          <p:cNvSpPr txBox="1"/>
          <p:nvPr/>
        </p:nvSpPr>
        <p:spPr>
          <a:xfrm>
            <a:off x="868680" y="4617720"/>
            <a:ext cx="5120640" cy="1097280"/>
          </a:xfrm>
          <a:prstGeom prst="rect">
            <a:avLst/>
          </a:prstGeom>
          <a:noFill/>
          <a:ln/>
        </p:spPr>
        <p:txBody>
          <a:bodyPr wrap="square" lIns="0" tIns="0" rIns="0" bIns="0" rtlCol="0" anchor="ctr"/>
          <a:lstStyle/>
          <a:p>
            <a:pPr marL="0" indent="0">
              <a:buNone/>
            </a:pPr>
            <a:r>
              <a:rPr lang="en-US" sz="3200" b="1" i="1" dirty="0">
                <a:solidFill>
                  <a:srgbClr val="C9E265"/>
                </a:solidFill>
                <a:latin typeface="Cambria" pitchFamily="34" charset="0"/>
                <a:ea typeface="Cambria" pitchFamily="34" charset="-122"/>
                <a:cs typeface="Cambria" pitchFamily="34" charset="-120"/>
              </a:rPr>
              <a:t>“What should I do next?”</a:t>
            </a:r>
            <a:endParaRPr lang="en-US" sz="3200" dirty="0"/>
          </a:p>
        </p:txBody>
      </p:sp>
      <p:sp>
        <p:nvSpPr>
          <p:cNvPr id="36" name="Text 27"/>
          <p:cNvSpPr txBox="1"/>
          <p:nvPr/>
        </p:nvSpPr>
        <p:spPr>
          <a:xfrm>
            <a:off x="6035040" y="4617720"/>
            <a:ext cx="5303520" cy="109728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The farmer's real question. Krishan AI is designed to answer it with evidence, honesty about uncertainty, and a practical action.</a:t>
            </a:r>
            <a:endParaRPr lang="en-US" sz="1600" dirty="0"/>
          </a:p>
        </p:txBody>
      </p:sp>
      <p:sp>
        <p:nvSpPr>
          <p:cNvPr id="37" name="Text 28"/>
          <p:cNvSpPr txBox="1"/>
          <p:nvPr/>
        </p:nvSpPr>
        <p:spPr>
          <a:xfrm>
            <a:off x="548640" y="5897880"/>
            <a:ext cx="1554480" cy="320040"/>
          </a:xfrm>
          <a:prstGeom prst="rect">
            <a:avLst/>
          </a:prstGeom>
          <a:noFill/>
          <a:ln/>
        </p:spPr>
        <p:txBody>
          <a:bodyPr wrap="square" lIns="0" tIns="0" rIns="0" bIns="0" rtlCol="0" anchor="ctr"/>
          <a:lstStyle/>
          <a:p>
            <a:pPr marL="0" indent="0">
              <a:buNone/>
            </a:pPr>
            <a:r>
              <a:rPr lang="en-US" sz="1100" b="1" kern="0" spc="200" dirty="0">
                <a:solidFill>
                  <a:srgbClr val="2E8B87"/>
                </a:solidFill>
                <a:latin typeface="Calibri" pitchFamily="34" charset="0"/>
                <a:ea typeface="Calibri" pitchFamily="34" charset="-122"/>
                <a:cs typeface="Calibri" pitchFamily="34" charset="-120"/>
              </a:rPr>
              <a:t>PROPOSED SCOPE</a:t>
            </a:r>
            <a:endParaRPr lang="en-US" sz="1100" dirty="0"/>
          </a:p>
        </p:txBody>
      </p:sp>
      <p:sp>
        <p:nvSpPr>
          <p:cNvPr id="38" name="Shape 29"/>
          <p:cNvSpPr/>
          <p:nvPr/>
        </p:nvSpPr>
        <p:spPr>
          <a:xfrm>
            <a:off x="2103120" y="5897880"/>
            <a:ext cx="2148840" cy="320040"/>
          </a:xfrm>
          <a:prstGeom prst="roundRect">
            <a:avLst>
              <a:gd name="adj" fmla="val 48571"/>
            </a:avLst>
          </a:prstGeom>
          <a:solidFill>
            <a:srgbClr val="E3EFE4"/>
          </a:solidFill>
          <a:ln w="12700">
            <a:solidFill>
              <a:srgbClr val="E3EFE4"/>
            </a:solidFill>
            <a:prstDash val="solid"/>
          </a:ln>
        </p:spPr>
        <p:txBody>
          <a:bodyPr/>
          <a:lstStyle/>
          <a:p>
            <a:endParaRPr lang="en-US"/>
          </a:p>
        </p:txBody>
      </p:sp>
      <p:sp>
        <p:nvSpPr>
          <p:cNvPr id="39" name="Text 30"/>
          <p:cNvSpPr txBox="1"/>
          <p:nvPr/>
        </p:nvSpPr>
        <p:spPr>
          <a:xfrm>
            <a:off x="2103120" y="5897880"/>
            <a:ext cx="2148840" cy="320040"/>
          </a:xfrm>
          <a:prstGeom prst="rect">
            <a:avLst/>
          </a:prstGeom>
          <a:noFill/>
          <a:ln/>
        </p:spPr>
        <p:txBody>
          <a:bodyPr wrap="square" lIns="0" tIns="0" rIns="0" bIns="0" rtlCol="0" anchor="ctr"/>
          <a:lstStyle/>
          <a:p>
            <a:pPr marL="0" indent="0" algn="ctr">
              <a:buNone/>
            </a:pPr>
            <a:r>
              <a:rPr lang="en-US" sz="1200" b="1" dirty="0">
                <a:solidFill>
                  <a:srgbClr val="143528"/>
                </a:solidFill>
                <a:latin typeface="Calibri" pitchFamily="34" charset="0"/>
                <a:ea typeface="Calibri" pitchFamily="34" charset="-122"/>
                <a:cs typeface="Calibri" pitchFamily="34" charset="-120"/>
              </a:rPr>
              <a:t>Flooding &amp; waterlogging</a:t>
            </a:r>
            <a:endParaRPr lang="en-US" sz="1200" dirty="0"/>
          </a:p>
        </p:txBody>
      </p:sp>
      <p:sp>
        <p:nvSpPr>
          <p:cNvPr id="40" name="Shape 31"/>
          <p:cNvSpPr/>
          <p:nvPr/>
        </p:nvSpPr>
        <p:spPr>
          <a:xfrm>
            <a:off x="4361688" y="5897880"/>
            <a:ext cx="1097280" cy="320040"/>
          </a:xfrm>
          <a:prstGeom prst="roundRect">
            <a:avLst>
              <a:gd name="adj" fmla="val 48571"/>
            </a:avLst>
          </a:prstGeom>
          <a:solidFill>
            <a:srgbClr val="E3EFE4"/>
          </a:solidFill>
          <a:ln w="12700">
            <a:solidFill>
              <a:srgbClr val="E3EFE4"/>
            </a:solidFill>
            <a:prstDash val="solid"/>
          </a:ln>
        </p:spPr>
        <p:txBody>
          <a:bodyPr/>
          <a:lstStyle/>
          <a:p>
            <a:endParaRPr lang="en-US"/>
          </a:p>
        </p:txBody>
      </p:sp>
      <p:sp>
        <p:nvSpPr>
          <p:cNvPr id="41" name="Text 32"/>
          <p:cNvSpPr txBox="1"/>
          <p:nvPr/>
        </p:nvSpPr>
        <p:spPr>
          <a:xfrm>
            <a:off x="4361688" y="5897880"/>
            <a:ext cx="1097280" cy="320040"/>
          </a:xfrm>
          <a:prstGeom prst="rect">
            <a:avLst/>
          </a:prstGeom>
          <a:noFill/>
          <a:ln/>
        </p:spPr>
        <p:txBody>
          <a:bodyPr wrap="square" lIns="0" tIns="0" rIns="0" bIns="0" rtlCol="0" anchor="ctr"/>
          <a:lstStyle/>
          <a:p>
            <a:pPr marL="0" indent="0" algn="ctr">
              <a:buNone/>
            </a:pPr>
            <a:r>
              <a:rPr lang="en-US" sz="1200" b="1" dirty="0">
                <a:solidFill>
                  <a:srgbClr val="143528"/>
                </a:solidFill>
                <a:latin typeface="Calibri" pitchFamily="34" charset="0"/>
                <a:ea typeface="Calibri" pitchFamily="34" charset="-122"/>
                <a:cs typeface="Calibri" pitchFamily="34" charset="-120"/>
              </a:rPr>
              <a:t>Salinity</a:t>
            </a:r>
            <a:endParaRPr lang="en-US" sz="1200" dirty="0"/>
          </a:p>
        </p:txBody>
      </p:sp>
      <p:sp>
        <p:nvSpPr>
          <p:cNvPr id="42" name="Shape 33"/>
          <p:cNvSpPr/>
          <p:nvPr/>
        </p:nvSpPr>
        <p:spPr>
          <a:xfrm>
            <a:off x="5568696" y="5897880"/>
            <a:ext cx="2011680" cy="320040"/>
          </a:xfrm>
          <a:prstGeom prst="roundRect">
            <a:avLst>
              <a:gd name="adj" fmla="val 48571"/>
            </a:avLst>
          </a:prstGeom>
          <a:solidFill>
            <a:srgbClr val="E3EFE4"/>
          </a:solidFill>
          <a:ln w="12700">
            <a:solidFill>
              <a:srgbClr val="E3EFE4"/>
            </a:solidFill>
            <a:prstDash val="solid"/>
          </a:ln>
        </p:spPr>
        <p:txBody>
          <a:bodyPr/>
          <a:lstStyle/>
          <a:p>
            <a:endParaRPr lang="en-US"/>
          </a:p>
        </p:txBody>
      </p:sp>
      <p:sp>
        <p:nvSpPr>
          <p:cNvPr id="43" name="Text 34"/>
          <p:cNvSpPr txBox="1"/>
          <p:nvPr/>
        </p:nvSpPr>
        <p:spPr>
          <a:xfrm>
            <a:off x="5568696" y="5897880"/>
            <a:ext cx="2011680" cy="320040"/>
          </a:xfrm>
          <a:prstGeom prst="rect">
            <a:avLst/>
          </a:prstGeom>
          <a:noFill/>
          <a:ln/>
        </p:spPr>
        <p:txBody>
          <a:bodyPr wrap="square" lIns="0" tIns="0" rIns="0" bIns="0" rtlCol="0" anchor="ctr"/>
          <a:lstStyle/>
          <a:p>
            <a:pPr marL="0" indent="0" algn="ctr">
              <a:buNone/>
            </a:pPr>
            <a:r>
              <a:rPr lang="en-US" sz="1200" b="1" dirty="0">
                <a:solidFill>
                  <a:srgbClr val="143528"/>
                </a:solidFill>
                <a:latin typeface="Calibri" pitchFamily="34" charset="0"/>
                <a:ea typeface="Calibri" pitchFamily="34" charset="-122"/>
                <a:cs typeface="Calibri" pitchFamily="34" charset="-120"/>
              </a:rPr>
              <a:t>Drought &amp; water stress</a:t>
            </a:r>
            <a:endParaRPr lang="en-US" sz="1200" dirty="0"/>
          </a:p>
        </p:txBody>
      </p:sp>
      <p:sp>
        <p:nvSpPr>
          <p:cNvPr id="44" name="Shape 35"/>
          <p:cNvSpPr/>
          <p:nvPr/>
        </p:nvSpPr>
        <p:spPr>
          <a:xfrm>
            <a:off x="7690104" y="5897880"/>
            <a:ext cx="1783080" cy="320040"/>
          </a:xfrm>
          <a:prstGeom prst="roundRect">
            <a:avLst>
              <a:gd name="adj" fmla="val 48571"/>
            </a:avLst>
          </a:prstGeom>
          <a:solidFill>
            <a:srgbClr val="E3EFE4"/>
          </a:solidFill>
          <a:ln w="12700">
            <a:solidFill>
              <a:srgbClr val="E3EFE4"/>
            </a:solidFill>
            <a:prstDash val="solid"/>
          </a:ln>
        </p:spPr>
        <p:txBody>
          <a:bodyPr/>
          <a:lstStyle/>
          <a:p>
            <a:endParaRPr lang="en-US"/>
          </a:p>
        </p:txBody>
      </p:sp>
      <p:sp>
        <p:nvSpPr>
          <p:cNvPr id="45" name="Text 36"/>
          <p:cNvSpPr txBox="1"/>
          <p:nvPr/>
        </p:nvSpPr>
        <p:spPr>
          <a:xfrm>
            <a:off x="7690104" y="5897880"/>
            <a:ext cx="1783080" cy="320040"/>
          </a:xfrm>
          <a:prstGeom prst="rect">
            <a:avLst/>
          </a:prstGeom>
          <a:noFill/>
          <a:ln/>
        </p:spPr>
        <p:txBody>
          <a:bodyPr wrap="square" lIns="0" tIns="0" rIns="0" bIns="0" rtlCol="0" anchor="ctr"/>
          <a:lstStyle/>
          <a:p>
            <a:pPr marL="0" indent="0" algn="ctr">
              <a:buNone/>
            </a:pPr>
            <a:r>
              <a:rPr lang="en-US" sz="1200" b="1" dirty="0">
                <a:solidFill>
                  <a:srgbClr val="143528"/>
                </a:solidFill>
                <a:latin typeface="Calibri" pitchFamily="34" charset="0"/>
                <a:ea typeface="Calibri" pitchFamily="34" charset="-122"/>
                <a:cs typeface="Calibri" pitchFamily="34" charset="-120"/>
              </a:rPr>
              <a:t>Weather–crop risk</a:t>
            </a:r>
            <a:endParaRPr lang="en-US" sz="1200" dirty="0"/>
          </a:p>
        </p:txBody>
      </p:sp>
      <p:sp>
        <p:nvSpPr>
          <p:cNvPr id="46" name="Shape 37"/>
          <p:cNvSpPr/>
          <p:nvPr/>
        </p:nvSpPr>
        <p:spPr>
          <a:xfrm>
            <a:off x="9582912" y="5897880"/>
            <a:ext cx="1965960" cy="320040"/>
          </a:xfrm>
          <a:prstGeom prst="roundRect">
            <a:avLst>
              <a:gd name="adj" fmla="val 48571"/>
            </a:avLst>
          </a:prstGeom>
          <a:solidFill>
            <a:srgbClr val="E3EFE4"/>
          </a:solidFill>
          <a:ln w="12700">
            <a:solidFill>
              <a:srgbClr val="E3EFE4"/>
            </a:solidFill>
            <a:prstDash val="solid"/>
          </a:ln>
        </p:spPr>
        <p:txBody>
          <a:bodyPr/>
          <a:lstStyle/>
          <a:p>
            <a:endParaRPr lang="en-US"/>
          </a:p>
        </p:txBody>
      </p:sp>
      <p:sp>
        <p:nvSpPr>
          <p:cNvPr id="47" name="Text 38"/>
          <p:cNvSpPr txBox="1"/>
          <p:nvPr/>
        </p:nvSpPr>
        <p:spPr>
          <a:xfrm>
            <a:off x="9582912" y="5897880"/>
            <a:ext cx="1965960" cy="320040"/>
          </a:xfrm>
          <a:prstGeom prst="rect">
            <a:avLst/>
          </a:prstGeom>
          <a:noFill/>
          <a:ln/>
        </p:spPr>
        <p:txBody>
          <a:bodyPr wrap="square" lIns="0" tIns="0" rIns="0" bIns="0" rtlCol="0" anchor="ctr"/>
          <a:lstStyle/>
          <a:p>
            <a:pPr marL="0" indent="0" algn="ctr">
              <a:buNone/>
            </a:pPr>
            <a:r>
              <a:rPr lang="en-US" sz="1200" b="1" dirty="0">
                <a:solidFill>
                  <a:srgbClr val="143528"/>
                </a:solidFill>
                <a:latin typeface="Calibri" pitchFamily="34" charset="0"/>
                <a:ea typeface="Calibri" pitchFamily="34" charset="-122"/>
                <a:cs typeface="Calibri" pitchFamily="34" charset="-120"/>
              </a:rPr>
              <a:t>More, as data permits</a:t>
            </a:r>
            <a:endParaRPr lang="en-US" sz="1200" dirty="0"/>
          </a:p>
        </p:txBody>
      </p:sp>
      <p:sp>
        <p:nvSpPr>
          <p:cNvPr id="48" name="Shape 39"/>
          <p:cNvSpPr/>
          <p:nvPr/>
        </p:nvSpPr>
        <p:spPr>
          <a:xfrm>
            <a:off x="548640" y="6336792"/>
            <a:ext cx="310896" cy="310896"/>
          </a:xfrm>
          <a:prstGeom prst="ellipse">
            <a:avLst/>
          </a:prstGeom>
          <a:solidFill>
            <a:srgbClr val="245C43"/>
          </a:solidFill>
          <a:ln w="12700">
            <a:solidFill>
              <a:srgbClr val="245C43"/>
            </a:solidFill>
            <a:prstDash val="solid"/>
          </a:ln>
        </p:spPr>
        <p:txBody>
          <a:bodyPr/>
          <a:lstStyle/>
          <a:p>
            <a:endParaRPr lang="en-US"/>
          </a:p>
        </p:txBody>
      </p:sp>
      <p:pic>
        <p:nvPicPr>
          <p:cNvPr id="49" name="Image 7" descr="preencoded.png"/>
          <p:cNvPicPr>
            <a:picLocks noChangeAspect="1"/>
          </p:cNvPicPr>
          <p:nvPr/>
        </p:nvPicPr>
        <p:blipFill>
          <a:blip r:embed="rId8"/>
          <a:stretch>
            <a:fillRect/>
          </a:stretch>
        </p:blipFill>
        <p:spPr>
          <a:xfrm>
            <a:off x="626364" y="6414516"/>
            <a:ext cx="155448" cy="155448"/>
          </a:xfrm>
          <a:prstGeom prst="rect">
            <a:avLst/>
          </a:prstGeom>
        </p:spPr>
      </p:pic>
      <p:sp>
        <p:nvSpPr>
          <p:cNvPr id="50" name="Text 40"/>
          <p:cNvSpPr txBox="1"/>
          <p:nvPr/>
        </p:nvSpPr>
        <p:spPr>
          <a:xfrm>
            <a:off x="960120" y="6364224"/>
            <a:ext cx="2743200" cy="274320"/>
          </a:xfrm>
          <a:prstGeom prst="rect">
            <a:avLst/>
          </a:prstGeom>
          <a:noFill/>
          <a:ln/>
        </p:spPr>
        <p:txBody>
          <a:bodyPr wrap="square" lIns="0" tIns="0" rIns="0" bIns="0" rtlCol="0" anchor="t"/>
          <a:lstStyle/>
          <a:p>
            <a:pPr marL="0" indent="0">
              <a:buNone/>
            </a:pPr>
            <a:r>
              <a:rPr lang="en-US" sz="1200" b="1" dirty="0">
                <a:solidFill>
                  <a:srgbClr val="5B6B62"/>
                </a:solidFill>
                <a:latin typeface="Calibri" pitchFamily="34" charset="0"/>
                <a:ea typeface="Calibri" pitchFamily="34" charset="-122"/>
                <a:cs typeface="Calibri" pitchFamily="34" charset="-120"/>
              </a:rPr>
              <a:t>Krishan AI</a:t>
            </a:r>
            <a:endParaRPr lang="en-US" sz="1200" dirty="0"/>
          </a:p>
        </p:txBody>
      </p:sp>
      <p:sp>
        <p:nvSpPr>
          <p:cNvPr id="51" name="Text 41"/>
          <p:cNvSpPr txBox="1"/>
          <p:nvPr/>
        </p:nvSpPr>
        <p:spPr>
          <a:xfrm>
            <a:off x="11185855" y="6364224"/>
            <a:ext cx="457200" cy="274320"/>
          </a:xfrm>
          <a:prstGeom prst="rect">
            <a:avLst/>
          </a:prstGeom>
          <a:noFill/>
          <a:ln/>
        </p:spPr>
        <p:txBody>
          <a:bodyPr wrap="square" lIns="0" tIns="0" rIns="0" bIns="0" rtlCol="0" anchor="t"/>
          <a:lstStyle/>
          <a:p>
            <a:pPr marL="0" indent="0" algn="r">
              <a:buNone/>
            </a:pPr>
            <a:r>
              <a:rPr lang="en-US" sz="1200" dirty="0">
                <a:solidFill>
                  <a:srgbClr val="5B6B62"/>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marL="0" indent="0">
              <a:buNone/>
            </a:pPr>
            <a:r>
              <a:rPr lang="en-US" sz="1300" b="1" kern="0" spc="300" dirty="0">
                <a:solidFill>
                  <a:srgbClr val="2E8B87"/>
                </a:solidFill>
                <a:latin typeface="Calibri" pitchFamily="34" charset="0"/>
                <a:ea typeface="Calibri" pitchFamily="34" charset="-122"/>
                <a:cs typeface="Calibri" pitchFamily="34" charset="-120"/>
              </a:rPr>
              <a:t>03  ·  HOW AI FITS IN</a:t>
            </a:r>
            <a:endParaRPr lang="en-US" sz="1300" dirty="0"/>
          </a:p>
        </p:txBody>
      </p:sp>
      <p:sp>
        <p:nvSpPr>
          <p:cNvPr id="3" name="Text 1"/>
          <p:cNvSpPr txBox="1"/>
          <p:nvPr/>
        </p:nvSpPr>
        <p:spPr>
          <a:xfrm>
            <a:off x="548640" y="777240"/>
            <a:ext cx="11064240" cy="731520"/>
          </a:xfrm>
          <a:prstGeom prst="rect">
            <a:avLst/>
          </a:prstGeom>
          <a:noFill/>
          <a:ln/>
        </p:spPr>
        <p:txBody>
          <a:bodyPr wrap="square" lIns="0" tIns="0" rIns="0" bIns="0" rtlCol="0" anchor="ctr"/>
          <a:lstStyle/>
          <a:p>
            <a:pPr marL="0" indent="0">
              <a:buNone/>
            </a:pPr>
            <a:r>
              <a:rPr lang="en-US" sz="3600" b="1" dirty="0">
                <a:solidFill>
                  <a:srgbClr val="143528"/>
                </a:solidFill>
                <a:latin typeface="Cambria" pitchFamily="34" charset="0"/>
                <a:ea typeface="Cambria" pitchFamily="34" charset="-122"/>
                <a:cs typeface="Cambria" pitchFamily="34" charset="-120"/>
              </a:rPr>
              <a:t>From data to decision, in three steps</a:t>
            </a:r>
            <a:endParaRPr lang="en-US" sz="3600" dirty="0"/>
          </a:p>
        </p:txBody>
      </p:sp>
      <p:sp>
        <p:nvSpPr>
          <p:cNvPr id="4" name="Shape 2"/>
          <p:cNvSpPr/>
          <p:nvPr/>
        </p:nvSpPr>
        <p:spPr>
          <a:xfrm>
            <a:off x="548640" y="1783080"/>
            <a:ext cx="3200400" cy="3383280"/>
          </a:xfrm>
          <a:prstGeom prst="roundRect">
            <a:avLst>
              <a:gd name="adj" fmla="val 4571"/>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5" name="Text 3"/>
          <p:cNvSpPr txBox="1"/>
          <p:nvPr/>
        </p:nvSpPr>
        <p:spPr>
          <a:xfrm>
            <a:off x="777240" y="1965960"/>
            <a:ext cx="2834640" cy="228600"/>
          </a:xfrm>
          <a:prstGeom prst="rect">
            <a:avLst/>
          </a:prstGeom>
          <a:noFill/>
          <a:ln/>
        </p:spPr>
        <p:txBody>
          <a:bodyPr wrap="square" lIns="0" tIns="0" rIns="0" bIns="0" rtlCol="0" anchor="t"/>
          <a:lstStyle/>
          <a:p>
            <a:pPr marL="0" indent="0">
              <a:buNone/>
            </a:pPr>
            <a:r>
              <a:rPr lang="en-US" sz="1100" b="1" kern="0" spc="200" dirty="0">
                <a:solidFill>
                  <a:srgbClr val="2E8B87"/>
                </a:solidFill>
                <a:latin typeface="Calibri" pitchFamily="34" charset="0"/>
                <a:ea typeface="Calibri" pitchFamily="34" charset="-122"/>
                <a:cs typeface="Calibri" pitchFamily="34" charset="-120"/>
              </a:rPr>
              <a:t>PROPOSED DATA SOURCES</a:t>
            </a:r>
            <a:endParaRPr lang="en-US" sz="1100" dirty="0"/>
          </a:p>
        </p:txBody>
      </p:sp>
      <p:sp>
        <p:nvSpPr>
          <p:cNvPr id="6" name="Text 4"/>
          <p:cNvSpPr txBox="1"/>
          <p:nvPr/>
        </p:nvSpPr>
        <p:spPr>
          <a:xfrm>
            <a:off x="777240" y="2212848"/>
            <a:ext cx="2834640" cy="228600"/>
          </a:xfrm>
          <a:prstGeom prst="rect">
            <a:avLst/>
          </a:prstGeom>
          <a:noFill/>
          <a:ln/>
        </p:spPr>
        <p:txBody>
          <a:bodyPr wrap="square" lIns="0" tIns="0" rIns="0" bIns="0" rtlCol="0" anchor="t"/>
          <a:lstStyle/>
          <a:p>
            <a:pPr marL="0" indent="0">
              <a:buNone/>
            </a:pPr>
            <a:r>
              <a:rPr lang="en-US" sz="1200" i="1" dirty="0">
                <a:solidFill>
                  <a:srgbClr val="5B6B62"/>
                </a:solidFill>
                <a:latin typeface="Calibri" pitchFamily="34" charset="0"/>
                <a:ea typeface="Calibri" pitchFamily="34" charset="-122"/>
                <a:cs typeface="Calibri" pitchFamily="34" charset="-120"/>
              </a:rPr>
              <a:t>Access still to be confirmed</a:t>
            </a:r>
            <a:endParaRPr lang="en-US" sz="1200" dirty="0"/>
          </a:p>
        </p:txBody>
      </p:sp>
      <p:sp>
        <p:nvSpPr>
          <p:cNvPr id="7" name="Shape 5"/>
          <p:cNvSpPr/>
          <p:nvPr/>
        </p:nvSpPr>
        <p:spPr>
          <a:xfrm>
            <a:off x="777240" y="2651760"/>
            <a:ext cx="457200" cy="457200"/>
          </a:xfrm>
          <a:prstGeom prst="ellipse">
            <a:avLst/>
          </a:prstGeom>
          <a:solidFill>
            <a:srgbClr val="E3EFE4"/>
          </a:solidFill>
          <a:ln w="12700">
            <a:solidFill>
              <a:srgbClr val="E3EFE4"/>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91540" y="2766060"/>
            <a:ext cx="228600" cy="228600"/>
          </a:xfrm>
          <a:prstGeom prst="rect">
            <a:avLst/>
          </a:prstGeom>
        </p:spPr>
      </p:pic>
      <p:sp>
        <p:nvSpPr>
          <p:cNvPr id="9" name="Text 6"/>
          <p:cNvSpPr txBox="1"/>
          <p:nvPr/>
        </p:nvSpPr>
        <p:spPr>
          <a:xfrm>
            <a:off x="1371600" y="2651760"/>
            <a:ext cx="2194560" cy="457200"/>
          </a:xfrm>
          <a:prstGeom prst="rect">
            <a:avLst/>
          </a:prstGeom>
          <a:noFill/>
          <a:ln/>
        </p:spPr>
        <p:txBody>
          <a:bodyPr wrap="square" lIns="0" tIns="0" rIns="0" bIns="0" rtlCol="0" anchor="ctr"/>
          <a:lstStyle/>
          <a:p>
            <a:pPr marL="0" indent="0">
              <a:buNone/>
            </a:pPr>
            <a:r>
              <a:rPr lang="en-US" sz="1500" b="1" dirty="0">
                <a:solidFill>
                  <a:srgbClr val="24302A"/>
                </a:solidFill>
                <a:latin typeface="Calibri" pitchFamily="34" charset="0"/>
                <a:ea typeface="Calibri" pitchFamily="34" charset="-122"/>
                <a:cs typeface="Calibri" pitchFamily="34" charset="-120"/>
              </a:rPr>
              <a:t>Satellite imagery</a:t>
            </a:r>
            <a:endParaRPr lang="en-US" sz="1500" dirty="0"/>
          </a:p>
        </p:txBody>
      </p:sp>
      <p:sp>
        <p:nvSpPr>
          <p:cNvPr id="10" name="Shape 7"/>
          <p:cNvSpPr/>
          <p:nvPr/>
        </p:nvSpPr>
        <p:spPr>
          <a:xfrm>
            <a:off x="777240" y="3310128"/>
            <a:ext cx="457200" cy="457200"/>
          </a:xfrm>
          <a:prstGeom prst="ellipse">
            <a:avLst/>
          </a:prstGeom>
          <a:solidFill>
            <a:srgbClr val="E3EFE4"/>
          </a:solidFill>
          <a:ln w="12700">
            <a:solidFill>
              <a:srgbClr val="E3EFE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91540" y="3424428"/>
            <a:ext cx="228600" cy="228600"/>
          </a:xfrm>
          <a:prstGeom prst="rect">
            <a:avLst/>
          </a:prstGeom>
        </p:spPr>
      </p:pic>
      <p:sp>
        <p:nvSpPr>
          <p:cNvPr id="12" name="Text 8"/>
          <p:cNvSpPr txBox="1"/>
          <p:nvPr/>
        </p:nvSpPr>
        <p:spPr>
          <a:xfrm>
            <a:off x="1371600" y="3310128"/>
            <a:ext cx="2194560" cy="457200"/>
          </a:xfrm>
          <a:prstGeom prst="rect">
            <a:avLst/>
          </a:prstGeom>
          <a:noFill/>
          <a:ln/>
        </p:spPr>
        <p:txBody>
          <a:bodyPr wrap="square" lIns="0" tIns="0" rIns="0" bIns="0" rtlCol="0" anchor="ctr"/>
          <a:lstStyle/>
          <a:p>
            <a:pPr marL="0" indent="0">
              <a:buNone/>
            </a:pPr>
            <a:r>
              <a:rPr lang="en-US" sz="1500" b="1" dirty="0">
                <a:solidFill>
                  <a:srgbClr val="24302A"/>
                </a:solidFill>
                <a:latin typeface="Calibri" pitchFamily="34" charset="0"/>
                <a:ea typeface="Calibri" pitchFamily="34" charset="-122"/>
                <a:cs typeface="Calibri" pitchFamily="34" charset="-120"/>
              </a:rPr>
              <a:t>Weather &amp; climate data</a:t>
            </a:r>
            <a:endParaRPr lang="en-US" sz="1500" dirty="0"/>
          </a:p>
        </p:txBody>
      </p:sp>
      <p:sp>
        <p:nvSpPr>
          <p:cNvPr id="13" name="Shape 9"/>
          <p:cNvSpPr/>
          <p:nvPr/>
        </p:nvSpPr>
        <p:spPr>
          <a:xfrm>
            <a:off x="777240" y="3968496"/>
            <a:ext cx="457200" cy="457200"/>
          </a:xfrm>
          <a:prstGeom prst="ellipse">
            <a:avLst/>
          </a:prstGeom>
          <a:solidFill>
            <a:srgbClr val="E3EFE4"/>
          </a:solidFill>
          <a:ln w="12700">
            <a:solidFill>
              <a:srgbClr val="E3EFE4"/>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891540" y="4082796"/>
            <a:ext cx="228600" cy="228600"/>
          </a:xfrm>
          <a:prstGeom prst="rect">
            <a:avLst/>
          </a:prstGeom>
        </p:spPr>
      </p:pic>
      <p:sp>
        <p:nvSpPr>
          <p:cNvPr id="15" name="Text 10"/>
          <p:cNvSpPr txBox="1"/>
          <p:nvPr/>
        </p:nvSpPr>
        <p:spPr>
          <a:xfrm>
            <a:off x="1371600" y="3968496"/>
            <a:ext cx="2194560" cy="457200"/>
          </a:xfrm>
          <a:prstGeom prst="rect">
            <a:avLst/>
          </a:prstGeom>
          <a:noFill/>
          <a:ln/>
        </p:spPr>
        <p:txBody>
          <a:bodyPr wrap="square" lIns="0" tIns="0" rIns="0" bIns="0" rtlCol="0" anchor="ctr"/>
          <a:lstStyle/>
          <a:p>
            <a:pPr marL="0" indent="0">
              <a:buNone/>
            </a:pPr>
            <a:r>
              <a:rPr lang="en-US" sz="1500" b="1" dirty="0">
                <a:solidFill>
                  <a:srgbClr val="24302A"/>
                </a:solidFill>
                <a:latin typeface="Calibri" pitchFamily="34" charset="0"/>
                <a:ea typeface="Calibri" pitchFamily="34" charset="-122"/>
                <a:cs typeface="Calibri" pitchFamily="34" charset="-120"/>
              </a:rPr>
              <a:t>Soil &amp; water readings</a:t>
            </a:r>
            <a:endParaRPr lang="en-US" sz="1500" dirty="0"/>
          </a:p>
        </p:txBody>
      </p:sp>
      <p:sp>
        <p:nvSpPr>
          <p:cNvPr id="16" name="Shape 11"/>
          <p:cNvSpPr/>
          <p:nvPr/>
        </p:nvSpPr>
        <p:spPr>
          <a:xfrm>
            <a:off x="777240" y="4626864"/>
            <a:ext cx="457200" cy="457200"/>
          </a:xfrm>
          <a:prstGeom prst="ellipse">
            <a:avLst/>
          </a:prstGeom>
          <a:solidFill>
            <a:srgbClr val="E3EFE4"/>
          </a:solidFill>
          <a:ln w="12700">
            <a:solidFill>
              <a:srgbClr val="E3EFE4"/>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891540" y="4741164"/>
            <a:ext cx="228600" cy="228600"/>
          </a:xfrm>
          <a:prstGeom prst="rect">
            <a:avLst/>
          </a:prstGeom>
        </p:spPr>
      </p:pic>
      <p:sp>
        <p:nvSpPr>
          <p:cNvPr id="18" name="Text 12"/>
          <p:cNvSpPr txBox="1"/>
          <p:nvPr/>
        </p:nvSpPr>
        <p:spPr>
          <a:xfrm>
            <a:off x="1371600" y="4626864"/>
            <a:ext cx="2194560" cy="457200"/>
          </a:xfrm>
          <a:prstGeom prst="rect">
            <a:avLst/>
          </a:prstGeom>
          <a:noFill/>
          <a:ln/>
        </p:spPr>
        <p:txBody>
          <a:bodyPr wrap="square" lIns="0" tIns="0" rIns="0" bIns="0" rtlCol="0" anchor="ctr"/>
          <a:lstStyle/>
          <a:p>
            <a:pPr marL="0" indent="0">
              <a:buNone/>
            </a:pPr>
            <a:r>
              <a:rPr lang="en-US" sz="1500" b="1" dirty="0">
                <a:solidFill>
                  <a:srgbClr val="24302A"/>
                </a:solidFill>
                <a:latin typeface="Calibri" pitchFamily="34" charset="0"/>
                <a:ea typeface="Calibri" pitchFamily="34" charset="-122"/>
                <a:cs typeface="Calibri" pitchFamily="34" charset="-120"/>
              </a:rPr>
              <a:t>Crop &amp; farm records</a:t>
            </a:r>
            <a:endParaRPr lang="en-US" sz="1500" dirty="0"/>
          </a:p>
        </p:txBody>
      </p:sp>
      <p:pic>
        <p:nvPicPr>
          <p:cNvPr id="19" name="Image 4" descr="preencoded.png"/>
          <p:cNvPicPr>
            <a:picLocks noChangeAspect="1"/>
          </p:cNvPicPr>
          <p:nvPr/>
        </p:nvPicPr>
        <p:blipFill>
          <a:blip r:embed="rId7"/>
          <a:stretch>
            <a:fillRect/>
          </a:stretch>
        </p:blipFill>
        <p:spPr>
          <a:xfrm>
            <a:off x="3877056" y="3337560"/>
            <a:ext cx="274320" cy="274320"/>
          </a:xfrm>
          <a:prstGeom prst="rect">
            <a:avLst/>
          </a:prstGeom>
        </p:spPr>
      </p:pic>
      <p:sp>
        <p:nvSpPr>
          <p:cNvPr id="20" name="Shape 13"/>
          <p:cNvSpPr/>
          <p:nvPr/>
        </p:nvSpPr>
        <p:spPr>
          <a:xfrm>
            <a:off x="4279392" y="1783080"/>
            <a:ext cx="3657600" cy="3383280"/>
          </a:xfrm>
          <a:prstGeom prst="roundRect">
            <a:avLst>
              <a:gd name="adj" fmla="val 4324"/>
            </a:avLst>
          </a:prstGeom>
          <a:solidFill>
            <a:srgbClr val="143528"/>
          </a:solidFill>
          <a:ln w="12700">
            <a:solidFill>
              <a:srgbClr val="143528"/>
            </a:solidFill>
            <a:prstDash val="solid"/>
          </a:ln>
          <a:effectLst>
            <a:outerShdw blurRad="127000" dist="38100" dir="5400000" algn="bl" rotWithShape="0">
              <a:srgbClr val="000000">
                <a:alpha val="12000"/>
              </a:srgbClr>
            </a:outerShdw>
          </a:effectLst>
        </p:spPr>
        <p:txBody>
          <a:bodyPr/>
          <a:lstStyle/>
          <a:p>
            <a:endParaRPr lang="en-US"/>
          </a:p>
        </p:txBody>
      </p:sp>
      <p:sp>
        <p:nvSpPr>
          <p:cNvPr id="21" name="Text 14"/>
          <p:cNvSpPr txBox="1"/>
          <p:nvPr/>
        </p:nvSpPr>
        <p:spPr>
          <a:xfrm>
            <a:off x="4553712" y="1965960"/>
            <a:ext cx="3108960" cy="228600"/>
          </a:xfrm>
          <a:prstGeom prst="rect">
            <a:avLst/>
          </a:prstGeom>
          <a:noFill/>
          <a:ln/>
        </p:spPr>
        <p:txBody>
          <a:bodyPr wrap="square" lIns="0" tIns="0" rIns="0" bIns="0" rtlCol="0" anchor="t"/>
          <a:lstStyle/>
          <a:p>
            <a:pPr marL="0" indent="0">
              <a:buNone/>
            </a:pPr>
            <a:r>
              <a:rPr lang="en-US" sz="1100" b="1" kern="0" spc="200" dirty="0">
                <a:solidFill>
                  <a:srgbClr val="C9E265"/>
                </a:solidFill>
                <a:latin typeface="Calibri" pitchFamily="34" charset="0"/>
                <a:ea typeface="Calibri" pitchFamily="34" charset="-122"/>
                <a:cs typeface="Calibri" pitchFamily="34" charset="-120"/>
              </a:rPr>
              <a:t>THE AI LAYER</a:t>
            </a:r>
            <a:endParaRPr lang="en-US" sz="1100" dirty="0"/>
          </a:p>
        </p:txBody>
      </p:sp>
      <p:sp>
        <p:nvSpPr>
          <p:cNvPr id="22" name="Shape 15"/>
          <p:cNvSpPr/>
          <p:nvPr/>
        </p:nvSpPr>
        <p:spPr>
          <a:xfrm>
            <a:off x="4553712" y="2423160"/>
            <a:ext cx="457200" cy="457200"/>
          </a:xfrm>
          <a:prstGeom prst="ellipse">
            <a:avLst/>
          </a:prstGeom>
          <a:solidFill>
            <a:srgbClr val="C9E265"/>
          </a:solidFill>
          <a:ln w="12700">
            <a:solidFill>
              <a:srgbClr val="C9E265"/>
            </a:solidFill>
            <a:prstDash val="solid"/>
          </a:ln>
        </p:spPr>
        <p:txBody>
          <a:bodyPr/>
          <a:lstStyle/>
          <a:p>
            <a:endParaRPr lang="en-US"/>
          </a:p>
        </p:txBody>
      </p:sp>
      <p:sp>
        <p:nvSpPr>
          <p:cNvPr id="23" name="Text 16"/>
          <p:cNvSpPr txBox="1"/>
          <p:nvPr/>
        </p:nvSpPr>
        <p:spPr>
          <a:xfrm>
            <a:off x="4553712" y="2423160"/>
            <a:ext cx="457200" cy="457200"/>
          </a:xfrm>
          <a:prstGeom prst="rect">
            <a:avLst/>
          </a:prstGeom>
          <a:noFill/>
          <a:ln/>
        </p:spPr>
        <p:txBody>
          <a:bodyPr wrap="square" lIns="0" tIns="0" rIns="0" bIns="0" rtlCol="0" anchor="ctr"/>
          <a:lstStyle/>
          <a:p>
            <a:pPr marL="0" indent="0" algn="ctr">
              <a:buNone/>
            </a:pPr>
            <a:r>
              <a:rPr lang="en-US" sz="2000" b="1" dirty="0">
                <a:solidFill>
                  <a:srgbClr val="143528"/>
                </a:solidFill>
                <a:latin typeface="Cambria" pitchFamily="34" charset="0"/>
                <a:ea typeface="Cambria" pitchFamily="34" charset="-122"/>
                <a:cs typeface="Cambria" pitchFamily="34" charset="-120"/>
              </a:rPr>
              <a:t>1</a:t>
            </a:r>
            <a:endParaRPr lang="en-US" sz="2000" dirty="0"/>
          </a:p>
        </p:txBody>
      </p:sp>
      <p:sp>
        <p:nvSpPr>
          <p:cNvPr id="24" name="Text 17"/>
          <p:cNvSpPr txBox="1"/>
          <p:nvPr/>
        </p:nvSpPr>
        <p:spPr>
          <a:xfrm>
            <a:off x="5212080" y="2395728"/>
            <a:ext cx="2560320" cy="320040"/>
          </a:xfrm>
          <a:prstGeom prst="rect">
            <a:avLst/>
          </a:prstGeom>
          <a:noFill/>
          <a:ln/>
        </p:spPr>
        <p:txBody>
          <a:bodyPr wrap="square" lIns="0" tIns="0" rIns="0" bIns="0" rtlCol="0" anchor="t"/>
          <a:lstStyle/>
          <a:p>
            <a:pPr marL="0" indent="0">
              <a:buNone/>
            </a:pPr>
            <a:r>
              <a:rPr lang="en-US" sz="1900" b="1" dirty="0">
                <a:solidFill>
                  <a:srgbClr val="FFFFFF"/>
                </a:solidFill>
                <a:latin typeface="Cambria" pitchFamily="34" charset="0"/>
                <a:ea typeface="Cambria" pitchFamily="34" charset="-122"/>
                <a:cs typeface="Cambria" pitchFamily="34" charset="-120"/>
              </a:rPr>
              <a:t>Find patterns</a:t>
            </a:r>
            <a:endParaRPr lang="en-US" sz="1900" dirty="0"/>
          </a:p>
        </p:txBody>
      </p:sp>
      <p:sp>
        <p:nvSpPr>
          <p:cNvPr id="25" name="Text 18"/>
          <p:cNvSpPr txBox="1"/>
          <p:nvPr/>
        </p:nvSpPr>
        <p:spPr>
          <a:xfrm>
            <a:off x="5212080" y="2734056"/>
            <a:ext cx="2560320" cy="548640"/>
          </a:xfrm>
          <a:prstGeom prst="rect">
            <a:avLst/>
          </a:prstGeom>
          <a:noFill/>
          <a:ln/>
        </p:spPr>
        <p:txBody>
          <a:bodyPr wrap="square" lIns="0" tIns="0" rIns="0" bIns="0" rtlCol="0" anchor="t"/>
          <a:lstStyle/>
          <a:p>
            <a:pPr marL="0" indent="0">
              <a:buNone/>
            </a:pPr>
            <a:r>
              <a:rPr lang="en-US" sz="1300" dirty="0">
                <a:solidFill>
                  <a:srgbClr val="E3EFE4"/>
                </a:solidFill>
                <a:latin typeface="Calibri" pitchFamily="34" charset="0"/>
                <a:ea typeface="Calibri" pitchFamily="34" charset="-122"/>
                <a:cs typeface="Calibri" pitchFamily="34" charset="-120"/>
              </a:rPr>
              <a:t>Learn from historical and farm-context data</a:t>
            </a:r>
            <a:endParaRPr lang="en-US" sz="1300" dirty="0"/>
          </a:p>
        </p:txBody>
      </p:sp>
      <p:sp>
        <p:nvSpPr>
          <p:cNvPr id="26" name="Shape 19"/>
          <p:cNvSpPr/>
          <p:nvPr/>
        </p:nvSpPr>
        <p:spPr>
          <a:xfrm>
            <a:off x="4553712" y="3355848"/>
            <a:ext cx="457200" cy="457200"/>
          </a:xfrm>
          <a:prstGeom prst="ellipse">
            <a:avLst/>
          </a:prstGeom>
          <a:solidFill>
            <a:srgbClr val="C9E265"/>
          </a:solidFill>
          <a:ln w="12700">
            <a:solidFill>
              <a:srgbClr val="C9E265"/>
            </a:solidFill>
            <a:prstDash val="solid"/>
          </a:ln>
        </p:spPr>
        <p:txBody>
          <a:bodyPr/>
          <a:lstStyle/>
          <a:p>
            <a:endParaRPr lang="en-US"/>
          </a:p>
        </p:txBody>
      </p:sp>
      <p:sp>
        <p:nvSpPr>
          <p:cNvPr id="27" name="Text 20"/>
          <p:cNvSpPr txBox="1"/>
          <p:nvPr/>
        </p:nvSpPr>
        <p:spPr>
          <a:xfrm>
            <a:off x="4553712" y="3355848"/>
            <a:ext cx="457200" cy="457200"/>
          </a:xfrm>
          <a:prstGeom prst="rect">
            <a:avLst/>
          </a:prstGeom>
          <a:noFill/>
          <a:ln/>
        </p:spPr>
        <p:txBody>
          <a:bodyPr wrap="square" lIns="0" tIns="0" rIns="0" bIns="0" rtlCol="0" anchor="ctr"/>
          <a:lstStyle/>
          <a:p>
            <a:pPr marL="0" indent="0" algn="ctr">
              <a:buNone/>
            </a:pPr>
            <a:r>
              <a:rPr lang="en-US" sz="2000" b="1" dirty="0">
                <a:solidFill>
                  <a:srgbClr val="143528"/>
                </a:solidFill>
                <a:latin typeface="Cambria" pitchFamily="34" charset="0"/>
                <a:ea typeface="Cambria" pitchFamily="34" charset="-122"/>
                <a:cs typeface="Cambria" pitchFamily="34" charset="-120"/>
              </a:rPr>
              <a:t>2</a:t>
            </a:r>
            <a:endParaRPr lang="en-US" sz="2000" dirty="0"/>
          </a:p>
        </p:txBody>
      </p:sp>
      <p:sp>
        <p:nvSpPr>
          <p:cNvPr id="28" name="Text 21"/>
          <p:cNvSpPr txBox="1"/>
          <p:nvPr/>
        </p:nvSpPr>
        <p:spPr>
          <a:xfrm>
            <a:off x="5212080" y="3328416"/>
            <a:ext cx="2560320" cy="320040"/>
          </a:xfrm>
          <a:prstGeom prst="rect">
            <a:avLst/>
          </a:prstGeom>
          <a:noFill/>
          <a:ln/>
        </p:spPr>
        <p:txBody>
          <a:bodyPr wrap="square" lIns="0" tIns="0" rIns="0" bIns="0" rtlCol="0" anchor="t"/>
          <a:lstStyle/>
          <a:p>
            <a:pPr marL="0" indent="0">
              <a:buNone/>
            </a:pPr>
            <a:r>
              <a:rPr lang="en-US" sz="1900" b="1" dirty="0">
                <a:solidFill>
                  <a:srgbClr val="FFFFFF"/>
                </a:solidFill>
                <a:latin typeface="Cambria" pitchFamily="34" charset="0"/>
                <a:ea typeface="Cambria" pitchFamily="34" charset="-122"/>
                <a:cs typeface="Cambria" pitchFamily="34" charset="-120"/>
              </a:rPr>
              <a:t>Estimate risk</a:t>
            </a:r>
            <a:endParaRPr lang="en-US" sz="1900" dirty="0"/>
          </a:p>
        </p:txBody>
      </p:sp>
      <p:sp>
        <p:nvSpPr>
          <p:cNvPr id="29" name="Text 22"/>
          <p:cNvSpPr txBox="1"/>
          <p:nvPr/>
        </p:nvSpPr>
        <p:spPr>
          <a:xfrm>
            <a:off x="5212080" y="3666744"/>
            <a:ext cx="2560320" cy="548640"/>
          </a:xfrm>
          <a:prstGeom prst="rect">
            <a:avLst/>
          </a:prstGeom>
          <a:noFill/>
          <a:ln/>
        </p:spPr>
        <p:txBody>
          <a:bodyPr wrap="square" lIns="0" tIns="0" rIns="0" bIns="0" rtlCol="0" anchor="t"/>
          <a:lstStyle/>
          <a:p>
            <a:pPr marL="0" indent="0">
              <a:buNone/>
            </a:pPr>
            <a:r>
              <a:rPr lang="en-US" sz="1300" dirty="0">
                <a:solidFill>
                  <a:srgbClr val="E3EFE4"/>
                </a:solidFill>
                <a:latin typeface="Calibri" pitchFamily="34" charset="0"/>
                <a:ea typeface="Calibri" pitchFamily="34" charset="-122"/>
                <a:cs typeface="Calibri" pitchFamily="34" charset="-120"/>
              </a:rPr>
              <a:t>Tested against a simple baseline first</a:t>
            </a:r>
            <a:endParaRPr lang="en-US" sz="1300" dirty="0"/>
          </a:p>
        </p:txBody>
      </p:sp>
      <p:sp>
        <p:nvSpPr>
          <p:cNvPr id="30" name="Shape 23"/>
          <p:cNvSpPr/>
          <p:nvPr/>
        </p:nvSpPr>
        <p:spPr>
          <a:xfrm>
            <a:off x="4553712" y="4288536"/>
            <a:ext cx="457200" cy="457200"/>
          </a:xfrm>
          <a:prstGeom prst="ellipse">
            <a:avLst/>
          </a:prstGeom>
          <a:solidFill>
            <a:srgbClr val="C9E265"/>
          </a:solidFill>
          <a:ln w="12700">
            <a:solidFill>
              <a:srgbClr val="C9E265"/>
            </a:solidFill>
            <a:prstDash val="solid"/>
          </a:ln>
        </p:spPr>
        <p:txBody>
          <a:bodyPr/>
          <a:lstStyle/>
          <a:p>
            <a:endParaRPr lang="en-US"/>
          </a:p>
        </p:txBody>
      </p:sp>
      <p:sp>
        <p:nvSpPr>
          <p:cNvPr id="31" name="Text 24"/>
          <p:cNvSpPr txBox="1"/>
          <p:nvPr/>
        </p:nvSpPr>
        <p:spPr>
          <a:xfrm>
            <a:off x="4553712" y="4288536"/>
            <a:ext cx="457200" cy="457200"/>
          </a:xfrm>
          <a:prstGeom prst="rect">
            <a:avLst/>
          </a:prstGeom>
          <a:noFill/>
          <a:ln/>
        </p:spPr>
        <p:txBody>
          <a:bodyPr wrap="square" lIns="0" tIns="0" rIns="0" bIns="0" rtlCol="0" anchor="ctr"/>
          <a:lstStyle/>
          <a:p>
            <a:pPr marL="0" indent="0" algn="ctr">
              <a:buNone/>
            </a:pPr>
            <a:r>
              <a:rPr lang="en-US" sz="2000" b="1" dirty="0">
                <a:solidFill>
                  <a:srgbClr val="143528"/>
                </a:solidFill>
                <a:latin typeface="Cambria" pitchFamily="34" charset="0"/>
                <a:ea typeface="Cambria" pitchFamily="34" charset="-122"/>
                <a:cs typeface="Cambria" pitchFamily="34" charset="-120"/>
              </a:rPr>
              <a:t>3</a:t>
            </a:r>
            <a:endParaRPr lang="en-US" sz="2000" dirty="0"/>
          </a:p>
        </p:txBody>
      </p:sp>
      <p:sp>
        <p:nvSpPr>
          <p:cNvPr id="32" name="Text 25"/>
          <p:cNvSpPr txBox="1"/>
          <p:nvPr/>
        </p:nvSpPr>
        <p:spPr>
          <a:xfrm>
            <a:off x="5212080" y="4261104"/>
            <a:ext cx="2560320" cy="320040"/>
          </a:xfrm>
          <a:prstGeom prst="rect">
            <a:avLst/>
          </a:prstGeom>
          <a:noFill/>
          <a:ln/>
        </p:spPr>
        <p:txBody>
          <a:bodyPr wrap="square" lIns="0" tIns="0" rIns="0" bIns="0" rtlCol="0" anchor="t"/>
          <a:lstStyle/>
          <a:p>
            <a:pPr marL="0" indent="0">
              <a:buNone/>
            </a:pPr>
            <a:r>
              <a:rPr lang="en-US" sz="1900" b="1" dirty="0">
                <a:solidFill>
                  <a:srgbClr val="FFFFFF"/>
                </a:solidFill>
                <a:latin typeface="Cambria" pitchFamily="34" charset="0"/>
                <a:ea typeface="Cambria" pitchFamily="34" charset="-122"/>
                <a:cs typeface="Cambria" pitchFamily="34" charset="-120"/>
              </a:rPr>
              <a:t>Support decisions</a:t>
            </a:r>
            <a:endParaRPr lang="en-US" sz="1900" dirty="0"/>
          </a:p>
        </p:txBody>
      </p:sp>
      <p:sp>
        <p:nvSpPr>
          <p:cNvPr id="33" name="Text 26"/>
          <p:cNvSpPr txBox="1"/>
          <p:nvPr/>
        </p:nvSpPr>
        <p:spPr>
          <a:xfrm>
            <a:off x="5212080" y="4599432"/>
            <a:ext cx="2560320" cy="548640"/>
          </a:xfrm>
          <a:prstGeom prst="rect">
            <a:avLst/>
          </a:prstGeom>
          <a:noFill/>
          <a:ln/>
        </p:spPr>
        <p:txBody>
          <a:bodyPr wrap="square" lIns="0" tIns="0" rIns="0" bIns="0" rtlCol="0" anchor="t"/>
          <a:lstStyle/>
          <a:p>
            <a:pPr marL="0" indent="0">
              <a:buNone/>
            </a:pPr>
            <a:r>
              <a:rPr lang="en-US" sz="1300" dirty="0">
                <a:solidFill>
                  <a:srgbClr val="E3EFE4"/>
                </a:solidFill>
                <a:latin typeface="Calibri" pitchFamily="34" charset="0"/>
                <a:ea typeface="Calibri" pitchFamily="34" charset="-122"/>
                <a:cs typeface="Calibri" pitchFamily="34" charset="-120"/>
              </a:rPr>
              <a:t>Turn validated risk into approved guidance</a:t>
            </a:r>
            <a:endParaRPr lang="en-US" sz="1300" dirty="0"/>
          </a:p>
        </p:txBody>
      </p:sp>
      <p:pic>
        <p:nvPicPr>
          <p:cNvPr id="34" name="Image 5" descr="preencoded.png"/>
          <p:cNvPicPr>
            <a:picLocks noChangeAspect="1"/>
          </p:cNvPicPr>
          <p:nvPr/>
        </p:nvPicPr>
        <p:blipFill>
          <a:blip r:embed="rId7"/>
          <a:stretch>
            <a:fillRect/>
          </a:stretch>
        </p:blipFill>
        <p:spPr>
          <a:xfrm>
            <a:off x="8065008" y="3337560"/>
            <a:ext cx="274320" cy="274320"/>
          </a:xfrm>
          <a:prstGeom prst="rect">
            <a:avLst/>
          </a:prstGeom>
        </p:spPr>
      </p:pic>
      <p:sp>
        <p:nvSpPr>
          <p:cNvPr id="35" name="Shape 27"/>
          <p:cNvSpPr/>
          <p:nvPr/>
        </p:nvSpPr>
        <p:spPr>
          <a:xfrm>
            <a:off x="8467344" y="1783080"/>
            <a:ext cx="3172968" cy="3383280"/>
          </a:xfrm>
          <a:prstGeom prst="roundRect">
            <a:avLst>
              <a:gd name="adj" fmla="val 4611"/>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36" name="Text 28"/>
          <p:cNvSpPr txBox="1"/>
          <p:nvPr/>
        </p:nvSpPr>
        <p:spPr>
          <a:xfrm>
            <a:off x="8686800" y="1965960"/>
            <a:ext cx="2743200" cy="228600"/>
          </a:xfrm>
          <a:prstGeom prst="rect">
            <a:avLst/>
          </a:prstGeom>
          <a:noFill/>
          <a:ln/>
        </p:spPr>
        <p:txBody>
          <a:bodyPr wrap="square" lIns="0" tIns="0" rIns="0" bIns="0" rtlCol="0" anchor="t"/>
          <a:lstStyle/>
          <a:p>
            <a:pPr marL="0" indent="0">
              <a:buNone/>
            </a:pPr>
            <a:r>
              <a:rPr lang="en-US" sz="1100" b="1" kern="0" spc="200" dirty="0">
                <a:solidFill>
                  <a:srgbClr val="2E8B87"/>
                </a:solidFill>
                <a:latin typeface="Calibri" pitchFamily="34" charset="0"/>
                <a:ea typeface="Calibri" pitchFamily="34" charset="-122"/>
                <a:cs typeface="Calibri" pitchFamily="34" charset="-120"/>
              </a:rPr>
              <a:t>WHAT THE FARMER SEES</a:t>
            </a:r>
            <a:endParaRPr lang="en-US" sz="1100" dirty="0"/>
          </a:p>
        </p:txBody>
      </p:sp>
      <p:sp>
        <p:nvSpPr>
          <p:cNvPr id="37" name="Text 29"/>
          <p:cNvSpPr txBox="1"/>
          <p:nvPr/>
        </p:nvSpPr>
        <p:spPr>
          <a:xfrm>
            <a:off x="8686800" y="2350008"/>
            <a:ext cx="1371600" cy="201168"/>
          </a:xfrm>
          <a:prstGeom prst="rect">
            <a:avLst/>
          </a:prstGeom>
          <a:noFill/>
          <a:ln/>
        </p:spPr>
        <p:txBody>
          <a:bodyPr wrap="square" lIns="0" tIns="0" rIns="0" bIns="0" rtlCol="0" anchor="t"/>
          <a:lstStyle/>
          <a:p>
            <a:pPr marL="0" indent="0">
              <a:buNone/>
            </a:pPr>
            <a:r>
              <a:rPr lang="en-US" sz="1000" b="1" kern="0" spc="100" dirty="0">
                <a:solidFill>
                  <a:srgbClr val="5B6B62"/>
                </a:solidFill>
                <a:latin typeface="Calibri" pitchFamily="34" charset="0"/>
                <a:ea typeface="Calibri" pitchFamily="34" charset="-122"/>
                <a:cs typeface="Calibri" pitchFamily="34" charset="-120"/>
              </a:rPr>
              <a:t>RISK</a:t>
            </a:r>
            <a:endParaRPr lang="en-US" sz="1000" dirty="0"/>
          </a:p>
        </p:txBody>
      </p:sp>
      <p:sp>
        <p:nvSpPr>
          <p:cNvPr id="38" name="Shape 30"/>
          <p:cNvSpPr/>
          <p:nvPr/>
        </p:nvSpPr>
        <p:spPr>
          <a:xfrm>
            <a:off x="8686800" y="2560320"/>
            <a:ext cx="2743200" cy="292608"/>
          </a:xfrm>
          <a:prstGeom prst="roundRect">
            <a:avLst>
              <a:gd name="adj" fmla="val 31250"/>
            </a:avLst>
          </a:prstGeom>
          <a:solidFill>
            <a:srgbClr val="F2B84B"/>
          </a:solidFill>
          <a:ln w="12700">
            <a:solidFill>
              <a:srgbClr val="F2B84B"/>
            </a:solidFill>
            <a:prstDash val="solid"/>
          </a:ln>
        </p:spPr>
        <p:txBody>
          <a:bodyPr/>
          <a:lstStyle/>
          <a:p>
            <a:endParaRPr lang="en-US"/>
          </a:p>
        </p:txBody>
      </p:sp>
      <p:sp>
        <p:nvSpPr>
          <p:cNvPr id="39" name="Text 31"/>
          <p:cNvSpPr txBox="1"/>
          <p:nvPr/>
        </p:nvSpPr>
        <p:spPr>
          <a:xfrm>
            <a:off x="8778240" y="2560320"/>
            <a:ext cx="2560320" cy="292608"/>
          </a:xfrm>
          <a:prstGeom prst="rect">
            <a:avLst/>
          </a:prstGeom>
          <a:noFill/>
          <a:ln/>
        </p:spPr>
        <p:txBody>
          <a:bodyPr wrap="square" lIns="0" tIns="0" rIns="0" bIns="0" rtlCol="0" anchor="ctr"/>
          <a:lstStyle/>
          <a:p>
            <a:pPr marL="0" indent="0">
              <a:buNone/>
            </a:pPr>
            <a:r>
              <a:rPr lang="en-US" sz="1200" b="1" dirty="0">
                <a:solidFill>
                  <a:srgbClr val="143528"/>
                </a:solidFill>
                <a:latin typeface="Calibri" pitchFamily="34" charset="0"/>
                <a:ea typeface="Calibri" pitchFamily="34" charset="-122"/>
                <a:cs typeface="Calibri" pitchFamily="34" charset="-120"/>
              </a:rPr>
              <a:t>High</a:t>
            </a:r>
            <a:endParaRPr lang="en-US" sz="1200" dirty="0"/>
          </a:p>
        </p:txBody>
      </p:sp>
      <p:sp>
        <p:nvSpPr>
          <p:cNvPr id="40" name="Text 32"/>
          <p:cNvSpPr txBox="1"/>
          <p:nvPr/>
        </p:nvSpPr>
        <p:spPr>
          <a:xfrm>
            <a:off x="8686800" y="2916936"/>
            <a:ext cx="1371600" cy="201168"/>
          </a:xfrm>
          <a:prstGeom prst="rect">
            <a:avLst/>
          </a:prstGeom>
          <a:noFill/>
          <a:ln/>
        </p:spPr>
        <p:txBody>
          <a:bodyPr wrap="square" lIns="0" tIns="0" rIns="0" bIns="0" rtlCol="0" anchor="t"/>
          <a:lstStyle/>
          <a:p>
            <a:pPr marL="0" indent="0">
              <a:buNone/>
            </a:pPr>
            <a:r>
              <a:rPr lang="en-US" sz="1000" b="1" kern="0" spc="100" dirty="0">
                <a:solidFill>
                  <a:srgbClr val="5B6B62"/>
                </a:solidFill>
                <a:latin typeface="Calibri" pitchFamily="34" charset="0"/>
                <a:ea typeface="Calibri" pitchFamily="34" charset="-122"/>
                <a:cs typeface="Calibri" pitchFamily="34" charset="-120"/>
              </a:rPr>
              <a:t>CONFIDENCE</a:t>
            </a:r>
            <a:endParaRPr lang="en-US" sz="1000" dirty="0"/>
          </a:p>
        </p:txBody>
      </p:sp>
      <p:sp>
        <p:nvSpPr>
          <p:cNvPr id="41" name="Shape 33"/>
          <p:cNvSpPr/>
          <p:nvPr/>
        </p:nvSpPr>
        <p:spPr>
          <a:xfrm>
            <a:off x="8686800" y="3127248"/>
            <a:ext cx="2743200" cy="292608"/>
          </a:xfrm>
          <a:prstGeom prst="roundRect">
            <a:avLst>
              <a:gd name="adj" fmla="val 31250"/>
            </a:avLst>
          </a:prstGeom>
          <a:solidFill>
            <a:srgbClr val="E3EFE4"/>
          </a:solidFill>
          <a:ln w="12700">
            <a:solidFill>
              <a:srgbClr val="E3EFE4"/>
            </a:solidFill>
            <a:prstDash val="solid"/>
          </a:ln>
        </p:spPr>
        <p:txBody>
          <a:bodyPr/>
          <a:lstStyle/>
          <a:p>
            <a:endParaRPr lang="en-US"/>
          </a:p>
        </p:txBody>
      </p:sp>
      <p:sp>
        <p:nvSpPr>
          <p:cNvPr id="42" name="Text 34"/>
          <p:cNvSpPr txBox="1"/>
          <p:nvPr/>
        </p:nvSpPr>
        <p:spPr>
          <a:xfrm>
            <a:off x="8778240" y="3127248"/>
            <a:ext cx="2560320" cy="292608"/>
          </a:xfrm>
          <a:prstGeom prst="rect">
            <a:avLst/>
          </a:prstGeom>
          <a:noFill/>
          <a:ln/>
        </p:spPr>
        <p:txBody>
          <a:bodyPr wrap="square" lIns="0" tIns="0" rIns="0" bIns="0" rtlCol="0" anchor="ctr"/>
          <a:lstStyle/>
          <a:p>
            <a:pPr marL="0" indent="0">
              <a:buNone/>
            </a:pPr>
            <a:r>
              <a:rPr lang="en-US" sz="1200" b="1" dirty="0">
                <a:solidFill>
                  <a:srgbClr val="143528"/>
                </a:solidFill>
                <a:latin typeface="Calibri" pitchFamily="34" charset="0"/>
                <a:ea typeface="Calibri" pitchFamily="34" charset="-122"/>
                <a:cs typeface="Calibri" pitchFamily="34" charset="-120"/>
              </a:rPr>
              <a:t>Moderate</a:t>
            </a:r>
            <a:endParaRPr lang="en-US" sz="1200" dirty="0"/>
          </a:p>
        </p:txBody>
      </p:sp>
      <p:sp>
        <p:nvSpPr>
          <p:cNvPr id="43" name="Text 35"/>
          <p:cNvSpPr txBox="1"/>
          <p:nvPr/>
        </p:nvSpPr>
        <p:spPr>
          <a:xfrm>
            <a:off x="8686800" y="3483864"/>
            <a:ext cx="1371600" cy="201168"/>
          </a:xfrm>
          <a:prstGeom prst="rect">
            <a:avLst/>
          </a:prstGeom>
          <a:noFill/>
          <a:ln/>
        </p:spPr>
        <p:txBody>
          <a:bodyPr wrap="square" lIns="0" tIns="0" rIns="0" bIns="0" rtlCol="0" anchor="t"/>
          <a:lstStyle/>
          <a:p>
            <a:pPr marL="0" indent="0">
              <a:buNone/>
            </a:pPr>
            <a:r>
              <a:rPr lang="en-US" sz="1000" b="1" kern="0" spc="100" dirty="0">
                <a:solidFill>
                  <a:srgbClr val="5B6B62"/>
                </a:solidFill>
                <a:latin typeface="Calibri" pitchFamily="34" charset="0"/>
                <a:ea typeface="Calibri" pitchFamily="34" charset="-122"/>
                <a:cs typeface="Calibri" pitchFamily="34" charset="-120"/>
              </a:rPr>
              <a:t>DATA STATUS</a:t>
            </a:r>
            <a:endParaRPr lang="en-US" sz="1000" dirty="0"/>
          </a:p>
        </p:txBody>
      </p:sp>
      <p:sp>
        <p:nvSpPr>
          <p:cNvPr id="44" name="Shape 36"/>
          <p:cNvSpPr/>
          <p:nvPr/>
        </p:nvSpPr>
        <p:spPr>
          <a:xfrm>
            <a:off x="8686800" y="3694176"/>
            <a:ext cx="2743200" cy="292608"/>
          </a:xfrm>
          <a:prstGeom prst="roundRect">
            <a:avLst>
              <a:gd name="adj" fmla="val 31250"/>
            </a:avLst>
          </a:prstGeom>
          <a:solidFill>
            <a:srgbClr val="E3EFE4"/>
          </a:solidFill>
          <a:ln w="12700">
            <a:solidFill>
              <a:srgbClr val="E3EFE4"/>
            </a:solidFill>
            <a:prstDash val="solid"/>
          </a:ln>
        </p:spPr>
        <p:txBody>
          <a:bodyPr/>
          <a:lstStyle/>
          <a:p>
            <a:endParaRPr lang="en-US"/>
          </a:p>
        </p:txBody>
      </p:sp>
      <p:sp>
        <p:nvSpPr>
          <p:cNvPr id="45" name="Text 37"/>
          <p:cNvSpPr txBox="1"/>
          <p:nvPr/>
        </p:nvSpPr>
        <p:spPr>
          <a:xfrm>
            <a:off x="8778240" y="3694176"/>
            <a:ext cx="2560320" cy="292608"/>
          </a:xfrm>
          <a:prstGeom prst="rect">
            <a:avLst/>
          </a:prstGeom>
          <a:noFill/>
          <a:ln/>
        </p:spPr>
        <p:txBody>
          <a:bodyPr wrap="square" lIns="0" tIns="0" rIns="0" bIns="0" rtlCol="0" anchor="ctr"/>
          <a:lstStyle/>
          <a:p>
            <a:pPr marL="0" indent="0">
              <a:buNone/>
            </a:pPr>
            <a:r>
              <a:rPr lang="en-US" sz="1200" b="1" dirty="0">
                <a:solidFill>
                  <a:srgbClr val="143528"/>
                </a:solidFill>
                <a:latin typeface="Calibri" pitchFamily="34" charset="0"/>
                <a:ea typeface="Calibri" pitchFamily="34" charset="-122"/>
                <a:cs typeface="Calibri" pitchFamily="34" charset="-120"/>
              </a:rPr>
              <a:t>Recent soil reading missing</a:t>
            </a:r>
            <a:endParaRPr lang="en-US" sz="1200" dirty="0"/>
          </a:p>
        </p:txBody>
      </p:sp>
      <p:sp>
        <p:nvSpPr>
          <p:cNvPr id="46" name="Text 38"/>
          <p:cNvSpPr txBox="1"/>
          <p:nvPr/>
        </p:nvSpPr>
        <p:spPr>
          <a:xfrm>
            <a:off x="8686800" y="4069080"/>
            <a:ext cx="1371600" cy="201168"/>
          </a:xfrm>
          <a:prstGeom prst="rect">
            <a:avLst/>
          </a:prstGeom>
          <a:noFill/>
          <a:ln/>
        </p:spPr>
        <p:txBody>
          <a:bodyPr wrap="square" lIns="0" tIns="0" rIns="0" bIns="0" rtlCol="0" anchor="t"/>
          <a:lstStyle/>
          <a:p>
            <a:pPr marL="0" indent="0">
              <a:buNone/>
            </a:pPr>
            <a:r>
              <a:rPr lang="en-US" sz="1000" b="1" kern="0" spc="100" dirty="0">
                <a:solidFill>
                  <a:srgbClr val="5B6B62"/>
                </a:solidFill>
                <a:latin typeface="Calibri" pitchFamily="34" charset="0"/>
                <a:ea typeface="Calibri" pitchFamily="34" charset="-122"/>
                <a:cs typeface="Calibri" pitchFamily="34" charset="-120"/>
              </a:rPr>
              <a:t>NEXT STEP</a:t>
            </a:r>
            <a:endParaRPr lang="en-US" sz="1000" dirty="0"/>
          </a:p>
        </p:txBody>
      </p:sp>
      <p:sp>
        <p:nvSpPr>
          <p:cNvPr id="47" name="Text 39"/>
          <p:cNvSpPr txBox="1"/>
          <p:nvPr/>
        </p:nvSpPr>
        <p:spPr>
          <a:xfrm>
            <a:off x="8686800" y="4288536"/>
            <a:ext cx="2743200" cy="457200"/>
          </a:xfrm>
          <a:prstGeom prst="rect">
            <a:avLst/>
          </a:prstGeom>
          <a:noFill/>
          <a:ln/>
        </p:spPr>
        <p:txBody>
          <a:bodyPr wrap="square" lIns="0" tIns="0" rIns="0" bIns="0" rtlCol="0" anchor="t"/>
          <a:lstStyle/>
          <a:p>
            <a:pPr marL="0" indent="0">
              <a:buNone/>
            </a:pPr>
            <a:r>
              <a:rPr lang="en-US" sz="1200" b="1" dirty="0">
                <a:solidFill>
                  <a:srgbClr val="24302A"/>
                </a:solidFill>
                <a:latin typeface="Calibri" pitchFamily="34" charset="0"/>
                <a:ea typeface="Calibri" pitchFamily="34" charset="-122"/>
                <a:cs typeface="Calibri" pitchFamily="34" charset="-120"/>
              </a:rPr>
              <a:t>Request an updated measurement or contact the field officer</a:t>
            </a:r>
            <a:endParaRPr lang="en-US" sz="1200" dirty="0"/>
          </a:p>
        </p:txBody>
      </p:sp>
      <p:sp>
        <p:nvSpPr>
          <p:cNvPr id="48" name="Text 40"/>
          <p:cNvSpPr txBox="1"/>
          <p:nvPr/>
        </p:nvSpPr>
        <p:spPr>
          <a:xfrm>
            <a:off x="8686800" y="4800600"/>
            <a:ext cx="2743200" cy="274320"/>
          </a:xfrm>
          <a:prstGeom prst="rect">
            <a:avLst/>
          </a:prstGeom>
          <a:noFill/>
          <a:ln/>
        </p:spPr>
        <p:txBody>
          <a:bodyPr wrap="square" lIns="0" tIns="0" rIns="0" bIns="0" rtlCol="0" anchor="t"/>
          <a:lstStyle/>
          <a:p>
            <a:pPr marL="0" indent="0">
              <a:buNone/>
            </a:pPr>
            <a:r>
              <a:rPr lang="en-US" sz="1100" i="1" dirty="0">
                <a:solidFill>
                  <a:srgbClr val="5B6B62"/>
                </a:solidFill>
                <a:latin typeface="Calibri" pitchFamily="34" charset="0"/>
                <a:ea typeface="Calibri" pitchFamily="34" charset="-122"/>
                <a:cs typeface="Calibri" pitchFamily="34" charset="-120"/>
              </a:rPr>
              <a:t>Format example only, not a real prediction</a:t>
            </a:r>
            <a:endParaRPr lang="en-US" sz="1100" dirty="0"/>
          </a:p>
        </p:txBody>
      </p:sp>
      <p:sp>
        <p:nvSpPr>
          <p:cNvPr id="49" name="Shape 41"/>
          <p:cNvSpPr/>
          <p:nvPr/>
        </p:nvSpPr>
        <p:spPr>
          <a:xfrm>
            <a:off x="548640" y="5440680"/>
            <a:ext cx="11091672" cy="685800"/>
          </a:xfrm>
          <a:prstGeom prst="roundRect">
            <a:avLst>
              <a:gd name="adj" fmla="val 21333"/>
            </a:avLst>
          </a:prstGeom>
          <a:solidFill>
            <a:srgbClr val="E3EFE4"/>
          </a:solidFill>
          <a:ln w="12700">
            <a:solidFill>
              <a:srgbClr val="E3EFE4"/>
            </a:solidFill>
            <a:prstDash val="solid"/>
          </a:ln>
        </p:spPr>
        <p:txBody>
          <a:bodyPr/>
          <a:lstStyle/>
          <a:p>
            <a:endParaRPr lang="en-US"/>
          </a:p>
        </p:txBody>
      </p:sp>
      <p:sp>
        <p:nvSpPr>
          <p:cNvPr id="50" name="Text 42"/>
          <p:cNvSpPr txBox="1"/>
          <p:nvPr/>
        </p:nvSpPr>
        <p:spPr>
          <a:xfrm>
            <a:off x="822960" y="5440680"/>
            <a:ext cx="10515600" cy="685800"/>
          </a:xfrm>
          <a:prstGeom prst="rect">
            <a:avLst/>
          </a:prstGeom>
          <a:noFill/>
          <a:ln/>
        </p:spPr>
        <p:txBody>
          <a:bodyPr wrap="square" lIns="0" tIns="0" rIns="0" bIns="0" rtlCol="0" anchor="ctr"/>
          <a:lstStyle/>
          <a:p>
            <a:pPr marL="0" indent="0">
              <a:buNone/>
            </a:pPr>
            <a:r>
              <a:rPr lang="en-US" sz="1400" b="1" dirty="0">
                <a:solidFill>
                  <a:srgbClr val="143528"/>
                </a:solidFill>
                <a:latin typeface="Calibri" pitchFamily="34" charset="0"/>
                <a:ea typeface="Calibri" pitchFamily="34" charset="-122"/>
                <a:cs typeface="Calibri" pitchFamily="34" charset="-120"/>
              </a:rPr>
              <a:t>Each risk may need its own target, spatial unit, prediction horizon and model. All are chosen after data assessment, and a model is kept only if it beats a simple baseline.</a:t>
            </a:r>
            <a:endParaRPr lang="en-US" sz="1400" dirty="0"/>
          </a:p>
        </p:txBody>
      </p:sp>
      <p:sp>
        <p:nvSpPr>
          <p:cNvPr id="51" name="Shape 43"/>
          <p:cNvSpPr/>
          <p:nvPr/>
        </p:nvSpPr>
        <p:spPr>
          <a:xfrm>
            <a:off x="548640" y="6336792"/>
            <a:ext cx="310896" cy="310896"/>
          </a:xfrm>
          <a:prstGeom prst="ellipse">
            <a:avLst/>
          </a:prstGeom>
          <a:solidFill>
            <a:srgbClr val="245C43"/>
          </a:solidFill>
          <a:ln w="12700">
            <a:solidFill>
              <a:srgbClr val="245C43"/>
            </a:solidFill>
            <a:prstDash val="solid"/>
          </a:ln>
        </p:spPr>
        <p:txBody>
          <a:bodyPr/>
          <a:lstStyle/>
          <a:p>
            <a:endParaRPr lang="en-US"/>
          </a:p>
        </p:txBody>
      </p:sp>
      <p:pic>
        <p:nvPicPr>
          <p:cNvPr id="52" name="Image 6" descr="preencoded.png"/>
          <p:cNvPicPr>
            <a:picLocks noChangeAspect="1"/>
          </p:cNvPicPr>
          <p:nvPr/>
        </p:nvPicPr>
        <p:blipFill>
          <a:blip r:embed="rId8"/>
          <a:stretch>
            <a:fillRect/>
          </a:stretch>
        </p:blipFill>
        <p:spPr>
          <a:xfrm>
            <a:off x="626364" y="6414516"/>
            <a:ext cx="155448" cy="155448"/>
          </a:xfrm>
          <a:prstGeom prst="rect">
            <a:avLst/>
          </a:prstGeom>
        </p:spPr>
      </p:pic>
      <p:sp>
        <p:nvSpPr>
          <p:cNvPr id="53" name="Text 44"/>
          <p:cNvSpPr txBox="1"/>
          <p:nvPr/>
        </p:nvSpPr>
        <p:spPr>
          <a:xfrm>
            <a:off x="960120" y="6364224"/>
            <a:ext cx="2743200" cy="274320"/>
          </a:xfrm>
          <a:prstGeom prst="rect">
            <a:avLst/>
          </a:prstGeom>
          <a:noFill/>
          <a:ln/>
        </p:spPr>
        <p:txBody>
          <a:bodyPr wrap="square" lIns="0" tIns="0" rIns="0" bIns="0" rtlCol="0" anchor="t"/>
          <a:lstStyle/>
          <a:p>
            <a:pPr marL="0" indent="0">
              <a:buNone/>
            </a:pPr>
            <a:r>
              <a:rPr lang="en-US" sz="1200" b="1" dirty="0">
                <a:solidFill>
                  <a:srgbClr val="5B6B62"/>
                </a:solidFill>
                <a:latin typeface="Calibri" pitchFamily="34" charset="0"/>
                <a:ea typeface="Calibri" pitchFamily="34" charset="-122"/>
                <a:cs typeface="Calibri" pitchFamily="34" charset="-120"/>
              </a:rPr>
              <a:t>Krishan AI</a:t>
            </a:r>
            <a:endParaRPr lang="en-US" sz="1200" dirty="0"/>
          </a:p>
        </p:txBody>
      </p:sp>
      <p:sp>
        <p:nvSpPr>
          <p:cNvPr id="54" name="Text 45"/>
          <p:cNvSpPr txBox="1"/>
          <p:nvPr/>
        </p:nvSpPr>
        <p:spPr>
          <a:xfrm>
            <a:off x="11185855" y="6364224"/>
            <a:ext cx="457200" cy="274320"/>
          </a:xfrm>
          <a:prstGeom prst="rect">
            <a:avLst/>
          </a:prstGeom>
          <a:noFill/>
          <a:ln/>
        </p:spPr>
        <p:txBody>
          <a:bodyPr wrap="square" lIns="0" tIns="0" rIns="0" bIns="0" rtlCol="0" anchor="t"/>
          <a:lstStyle/>
          <a:p>
            <a:pPr marL="0" indent="0" algn="r">
              <a:buNone/>
            </a:pPr>
            <a:r>
              <a:rPr lang="en-US" sz="1200" dirty="0">
                <a:solidFill>
                  <a:srgbClr val="5B6B62"/>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marL="0" indent="0">
              <a:buNone/>
            </a:pPr>
            <a:r>
              <a:rPr lang="en-US" sz="1300" b="1" kern="0" spc="300" dirty="0">
                <a:solidFill>
                  <a:srgbClr val="2E8B87"/>
                </a:solidFill>
                <a:latin typeface="Calibri" pitchFamily="34" charset="0"/>
                <a:ea typeface="Calibri" pitchFamily="34" charset="-122"/>
                <a:cs typeface="Calibri" pitchFamily="34" charset="-120"/>
              </a:rPr>
              <a:t>04  ·  RESPONSIBLE AND TRUSTWORTHY AI</a:t>
            </a:r>
            <a:endParaRPr lang="en-US" sz="1300" dirty="0"/>
          </a:p>
        </p:txBody>
      </p:sp>
      <p:sp>
        <p:nvSpPr>
          <p:cNvPr id="3" name="Text 1"/>
          <p:cNvSpPr txBox="1"/>
          <p:nvPr/>
        </p:nvSpPr>
        <p:spPr>
          <a:xfrm>
            <a:off x="548640" y="777240"/>
            <a:ext cx="11064240" cy="731520"/>
          </a:xfrm>
          <a:prstGeom prst="rect">
            <a:avLst/>
          </a:prstGeom>
          <a:noFill/>
          <a:ln/>
        </p:spPr>
        <p:txBody>
          <a:bodyPr wrap="square" lIns="0" tIns="0" rIns="0" bIns="0" rtlCol="0" anchor="ctr"/>
          <a:lstStyle/>
          <a:p>
            <a:pPr marL="0" indent="0">
              <a:buNone/>
            </a:pPr>
            <a:r>
              <a:rPr lang="en-US" sz="3600" b="1" dirty="0">
                <a:solidFill>
                  <a:srgbClr val="143528"/>
                </a:solidFill>
                <a:latin typeface="Cambria" pitchFamily="34" charset="0"/>
                <a:ea typeface="Cambria" pitchFamily="34" charset="-122"/>
                <a:cs typeface="Cambria" pitchFamily="34" charset="-120"/>
              </a:rPr>
              <a:t>It says so when it is not sure</a:t>
            </a:r>
            <a:endParaRPr lang="en-US" sz="3600" dirty="0"/>
          </a:p>
        </p:txBody>
      </p:sp>
      <p:sp>
        <p:nvSpPr>
          <p:cNvPr id="4" name="Shape 2"/>
          <p:cNvSpPr/>
          <p:nvPr/>
        </p:nvSpPr>
        <p:spPr>
          <a:xfrm>
            <a:off x="548640" y="2971800"/>
            <a:ext cx="1554480" cy="1188720"/>
          </a:xfrm>
          <a:prstGeom prst="roundRect">
            <a:avLst>
              <a:gd name="adj" fmla="val 10769"/>
            </a:avLst>
          </a:prstGeom>
          <a:solidFill>
            <a:srgbClr val="143528"/>
          </a:solidFill>
          <a:ln w="12700">
            <a:solidFill>
              <a:srgbClr val="143528"/>
            </a:solidFill>
            <a:prstDash val="solid"/>
          </a:ln>
          <a:effectLst>
            <a:outerShdw blurRad="127000" dist="38100" dir="5400000" algn="bl" rotWithShape="0">
              <a:srgbClr val="000000">
                <a:alpha val="12000"/>
              </a:srgbClr>
            </a:outerShdw>
          </a:effectLst>
        </p:spPr>
        <p:txBody>
          <a:bodyPr/>
          <a:lstStyle/>
          <a:p>
            <a:endParaRPr lang="en-US"/>
          </a:p>
        </p:txBody>
      </p:sp>
      <p:sp>
        <p:nvSpPr>
          <p:cNvPr id="5" name="Text 3"/>
          <p:cNvSpPr txBox="1"/>
          <p:nvPr/>
        </p:nvSpPr>
        <p:spPr>
          <a:xfrm>
            <a:off x="685800" y="2971800"/>
            <a:ext cx="1280160" cy="11887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New farm data arrives</a:t>
            </a:r>
            <a:endParaRPr lang="en-US" sz="1400" dirty="0"/>
          </a:p>
        </p:txBody>
      </p:sp>
      <p:pic>
        <p:nvPicPr>
          <p:cNvPr id="6" name="Image 0" descr="preencoded.png"/>
          <p:cNvPicPr>
            <a:picLocks noChangeAspect="1"/>
          </p:cNvPicPr>
          <p:nvPr/>
        </p:nvPicPr>
        <p:blipFill>
          <a:blip r:embed="rId3"/>
          <a:stretch>
            <a:fillRect/>
          </a:stretch>
        </p:blipFill>
        <p:spPr>
          <a:xfrm>
            <a:off x="2194560" y="3429000"/>
            <a:ext cx="237744" cy="237744"/>
          </a:xfrm>
          <a:prstGeom prst="rect">
            <a:avLst/>
          </a:prstGeom>
        </p:spPr>
      </p:pic>
      <p:sp>
        <p:nvSpPr>
          <p:cNvPr id="7" name="Shape 4"/>
          <p:cNvSpPr/>
          <p:nvPr/>
        </p:nvSpPr>
        <p:spPr>
          <a:xfrm>
            <a:off x="2542032" y="2606040"/>
            <a:ext cx="1920240" cy="1920240"/>
          </a:xfrm>
          <a:prstGeom prst="diamond">
            <a:avLst/>
          </a:prstGeom>
          <a:solidFill>
            <a:srgbClr val="C9E265"/>
          </a:solidFill>
          <a:ln w="12700">
            <a:solidFill>
              <a:srgbClr val="C9E265"/>
            </a:solidFill>
            <a:prstDash val="solid"/>
          </a:ln>
          <a:effectLst>
            <a:outerShdw blurRad="127000" dist="38100" dir="5400000" algn="bl" rotWithShape="0">
              <a:srgbClr val="000000">
                <a:alpha val="12000"/>
              </a:srgbClr>
            </a:outerShdw>
          </a:effectLst>
        </p:spPr>
        <p:txBody>
          <a:bodyPr/>
          <a:lstStyle/>
          <a:p>
            <a:endParaRPr lang="en-US"/>
          </a:p>
        </p:txBody>
      </p:sp>
      <p:sp>
        <p:nvSpPr>
          <p:cNvPr id="8" name="Text 5"/>
          <p:cNvSpPr txBox="1"/>
          <p:nvPr/>
        </p:nvSpPr>
        <p:spPr>
          <a:xfrm>
            <a:off x="2926080" y="3154680"/>
            <a:ext cx="1152144" cy="822960"/>
          </a:xfrm>
          <a:prstGeom prst="rect">
            <a:avLst/>
          </a:prstGeom>
          <a:noFill/>
          <a:ln/>
        </p:spPr>
        <p:txBody>
          <a:bodyPr wrap="square" lIns="0" tIns="0" rIns="0" bIns="0" rtlCol="0" anchor="ctr"/>
          <a:lstStyle/>
          <a:p>
            <a:pPr marL="0" indent="0" algn="ctr">
              <a:buNone/>
            </a:pPr>
            <a:r>
              <a:rPr lang="en-US" sz="1300" b="1" dirty="0">
                <a:solidFill>
                  <a:srgbClr val="143528"/>
                </a:solidFill>
                <a:latin typeface="Calibri" pitchFamily="34" charset="0"/>
                <a:ea typeface="Calibri" pitchFamily="34" charset="-122"/>
                <a:cs typeface="Calibri" pitchFamily="34" charset="-120"/>
              </a:rPr>
              <a:t>Fresh, complete, in range?</a:t>
            </a:r>
            <a:endParaRPr lang="en-US" sz="1300" dirty="0"/>
          </a:p>
        </p:txBody>
      </p:sp>
      <p:sp>
        <p:nvSpPr>
          <p:cNvPr id="9" name="Shape 6"/>
          <p:cNvSpPr/>
          <p:nvPr/>
        </p:nvSpPr>
        <p:spPr>
          <a:xfrm>
            <a:off x="4462272" y="3566160"/>
            <a:ext cx="228600" cy="0"/>
          </a:xfrm>
          <a:prstGeom prst="line">
            <a:avLst/>
          </a:prstGeom>
          <a:noFill/>
          <a:ln w="25400">
            <a:solidFill>
              <a:srgbClr val="5FA777"/>
            </a:solidFill>
            <a:prstDash val="solid"/>
          </a:ln>
        </p:spPr>
        <p:txBody>
          <a:bodyPr/>
          <a:lstStyle/>
          <a:p>
            <a:endParaRPr lang="en-US"/>
          </a:p>
        </p:txBody>
      </p:sp>
      <p:sp>
        <p:nvSpPr>
          <p:cNvPr id="10" name="Shape 7"/>
          <p:cNvSpPr/>
          <p:nvPr/>
        </p:nvSpPr>
        <p:spPr>
          <a:xfrm>
            <a:off x="4690872" y="2743200"/>
            <a:ext cx="0" cy="1645920"/>
          </a:xfrm>
          <a:prstGeom prst="line">
            <a:avLst/>
          </a:prstGeom>
          <a:noFill/>
          <a:ln w="25400">
            <a:solidFill>
              <a:srgbClr val="5FA777"/>
            </a:solidFill>
            <a:prstDash val="solid"/>
          </a:ln>
        </p:spPr>
        <p:txBody>
          <a:bodyPr/>
          <a:lstStyle/>
          <a:p>
            <a:endParaRPr lang="en-US"/>
          </a:p>
        </p:txBody>
      </p:sp>
      <p:sp>
        <p:nvSpPr>
          <p:cNvPr id="11" name="Shape 8"/>
          <p:cNvSpPr/>
          <p:nvPr/>
        </p:nvSpPr>
        <p:spPr>
          <a:xfrm>
            <a:off x="4690872" y="2743200"/>
            <a:ext cx="228600" cy="0"/>
          </a:xfrm>
          <a:prstGeom prst="line">
            <a:avLst/>
          </a:prstGeom>
          <a:noFill/>
          <a:ln w="25400">
            <a:solidFill>
              <a:srgbClr val="5FA777"/>
            </a:solidFill>
            <a:prstDash val="solid"/>
            <a:tailEnd type="triangle"/>
          </a:ln>
        </p:spPr>
        <p:txBody>
          <a:bodyPr/>
          <a:lstStyle/>
          <a:p>
            <a:endParaRPr lang="en-US"/>
          </a:p>
        </p:txBody>
      </p:sp>
      <p:sp>
        <p:nvSpPr>
          <p:cNvPr id="12" name="Shape 9"/>
          <p:cNvSpPr/>
          <p:nvPr/>
        </p:nvSpPr>
        <p:spPr>
          <a:xfrm>
            <a:off x="4690872" y="4389120"/>
            <a:ext cx="228600" cy="0"/>
          </a:xfrm>
          <a:prstGeom prst="line">
            <a:avLst/>
          </a:prstGeom>
          <a:noFill/>
          <a:ln w="25400">
            <a:solidFill>
              <a:srgbClr val="5FA777"/>
            </a:solidFill>
            <a:prstDash val="solid"/>
            <a:tailEnd type="triangle"/>
          </a:ln>
        </p:spPr>
        <p:txBody>
          <a:bodyPr/>
          <a:lstStyle/>
          <a:p>
            <a:endParaRPr lang="en-US"/>
          </a:p>
        </p:txBody>
      </p:sp>
      <p:sp>
        <p:nvSpPr>
          <p:cNvPr id="13" name="Text 10"/>
          <p:cNvSpPr txBox="1"/>
          <p:nvPr/>
        </p:nvSpPr>
        <p:spPr>
          <a:xfrm>
            <a:off x="4224528" y="2331720"/>
            <a:ext cx="548640" cy="228600"/>
          </a:xfrm>
          <a:prstGeom prst="rect">
            <a:avLst/>
          </a:prstGeom>
          <a:noFill/>
          <a:ln/>
        </p:spPr>
        <p:txBody>
          <a:bodyPr wrap="square" lIns="0" tIns="0" rIns="0" bIns="0" rtlCol="0" anchor="t"/>
          <a:lstStyle/>
          <a:p>
            <a:pPr marL="0" indent="0">
              <a:buNone/>
            </a:pPr>
            <a:r>
              <a:rPr lang="en-US" sz="1100" b="1" dirty="0">
                <a:solidFill>
                  <a:srgbClr val="245C43"/>
                </a:solidFill>
                <a:latin typeface="Calibri" pitchFamily="34" charset="0"/>
                <a:ea typeface="Calibri" pitchFamily="34" charset="-122"/>
                <a:cs typeface="Calibri" pitchFamily="34" charset="-120"/>
              </a:rPr>
              <a:t>YES</a:t>
            </a:r>
            <a:endParaRPr lang="en-US" sz="1100" dirty="0"/>
          </a:p>
        </p:txBody>
      </p:sp>
      <p:sp>
        <p:nvSpPr>
          <p:cNvPr id="14" name="Text 11"/>
          <p:cNvSpPr txBox="1"/>
          <p:nvPr/>
        </p:nvSpPr>
        <p:spPr>
          <a:xfrm>
            <a:off x="4224528" y="4572000"/>
            <a:ext cx="548640" cy="228600"/>
          </a:xfrm>
          <a:prstGeom prst="rect">
            <a:avLst/>
          </a:prstGeom>
          <a:noFill/>
          <a:ln/>
        </p:spPr>
        <p:txBody>
          <a:bodyPr wrap="square" lIns="0" tIns="0" rIns="0" bIns="0" rtlCol="0" anchor="t"/>
          <a:lstStyle/>
          <a:p>
            <a:pPr marL="0" indent="0">
              <a:buNone/>
            </a:pPr>
            <a:r>
              <a:rPr lang="en-US" sz="1100" b="1" dirty="0">
                <a:solidFill>
                  <a:srgbClr val="9A6A00"/>
                </a:solidFill>
                <a:latin typeface="Calibri" pitchFamily="34" charset="0"/>
                <a:ea typeface="Calibri" pitchFamily="34" charset="-122"/>
                <a:cs typeface="Calibri" pitchFamily="34" charset="-120"/>
              </a:rPr>
              <a:t>NO</a:t>
            </a:r>
            <a:endParaRPr lang="en-US" sz="1100" dirty="0"/>
          </a:p>
        </p:txBody>
      </p:sp>
      <p:sp>
        <p:nvSpPr>
          <p:cNvPr id="15" name="Shape 12"/>
          <p:cNvSpPr/>
          <p:nvPr/>
        </p:nvSpPr>
        <p:spPr>
          <a:xfrm>
            <a:off x="4937760" y="2011680"/>
            <a:ext cx="2286000" cy="1463040"/>
          </a:xfrm>
          <a:prstGeom prst="roundRect">
            <a:avLst>
              <a:gd name="adj" fmla="val 8750"/>
            </a:avLst>
          </a:prstGeom>
          <a:solidFill>
            <a:srgbClr val="E3EFE4"/>
          </a:solidFill>
          <a:ln w="12700">
            <a:solidFill>
              <a:srgbClr val="E3EFE4"/>
            </a:solidFill>
            <a:prstDash val="solid"/>
          </a:ln>
          <a:effectLst>
            <a:outerShdw blurRad="127000" dist="38100" dir="5400000" algn="bl" rotWithShape="0">
              <a:srgbClr val="000000">
                <a:alpha val="12000"/>
              </a:srgbClr>
            </a:outerShdw>
          </a:effectLst>
        </p:spPr>
        <p:txBody>
          <a:bodyPr/>
          <a:lstStyle/>
          <a:p>
            <a:endParaRPr lang="en-US"/>
          </a:p>
        </p:txBody>
      </p:sp>
      <p:sp>
        <p:nvSpPr>
          <p:cNvPr id="16" name="Text 13"/>
          <p:cNvSpPr txBox="1"/>
          <p:nvPr/>
        </p:nvSpPr>
        <p:spPr>
          <a:xfrm>
            <a:off x="5074920" y="2011680"/>
            <a:ext cx="2011680" cy="1463040"/>
          </a:xfrm>
          <a:prstGeom prst="rect">
            <a:avLst/>
          </a:prstGeom>
          <a:noFill/>
          <a:ln/>
        </p:spPr>
        <p:txBody>
          <a:bodyPr wrap="square" lIns="0" tIns="0" rIns="0" bIns="0" rtlCol="0" anchor="ctr"/>
          <a:lstStyle/>
          <a:p>
            <a:pPr marL="0" indent="0" algn="ctr">
              <a:buNone/>
            </a:pPr>
            <a:r>
              <a:rPr lang="en-US" sz="1400" b="1" dirty="0">
                <a:solidFill>
                  <a:srgbClr val="143528"/>
                </a:solidFill>
                <a:latin typeface="Calibri" pitchFamily="34" charset="0"/>
                <a:ea typeface="Calibri" pitchFamily="34" charset="-122"/>
                <a:cs typeface="Calibri" pitchFamily="34" charset="-120"/>
              </a:rPr>
              <a:t>Show the risk with its uncertainty and key factors</a:t>
            </a:r>
            <a:endParaRPr lang="en-US" sz="1400" dirty="0"/>
          </a:p>
        </p:txBody>
      </p:sp>
      <p:sp>
        <p:nvSpPr>
          <p:cNvPr id="17" name="Shape 14"/>
          <p:cNvSpPr/>
          <p:nvPr/>
        </p:nvSpPr>
        <p:spPr>
          <a:xfrm>
            <a:off x="4937760" y="3657600"/>
            <a:ext cx="2286000" cy="1463040"/>
          </a:xfrm>
          <a:prstGeom prst="roundRect">
            <a:avLst>
              <a:gd name="adj" fmla="val 8750"/>
            </a:avLst>
          </a:prstGeom>
          <a:solidFill>
            <a:srgbClr val="FBF0D6"/>
          </a:solidFill>
          <a:ln w="12700">
            <a:solidFill>
              <a:srgbClr val="FBF0D6"/>
            </a:solidFill>
            <a:prstDash val="solid"/>
          </a:ln>
          <a:effectLst>
            <a:outerShdw blurRad="127000" dist="38100" dir="5400000" algn="bl" rotWithShape="0">
              <a:srgbClr val="000000">
                <a:alpha val="12000"/>
              </a:srgbClr>
            </a:outerShdw>
          </a:effectLst>
        </p:spPr>
        <p:txBody>
          <a:bodyPr/>
          <a:lstStyle/>
          <a:p>
            <a:endParaRPr lang="en-US"/>
          </a:p>
        </p:txBody>
      </p:sp>
      <p:sp>
        <p:nvSpPr>
          <p:cNvPr id="18" name="Text 15"/>
          <p:cNvSpPr txBox="1"/>
          <p:nvPr/>
        </p:nvSpPr>
        <p:spPr>
          <a:xfrm>
            <a:off x="5074920" y="3657600"/>
            <a:ext cx="2011680" cy="1463040"/>
          </a:xfrm>
          <a:prstGeom prst="rect">
            <a:avLst/>
          </a:prstGeom>
          <a:noFill/>
          <a:ln/>
        </p:spPr>
        <p:txBody>
          <a:bodyPr wrap="square" lIns="0" tIns="0" rIns="0" bIns="0" rtlCol="0" anchor="ctr"/>
          <a:lstStyle/>
          <a:p>
            <a:pPr marL="0" indent="0" algn="ctr">
              <a:buNone/>
            </a:pPr>
            <a:r>
              <a:rPr lang="en-US" sz="1400" b="1" dirty="0">
                <a:solidFill>
                  <a:srgbClr val="24302A"/>
                </a:solidFill>
                <a:latin typeface="Calibri" pitchFamily="34" charset="0"/>
                <a:ea typeface="Calibri" pitchFamily="34" charset="-122"/>
                <a:cs typeface="Calibri" pitchFamily="34" charset="-120"/>
              </a:rPr>
              <a:t>Say “insufficient data”, then request a new reading or refer for expert review</a:t>
            </a:r>
            <a:endParaRPr lang="en-US" sz="1400" dirty="0"/>
          </a:p>
        </p:txBody>
      </p:sp>
      <p:sp>
        <p:nvSpPr>
          <p:cNvPr id="19" name="Text 16"/>
          <p:cNvSpPr txBox="1"/>
          <p:nvPr/>
        </p:nvSpPr>
        <p:spPr>
          <a:xfrm>
            <a:off x="4937760" y="5175504"/>
            <a:ext cx="2286000" cy="457200"/>
          </a:xfrm>
          <a:prstGeom prst="rect">
            <a:avLst/>
          </a:prstGeom>
          <a:noFill/>
          <a:ln/>
        </p:spPr>
        <p:txBody>
          <a:bodyPr wrap="square" lIns="0" tIns="0" rIns="0" bIns="0" rtlCol="0" anchor="t"/>
          <a:lstStyle/>
          <a:p>
            <a:pPr marL="0" indent="0">
              <a:buNone/>
            </a:pPr>
            <a:r>
              <a:rPr lang="en-US" sz="1100" i="1" dirty="0">
                <a:solidFill>
                  <a:srgbClr val="5B6B62"/>
                </a:solidFill>
                <a:latin typeface="Calibri" pitchFamily="34" charset="0"/>
                <a:ea typeface="Calibri" pitchFamily="34" charset="-122"/>
                <a:cs typeface="Calibri" pitchFamily="34" charset="-120"/>
              </a:rPr>
              <a:t>Expert review is a proposed safeguard; a pathway is not yet established.</a:t>
            </a:r>
            <a:endParaRPr lang="en-US" sz="1100" dirty="0"/>
          </a:p>
        </p:txBody>
      </p:sp>
      <p:sp>
        <p:nvSpPr>
          <p:cNvPr id="20" name="Shape 17"/>
          <p:cNvSpPr/>
          <p:nvPr/>
        </p:nvSpPr>
        <p:spPr>
          <a:xfrm>
            <a:off x="7589520" y="1965960"/>
            <a:ext cx="4050792" cy="822960"/>
          </a:xfrm>
          <a:prstGeom prst="roundRect">
            <a:avLst>
              <a:gd name="adj" fmla="val 17778"/>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21" name="Shape 18"/>
          <p:cNvSpPr/>
          <p:nvPr/>
        </p:nvSpPr>
        <p:spPr>
          <a:xfrm>
            <a:off x="7754112" y="2121408"/>
            <a:ext cx="512064" cy="512064"/>
          </a:xfrm>
          <a:prstGeom prst="ellipse">
            <a:avLst/>
          </a:prstGeom>
          <a:solidFill>
            <a:srgbClr val="E3EFE4"/>
          </a:solidFill>
          <a:ln w="12700">
            <a:solidFill>
              <a:srgbClr val="E3EFE4"/>
            </a:solidFill>
            <a:prstDash val="solid"/>
          </a:ln>
        </p:spPr>
        <p:txBody>
          <a:bodyPr/>
          <a:lstStyle/>
          <a:p>
            <a:endParaRPr lang="en-US"/>
          </a:p>
        </p:txBody>
      </p:sp>
      <p:pic>
        <p:nvPicPr>
          <p:cNvPr id="22" name="Image 1" descr="preencoded.png"/>
          <p:cNvPicPr>
            <a:picLocks noChangeAspect="1"/>
          </p:cNvPicPr>
          <p:nvPr/>
        </p:nvPicPr>
        <p:blipFill>
          <a:blip r:embed="rId4"/>
          <a:stretch>
            <a:fillRect/>
          </a:stretch>
        </p:blipFill>
        <p:spPr>
          <a:xfrm>
            <a:off x="7882128" y="2249424"/>
            <a:ext cx="256032" cy="256032"/>
          </a:xfrm>
          <a:prstGeom prst="rect">
            <a:avLst/>
          </a:prstGeom>
        </p:spPr>
      </p:pic>
      <p:sp>
        <p:nvSpPr>
          <p:cNvPr id="23" name="Text 19"/>
          <p:cNvSpPr txBox="1"/>
          <p:nvPr/>
        </p:nvSpPr>
        <p:spPr>
          <a:xfrm>
            <a:off x="8412480" y="2057400"/>
            <a:ext cx="3108960" cy="274320"/>
          </a:xfrm>
          <a:prstGeom prst="rect">
            <a:avLst/>
          </a:prstGeom>
          <a:noFill/>
          <a:ln/>
        </p:spPr>
        <p:txBody>
          <a:bodyPr wrap="square" lIns="0" tIns="0" rIns="0" bIns="0" rtlCol="0" anchor="t"/>
          <a:lstStyle/>
          <a:p>
            <a:pPr marL="0" indent="0">
              <a:buNone/>
            </a:pPr>
            <a:r>
              <a:rPr lang="en-US" sz="1600" b="1" dirty="0">
                <a:solidFill>
                  <a:srgbClr val="143528"/>
                </a:solidFill>
                <a:latin typeface="Cambria" pitchFamily="34" charset="0"/>
                <a:ea typeface="Cambria" pitchFamily="34" charset="-122"/>
                <a:cs typeface="Cambria" pitchFamily="34" charset="-120"/>
              </a:rPr>
              <a:t>Honest uncertainty</a:t>
            </a:r>
            <a:endParaRPr lang="en-US" sz="1600" dirty="0"/>
          </a:p>
        </p:txBody>
      </p:sp>
      <p:sp>
        <p:nvSpPr>
          <p:cNvPr id="24" name="Text 20"/>
          <p:cNvSpPr txBox="1"/>
          <p:nvPr/>
        </p:nvSpPr>
        <p:spPr>
          <a:xfrm>
            <a:off x="8412480" y="2350008"/>
            <a:ext cx="3108960" cy="384048"/>
          </a:xfrm>
          <a:prstGeom prst="rect">
            <a:avLst/>
          </a:prstGeom>
          <a:noFill/>
          <a:ln/>
        </p:spPr>
        <p:txBody>
          <a:bodyPr wrap="square" lIns="0" tIns="0" rIns="0" bIns="0" rtlCol="0" anchor="t"/>
          <a:lstStyle/>
          <a:p>
            <a:pPr marL="0" indent="0">
              <a:buNone/>
            </a:pPr>
            <a:r>
              <a:rPr lang="en-US" sz="1200" dirty="0">
                <a:solidFill>
                  <a:srgbClr val="5B6B62"/>
                </a:solidFill>
                <a:latin typeface="Calibri" pitchFamily="34" charset="0"/>
                <a:ea typeface="Calibri" pitchFamily="34" charset="-122"/>
                <a:cs typeface="Calibri" pitchFamily="34" charset="-120"/>
              </a:rPr>
              <a:t>Confidence is shown only once it has been tested.</a:t>
            </a:r>
            <a:endParaRPr lang="en-US" sz="1200" dirty="0"/>
          </a:p>
        </p:txBody>
      </p:sp>
      <p:sp>
        <p:nvSpPr>
          <p:cNvPr id="25" name="Shape 21"/>
          <p:cNvSpPr/>
          <p:nvPr/>
        </p:nvSpPr>
        <p:spPr>
          <a:xfrm>
            <a:off x="7589520" y="2898648"/>
            <a:ext cx="4050792" cy="822960"/>
          </a:xfrm>
          <a:prstGeom prst="roundRect">
            <a:avLst>
              <a:gd name="adj" fmla="val 17778"/>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26" name="Shape 22"/>
          <p:cNvSpPr/>
          <p:nvPr/>
        </p:nvSpPr>
        <p:spPr>
          <a:xfrm>
            <a:off x="7754112" y="3054096"/>
            <a:ext cx="512064" cy="512064"/>
          </a:xfrm>
          <a:prstGeom prst="ellipse">
            <a:avLst/>
          </a:prstGeom>
          <a:solidFill>
            <a:srgbClr val="E3EFE4"/>
          </a:solidFill>
          <a:ln w="12700">
            <a:solidFill>
              <a:srgbClr val="E3EFE4"/>
            </a:solidFill>
            <a:prstDash val="solid"/>
          </a:ln>
        </p:spPr>
        <p:txBody>
          <a:bodyPr/>
          <a:lstStyle/>
          <a:p>
            <a:endParaRPr lang="en-US"/>
          </a:p>
        </p:txBody>
      </p:sp>
      <p:pic>
        <p:nvPicPr>
          <p:cNvPr id="27" name="Image 2" descr="preencoded.png"/>
          <p:cNvPicPr>
            <a:picLocks noChangeAspect="1"/>
          </p:cNvPicPr>
          <p:nvPr/>
        </p:nvPicPr>
        <p:blipFill>
          <a:blip r:embed="rId5"/>
          <a:stretch>
            <a:fillRect/>
          </a:stretch>
        </p:blipFill>
        <p:spPr>
          <a:xfrm>
            <a:off x="7882128" y="3182112"/>
            <a:ext cx="256032" cy="256032"/>
          </a:xfrm>
          <a:prstGeom prst="rect">
            <a:avLst/>
          </a:prstGeom>
        </p:spPr>
      </p:pic>
      <p:sp>
        <p:nvSpPr>
          <p:cNvPr id="28" name="Text 23"/>
          <p:cNvSpPr txBox="1"/>
          <p:nvPr/>
        </p:nvSpPr>
        <p:spPr>
          <a:xfrm>
            <a:off x="8412480" y="2990088"/>
            <a:ext cx="3108960" cy="274320"/>
          </a:xfrm>
          <a:prstGeom prst="rect">
            <a:avLst/>
          </a:prstGeom>
          <a:noFill/>
          <a:ln/>
        </p:spPr>
        <p:txBody>
          <a:bodyPr wrap="square" lIns="0" tIns="0" rIns="0" bIns="0" rtlCol="0" anchor="t"/>
          <a:lstStyle/>
          <a:p>
            <a:pPr marL="0" indent="0">
              <a:buNone/>
            </a:pPr>
            <a:r>
              <a:rPr lang="en-US" sz="1600" b="1" dirty="0">
                <a:solidFill>
                  <a:srgbClr val="143528"/>
                </a:solidFill>
                <a:latin typeface="Cambria" pitchFamily="34" charset="0"/>
                <a:ea typeface="Cambria" pitchFamily="34" charset="-122"/>
                <a:cs typeface="Cambria" pitchFamily="34" charset="-120"/>
              </a:rPr>
              <a:t>Data gaps flagged</a:t>
            </a:r>
            <a:endParaRPr lang="en-US" sz="1600" dirty="0"/>
          </a:p>
        </p:txBody>
      </p:sp>
      <p:sp>
        <p:nvSpPr>
          <p:cNvPr id="29" name="Text 24"/>
          <p:cNvSpPr txBox="1"/>
          <p:nvPr/>
        </p:nvSpPr>
        <p:spPr>
          <a:xfrm>
            <a:off x="8412480" y="3282696"/>
            <a:ext cx="3108960" cy="384048"/>
          </a:xfrm>
          <a:prstGeom prst="rect">
            <a:avLst/>
          </a:prstGeom>
          <a:noFill/>
          <a:ln/>
        </p:spPr>
        <p:txBody>
          <a:bodyPr wrap="square" lIns="0" tIns="0" rIns="0" bIns="0" rtlCol="0" anchor="t"/>
          <a:lstStyle/>
          <a:p>
            <a:pPr marL="0" indent="0">
              <a:buNone/>
            </a:pPr>
            <a:r>
              <a:rPr lang="en-US" sz="1200" dirty="0">
                <a:solidFill>
                  <a:srgbClr val="5B6B62"/>
                </a:solidFill>
                <a:latin typeface="Calibri" pitchFamily="34" charset="0"/>
                <a:ea typeface="Calibri" pitchFamily="34" charset="-122"/>
                <a:cs typeface="Calibri" pitchFamily="34" charset="-120"/>
              </a:rPr>
              <a:t>Stale, missing or out-of-range inputs are never hidden.</a:t>
            </a:r>
            <a:endParaRPr lang="en-US" sz="1200" dirty="0"/>
          </a:p>
        </p:txBody>
      </p:sp>
      <p:sp>
        <p:nvSpPr>
          <p:cNvPr id="30" name="Shape 25"/>
          <p:cNvSpPr/>
          <p:nvPr/>
        </p:nvSpPr>
        <p:spPr>
          <a:xfrm>
            <a:off x="7589520" y="3831336"/>
            <a:ext cx="4050792" cy="822960"/>
          </a:xfrm>
          <a:prstGeom prst="roundRect">
            <a:avLst>
              <a:gd name="adj" fmla="val 17778"/>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31" name="Shape 26"/>
          <p:cNvSpPr/>
          <p:nvPr/>
        </p:nvSpPr>
        <p:spPr>
          <a:xfrm>
            <a:off x="7754112" y="3986784"/>
            <a:ext cx="512064" cy="512064"/>
          </a:xfrm>
          <a:prstGeom prst="ellipse">
            <a:avLst/>
          </a:prstGeom>
          <a:solidFill>
            <a:srgbClr val="E3EFE4"/>
          </a:solidFill>
          <a:ln w="12700">
            <a:solidFill>
              <a:srgbClr val="E3EFE4"/>
            </a:solidFill>
            <a:prstDash val="solid"/>
          </a:ln>
        </p:spPr>
        <p:txBody>
          <a:bodyPr/>
          <a:lstStyle/>
          <a:p>
            <a:endParaRPr lang="en-US"/>
          </a:p>
        </p:txBody>
      </p:sp>
      <p:pic>
        <p:nvPicPr>
          <p:cNvPr id="32" name="Image 3" descr="preencoded.png"/>
          <p:cNvPicPr>
            <a:picLocks noChangeAspect="1"/>
          </p:cNvPicPr>
          <p:nvPr/>
        </p:nvPicPr>
        <p:blipFill>
          <a:blip r:embed="rId6"/>
          <a:stretch>
            <a:fillRect/>
          </a:stretch>
        </p:blipFill>
        <p:spPr>
          <a:xfrm>
            <a:off x="7882128" y="4114800"/>
            <a:ext cx="256032" cy="256032"/>
          </a:xfrm>
          <a:prstGeom prst="rect">
            <a:avLst/>
          </a:prstGeom>
        </p:spPr>
      </p:pic>
      <p:sp>
        <p:nvSpPr>
          <p:cNvPr id="33" name="Text 27"/>
          <p:cNvSpPr txBox="1"/>
          <p:nvPr/>
        </p:nvSpPr>
        <p:spPr>
          <a:xfrm>
            <a:off x="8412480" y="3922776"/>
            <a:ext cx="3108960" cy="274320"/>
          </a:xfrm>
          <a:prstGeom prst="rect">
            <a:avLst/>
          </a:prstGeom>
          <a:noFill/>
          <a:ln/>
        </p:spPr>
        <p:txBody>
          <a:bodyPr wrap="square" lIns="0" tIns="0" rIns="0" bIns="0" rtlCol="0" anchor="t"/>
          <a:lstStyle/>
          <a:p>
            <a:pPr marL="0" indent="0">
              <a:buNone/>
            </a:pPr>
            <a:r>
              <a:rPr lang="en-US" sz="1600" b="1" dirty="0">
                <a:solidFill>
                  <a:srgbClr val="143528"/>
                </a:solidFill>
                <a:latin typeface="Cambria" pitchFamily="34" charset="0"/>
                <a:ea typeface="Cambria" pitchFamily="34" charset="-122"/>
                <a:cs typeface="Cambria" pitchFamily="34" charset="-120"/>
              </a:rPr>
              <a:t>Validated before use</a:t>
            </a:r>
            <a:endParaRPr lang="en-US" sz="1600" dirty="0"/>
          </a:p>
        </p:txBody>
      </p:sp>
      <p:sp>
        <p:nvSpPr>
          <p:cNvPr id="34" name="Text 28"/>
          <p:cNvSpPr txBox="1"/>
          <p:nvPr/>
        </p:nvSpPr>
        <p:spPr>
          <a:xfrm>
            <a:off x="8412480" y="4215384"/>
            <a:ext cx="3108960" cy="384048"/>
          </a:xfrm>
          <a:prstGeom prst="rect">
            <a:avLst/>
          </a:prstGeom>
          <a:noFill/>
          <a:ln/>
        </p:spPr>
        <p:txBody>
          <a:bodyPr wrap="square" lIns="0" tIns="0" rIns="0" bIns="0" rtlCol="0" anchor="t"/>
          <a:lstStyle/>
          <a:p>
            <a:pPr marL="0" indent="0">
              <a:buNone/>
            </a:pPr>
            <a:r>
              <a:rPr lang="en-US" sz="1200" dirty="0">
                <a:solidFill>
                  <a:srgbClr val="5B6B62"/>
                </a:solidFill>
                <a:latin typeface="Calibri" pitchFamily="34" charset="0"/>
                <a:ea typeface="Calibri" pitchFamily="34" charset="-122"/>
                <a:cs typeface="Calibri" pitchFamily="34" charset="-120"/>
              </a:rPr>
              <a:t>No prediction is presented as fact without evidence.</a:t>
            </a:r>
            <a:endParaRPr lang="en-US" sz="1200" dirty="0"/>
          </a:p>
        </p:txBody>
      </p:sp>
      <p:sp>
        <p:nvSpPr>
          <p:cNvPr id="35" name="Shape 29"/>
          <p:cNvSpPr/>
          <p:nvPr/>
        </p:nvSpPr>
        <p:spPr>
          <a:xfrm>
            <a:off x="7589520" y="4764024"/>
            <a:ext cx="4050792" cy="822960"/>
          </a:xfrm>
          <a:prstGeom prst="roundRect">
            <a:avLst>
              <a:gd name="adj" fmla="val 17778"/>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36" name="Shape 30"/>
          <p:cNvSpPr/>
          <p:nvPr/>
        </p:nvSpPr>
        <p:spPr>
          <a:xfrm>
            <a:off x="7754112" y="4919472"/>
            <a:ext cx="512064" cy="512064"/>
          </a:xfrm>
          <a:prstGeom prst="ellipse">
            <a:avLst/>
          </a:prstGeom>
          <a:solidFill>
            <a:srgbClr val="E3EFE4"/>
          </a:solidFill>
          <a:ln w="12700">
            <a:solidFill>
              <a:srgbClr val="E3EFE4"/>
            </a:solidFill>
            <a:prstDash val="solid"/>
          </a:ln>
        </p:spPr>
        <p:txBody>
          <a:bodyPr/>
          <a:lstStyle/>
          <a:p>
            <a:endParaRPr lang="en-US"/>
          </a:p>
        </p:txBody>
      </p:sp>
      <p:pic>
        <p:nvPicPr>
          <p:cNvPr id="37" name="Image 4" descr="preencoded.png"/>
          <p:cNvPicPr>
            <a:picLocks noChangeAspect="1"/>
          </p:cNvPicPr>
          <p:nvPr/>
        </p:nvPicPr>
        <p:blipFill>
          <a:blip r:embed="rId7"/>
          <a:stretch>
            <a:fillRect/>
          </a:stretch>
        </p:blipFill>
        <p:spPr>
          <a:xfrm>
            <a:off x="7882128" y="5047488"/>
            <a:ext cx="256032" cy="256032"/>
          </a:xfrm>
          <a:prstGeom prst="rect">
            <a:avLst/>
          </a:prstGeom>
        </p:spPr>
      </p:pic>
      <p:sp>
        <p:nvSpPr>
          <p:cNvPr id="38" name="Text 31"/>
          <p:cNvSpPr txBox="1"/>
          <p:nvPr/>
        </p:nvSpPr>
        <p:spPr>
          <a:xfrm>
            <a:off x="8412480" y="4855464"/>
            <a:ext cx="3108960" cy="274320"/>
          </a:xfrm>
          <a:prstGeom prst="rect">
            <a:avLst/>
          </a:prstGeom>
          <a:noFill/>
          <a:ln/>
        </p:spPr>
        <p:txBody>
          <a:bodyPr wrap="square" lIns="0" tIns="0" rIns="0" bIns="0" rtlCol="0" anchor="t"/>
          <a:lstStyle/>
          <a:p>
            <a:pPr marL="0" indent="0">
              <a:buNone/>
            </a:pPr>
            <a:r>
              <a:rPr lang="en-US" sz="1600" b="1" dirty="0">
                <a:solidFill>
                  <a:srgbClr val="143528"/>
                </a:solidFill>
                <a:latin typeface="Cambria" pitchFamily="34" charset="0"/>
                <a:ea typeface="Cambria" pitchFamily="34" charset="-122"/>
                <a:cs typeface="Cambria" pitchFamily="34" charset="-120"/>
              </a:rPr>
              <a:t>People stay involved</a:t>
            </a:r>
            <a:endParaRPr lang="en-US" sz="1600" dirty="0"/>
          </a:p>
        </p:txBody>
      </p:sp>
      <p:sp>
        <p:nvSpPr>
          <p:cNvPr id="39" name="Text 32"/>
          <p:cNvSpPr txBox="1"/>
          <p:nvPr/>
        </p:nvSpPr>
        <p:spPr>
          <a:xfrm>
            <a:off x="8412480" y="5148072"/>
            <a:ext cx="3108960" cy="384048"/>
          </a:xfrm>
          <a:prstGeom prst="rect">
            <a:avLst/>
          </a:prstGeom>
          <a:noFill/>
          <a:ln/>
        </p:spPr>
        <p:txBody>
          <a:bodyPr wrap="square" lIns="0" tIns="0" rIns="0" bIns="0" rtlCol="0" anchor="t"/>
          <a:lstStyle/>
          <a:p>
            <a:pPr marL="0" indent="0">
              <a:buNone/>
            </a:pPr>
            <a:r>
              <a:rPr lang="en-US" sz="1200" dirty="0">
                <a:solidFill>
                  <a:srgbClr val="5B6B62"/>
                </a:solidFill>
                <a:latin typeface="Calibri" pitchFamily="34" charset="0"/>
                <a:ea typeface="Calibri" pitchFamily="34" charset="-122"/>
                <a:cs typeface="Calibri" pitchFamily="34" charset="-120"/>
              </a:rPr>
              <a:t>Guidance supports, and never replaces, local expertise.</a:t>
            </a:r>
            <a:endParaRPr lang="en-US" sz="1200" dirty="0"/>
          </a:p>
        </p:txBody>
      </p:sp>
      <p:sp>
        <p:nvSpPr>
          <p:cNvPr id="40" name="Shape 33"/>
          <p:cNvSpPr/>
          <p:nvPr/>
        </p:nvSpPr>
        <p:spPr>
          <a:xfrm>
            <a:off x="548640" y="5715000"/>
            <a:ext cx="6675120" cy="457200"/>
          </a:xfrm>
          <a:prstGeom prst="roundRect">
            <a:avLst>
              <a:gd name="adj" fmla="val 50000"/>
            </a:avLst>
          </a:prstGeom>
          <a:solidFill>
            <a:srgbClr val="143528"/>
          </a:solidFill>
          <a:ln w="12700">
            <a:solidFill>
              <a:srgbClr val="143528"/>
            </a:solidFill>
            <a:prstDash val="solid"/>
          </a:ln>
        </p:spPr>
        <p:txBody>
          <a:bodyPr/>
          <a:lstStyle/>
          <a:p>
            <a:endParaRPr lang="en-US"/>
          </a:p>
        </p:txBody>
      </p:sp>
      <p:sp>
        <p:nvSpPr>
          <p:cNvPr id="41" name="Text 34"/>
          <p:cNvSpPr txBox="1"/>
          <p:nvPr/>
        </p:nvSpPr>
        <p:spPr>
          <a:xfrm>
            <a:off x="548640" y="5715000"/>
            <a:ext cx="6675120" cy="457200"/>
          </a:xfrm>
          <a:prstGeom prst="rect">
            <a:avLst/>
          </a:prstGeom>
          <a:noFill/>
          <a:ln/>
        </p:spPr>
        <p:txBody>
          <a:bodyPr wrap="square" lIns="0" tIns="0" rIns="0" bIns="0" rtlCol="0" anchor="ctr"/>
          <a:lstStyle/>
          <a:p>
            <a:pPr marL="0" indent="0" algn="ctr">
              <a:buNone/>
            </a:pPr>
            <a:r>
              <a:rPr lang="en-US" sz="1500" b="1" dirty="0">
                <a:solidFill>
                  <a:srgbClr val="C9E265"/>
                </a:solidFill>
                <a:latin typeface="Calibri" pitchFamily="34" charset="0"/>
                <a:ea typeface="Calibri" pitchFamily="34" charset="-122"/>
                <a:cs typeface="Calibri" pitchFamily="34" charset="-120"/>
              </a:rPr>
              <a:t>A withheld prediction is better than a wrong one.</a:t>
            </a:r>
            <a:endParaRPr lang="en-US" sz="1500" dirty="0"/>
          </a:p>
        </p:txBody>
      </p:sp>
      <p:sp>
        <p:nvSpPr>
          <p:cNvPr id="42" name="Shape 35"/>
          <p:cNvSpPr/>
          <p:nvPr/>
        </p:nvSpPr>
        <p:spPr>
          <a:xfrm>
            <a:off x="548640" y="6336792"/>
            <a:ext cx="310896" cy="310896"/>
          </a:xfrm>
          <a:prstGeom prst="ellipse">
            <a:avLst/>
          </a:prstGeom>
          <a:solidFill>
            <a:srgbClr val="245C43"/>
          </a:solidFill>
          <a:ln w="12700">
            <a:solidFill>
              <a:srgbClr val="245C43"/>
            </a:solidFill>
            <a:prstDash val="solid"/>
          </a:ln>
        </p:spPr>
        <p:txBody>
          <a:bodyPr/>
          <a:lstStyle/>
          <a:p>
            <a:endParaRPr lang="en-US"/>
          </a:p>
        </p:txBody>
      </p:sp>
      <p:pic>
        <p:nvPicPr>
          <p:cNvPr id="43" name="Image 5" descr="preencoded.png"/>
          <p:cNvPicPr>
            <a:picLocks noChangeAspect="1"/>
          </p:cNvPicPr>
          <p:nvPr/>
        </p:nvPicPr>
        <p:blipFill>
          <a:blip r:embed="rId8"/>
          <a:stretch>
            <a:fillRect/>
          </a:stretch>
        </p:blipFill>
        <p:spPr>
          <a:xfrm>
            <a:off x="626364" y="6414516"/>
            <a:ext cx="155448" cy="155448"/>
          </a:xfrm>
          <a:prstGeom prst="rect">
            <a:avLst/>
          </a:prstGeom>
        </p:spPr>
      </p:pic>
      <p:sp>
        <p:nvSpPr>
          <p:cNvPr id="44" name="Text 36"/>
          <p:cNvSpPr txBox="1"/>
          <p:nvPr/>
        </p:nvSpPr>
        <p:spPr>
          <a:xfrm>
            <a:off x="960120" y="6364224"/>
            <a:ext cx="2743200" cy="274320"/>
          </a:xfrm>
          <a:prstGeom prst="rect">
            <a:avLst/>
          </a:prstGeom>
          <a:noFill/>
          <a:ln/>
        </p:spPr>
        <p:txBody>
          <a:bodyPr wrap="square" lIns="0" tIns="0" rIns="0" bIns="0" rtlCol="0" anchor="t"/>
          <a:lstStyle/>
          <a:p>
            <a:pPr marL="0" indent="0">
              <a:buNone/>
            </a:pPr>
            <a:r>
              <a:rPr lang="en-US" sz="1200" b="1" dirty="0">
                <a:solidFill>
                  <a:srgbClr val="5B6B62"/>
                </a:solidFill>
                <a:latin typeface="Calibri" pitchFamily="34" charset="0"/>
                <a:ea typeface="Calibri" pitchFamily="34" charset="-122"/>
                <a:cs typeface="Calibri" pitchFamily="34" charset="-120"/>
              </a:rPr>
              <a:t>Krishan AI</a:t>
            </a:r>
            <a:endParaRPr lang="en-US" sz="1200" dirty="0"/>
          </a:p>
        </p:txBody>
      </p:sp>
      <p:sp>
        <p:nvSpPr>
          <p:cNvPr id="45" name="Text 37"/>
          <p:cNvSpPr txBox="1"/>
          <p:nvPr/>
        </p:nvSpPr>
        <p:spPr>
          <a:xfrm>
            <a:off x="11185855" y="6364224"/>
            <a:ext cx="457200" cy="274320"/>
          </a:xfrm>
          <a:prstGeom prst="rect">
            <a:avLst/>
          </a:prstGeom>
          <a:noFill/>
          <a:ln/>
        </p:spPr>
        <p:txBody>
          <a:bodyPr wrap="square" lIns="0" tIns="0" rIns="0" bIns="0" rtlCol="0" anchor="t"/>
          <a:lstStyle/>
          <a:p>
            <a:pPr marL="0" indent="0" algn="r">
              <a:buNone/>
            </a:pPr>
            <a:r>
              <a:rPr lang="en-US" sz="1200" dirty="0">
                <a:solidFill>
                  <a:srgbClr val="5B6B62"/>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marL="0" indent="0">
              <a:buNone/>
            </a:pPr>
            <a:r>
              <a:rPr lang="en-US" sz="1300" b="1" kern="0" spc="300" dirty="0">
                <a:solidFill>
                  <a:srgbClr val="2E8B87"/>
                </a:solidFill>
                <a:latin typeface="Calibri" pitchFamily="34" charset="0"/>
                <a:ea typeface="Calibri" pitchFamily="34" charset="-122"/>
                <a:cs typeface="Calibri" pitchFamily="34" charset="-120"/>
              </a:rPr>
              <a:t>05  ·  EXPECTED IMPACT AND DIFFERENTIATION</a:t>
            </a:r>
            <a:endParaRPr lang="en-US" sz="1300" dirty="0"/>
          </a:p>
        </p:txBody>
      </p:sp>
      <p:sp>
        <p:nvSpPr>
          <p:cNvPr id="3" name="Text 1"/>
          <p:cNvSpPr txBox="1"/>
          <p:nvPr/>
        </p:nvSpPr>
        <p:spPr>
          <a:xfrm>
            <a:off x="548640" y="777240"/>
            <a:ext cx="11064240" cy="731520"/>
          </a:xfrm>
          <a:prstGeom prst="rect">
            <a:avLst/>
          </a:prstGeom>
          <a:noFill/>
          <a:ln/>
        </p:spPr>
        <p:txBody>
          <a:bodyPr wrap="square" lIns="0" tIns="0" rIns="0" bIns="0" rtlCol="0" anchor="ctr"/>
          <a:lstStyle/>
          <a:p>
            <a:pPr marL="0" indent="0">
              <a:buNone/>
            </a:pPr>
            <a:r>
              <a:rPr lang="en-US" sz="3600" b="1" dirty="0">
                <a:solidFill>
                  <a:srgbClr val="143528"/>
                </a:solidFill>
                <a:latin typeface="Cambria" pitchFamily="34" charset="0"/>
                <a:ea typeface="Cambria" pitchFamily="34" charset="-122"/>
                <a:cs typeface="Cambria" pitchFamily="34" charset="-120"/>
              </a:rPr>
              <a:t>What we hope to achieve, and how we will test it</a:t>
            </a:r>
            <a:endParaRPr lang="en-US" sz="3600" dirty="0"/>
          </a:p>
        </p:txBody>
      </p:sp>
      <p:sp>
        <p:nvSpPr>
          <p:cNvPr id="4" name="Shape 2"/>
          <p:cNvSpPr/>
          <p:nvPr/>
        </p:nvSpPr>
        <p:spPr>
          <a:xfrm>
            <a:off x="548640" y="1783080"/>
            <a:ext cx="5486400" cy="4206240"/>
          </a:xfrm>
          <a:prstGeom prst="roundRect">
            <a:avLst>
              <a:gd name="adj" fmla="val 3478"/>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5" name="Text 3"/>
          <p:cNvSpPr txBox="1"/>
          <p:nvPr/>
        </p:nvSpPr>
        <p:spPr>
          <a:xfrm>
            <a:off x="822960" y="1965960"/>
            <a:ext cx="3657600" cy="228600"/>
          </a:xfrm>
          <a:prstGeom prst="rect">
            <a:avLst/>
          </a:prstGeom>
          <a:noFill/>
          <a:ln/>
        </p:spPr>
        <p:txBody>
          <a:bodyPr wrap="square" lIns="0" tIns="0" rIns="0" bIns="0" rtlCol="0" anchor="t"/>
          <a:lstStyle/>
          <a:p>
            <a:pPr marL="0" indent="0">
              <a:buNone/>
            </a:pPr>
            <a:r>
              <a:rPr lang="en-US" sz="1100" b="1" kern="0" spc="200" dirty="0">
                <a:solidFill>
                  <a:srgbClr val="2E8B87"/>
                </a:solidFill>
                <a:latin typeface="Calibri" pitchFamily="34" charset="0"/>
                <a:ea typeface="Calibri" pitchFamily="34" charset="-122"/>
                <a:cs typeface="Calibri" pitchFamily="34" charset="-120"/>
              </a:rPr>
              <a:t>INTENDED IMPACT</a:t>
            </a:r>
            <a:endParaRPr lang="en-US" sz="1100" dirty="0"/>
          </a:p>
        </p:txBody>
      </p:sp>
      <p:sp>
        <p:nvSpPr>
          <p:cNvPr id="6" name="Shape 4"/>
          <p:cNvSpPr/>
          <p:nvPr/>
        </p:nvSpPr>
        <p:spPr>
          <a:xfrm>
            <a:off x="4160520" y="1938528"/>
            <a:ext cx="1645920" cy="274320"/>
          </a:xfrm>
          <a:prstGeom prst="roundRect">
            <a:avLst>
              <a:gd name="adj" fmla="val 50000"/>
            </a:avLst>
          </a:prstGeom>
          <a:solidFill>
            <a:srgbClr val="FBF0D6"/>
          </a:solidFill>
          <a:ln w="12700">
            <a:solidFill>
              <a:srgbClr val="FBF0D6"/>
            </a:solidFill>
            <a:prstDash val="solid"/>
          </a:ln>
        </p:spPr>
        <p:txBody>
          <a:bodyPr/>
          <a:lstStyle/>
          <a:p>
            <a:endParaRPr lang="en-US"/>
          </a:p>
        </p:txBody>
      </p:sp>
      <p:sp>
        <p:nvSpPr>
          <p:cNvPr id="7" name="Text 5"/>
          <p:cNvSpPr txBox="1"/>
          <p:nvPr/>
        </p:nvSpPr>
        <p:spPr>
          <a:xfrm>
            <a:off x="4160520" y="1938528"/>
            <a:ext cx="1645920" cy="274320"/>
          </a:xfrm>
          <a:prstGeom prst="rect">
            <a:avLst/>
          </a:prstGeom>
          <a:noFill/>
          <a:ln/>
        </p:spPr>
        <p:txBody>
          <a:bodyPr wrap="square" lIns="0" tIns="0" rIns="0" bIns="0" rtlCol="0" anchor="ctr"/>
          <a:lstStyle/>
          <a:p>
            <a:pPr marL="0" indent="0" algn="ctr">
              <a:buNone/>
            </a:pPr>
            <a:r>
              <a:rPr lang="en-US" sz="1000" b="1" dirty="0">
                <a:solidFill>
                  <a:srgbClr val="8A5A00"/>
                </a:solidFill>
                <a:latin typeface="Calibri" pitchFamily="34" charset="0"/>
                <a:ea typeface="Calibri" pitchFamily="34" charset="-122"/>
                <a:cs typeface="Calibri" pitchFamily="34" charset="-120"/>
              </a:rPr>
              <a:t>To be tested, not proven</a:t>
            </a:r>
            <a:endParaRPr lang="en-US" sz="1000" dirty="0"/>
          </a:p>
        </p:txBody>
      </p:sp>
      <p:sp>
        <p:nvSpPr>
          <p:cNvPr id="8" name="Shape 6"/>
          <p:cNvSpPr/>
          <p:nvPr/>
        </p:nvSpPr>
        <p:spPr>
          <a:xfrm>
            <a:off x="822960" y="2377440"/>
            <a:ext cx="475488" cy="475488"/>
          </a:xfrm>
          <a:prstGeom prst="ellipse">
            <a:avLst/>
          </a:prstGeom>
          <a:solidFill>
            <a:srgbClr val="E3EFE4"/>
          </a:solidFill>
          <a:ln w="12700">
            <a:solidFill>
              <a:srgbClr val="E3EFE4"/>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941832" y="2496312"/>
            <a:ext cx="237744" cy="237744"/>
          </a:xfrm>
          <a:prstGeom prst="rect">
            <a:avLst/>
          </a:prstGeom>
        </p:spPr>
      </p:pic>
      <p:sp>
        <p:nvSpPr>
          <p:cNvPr id="10" name="Text 7"/>
          <p:cNvSpPr txBox="1"/>
          <p:nvPr/>
        </p:nvSpPr>
        <p:spPr>
          <a:xfrm>
            <a:off x="1463040" y="2377440"/>
            <a:ext cx="4297680" cy="475488"/>
          </a:xfrm>
          <a:prstGeom prst="rect">
            <a:avLst/>
          </a:prstGeom>
          <a:noFill/>
          <a:ln/>
        </p:spPr>
        <p:txBody>
          <a:bodyPr wrap="square" lIns="0" tIns="0" rIns="0" bIns="0" rtlCol="0" anchor="ctr"/>
          <a:lstStyle/>
          <a:p>
            <a:pPr marL="0" indent="0">
              <a:buNone/>
            </a:pPr>
            <a:r>
              <a:rPr lang="en-US" sz="1600" b="1" dirty="0">
                <a:solidFill>
                  <a:srgbClr val="24302A"/>
                </a:solidFill>
                <a:latin typeface="Calibri" pitchFamily="34" charset="0"/>
                <a:ea typeface="Calibri" pitchFamily="34" charset="-122"/>
                <a:cs typeface="Calibri" pitchFamily="34" charset="-120"/>
              </a:rPr>
              <a:t>More informed farm decisions</a:t>
            </a:r>
            <a:endParaRPr lang="en-US" sz="1600" dirty="0"/>
          </a:p>
        </p:txBody>
      </p:sp>
      <p:sp>
        <p:nvSpPr>
          <p:cNvPr id="11" name="Shape 8"/>
          <p:cNvSpPr/>
          <p:nvPr/>
        </p:nvSpPr>
        <p:spPr>
          <a:xfrm>
            <a:off x="822960" y="3035808"/>
            <a:ext cx="475488" cy="475488"/>
          </a:xfrm>
          <a:prstGeom prst="ellipse">
            <a:avLst/>
          </a:prstGeom>
          <a:solidFill>
            <a:srgbClr val="E3EFE4"/>
          </a:solidFill>
          <a:ln w="12700">
            <a:solidFill>
              <a:srgbClr val="E3EFE4"/>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941832" y="3154680"/>
            <a:ext cx="237744" cy="237744"/>
          </a:xfrm>
          <a:prstGeom prst="rect">
            <a:avLst/>
          </a:prstGeom>
        </p:spPr>
      </p:pic>
      <p:sp>
        <p:nvSpPr>
          <p:cNvPr id="13" name="Text 9"/>
          <p:cNvSpPr txBox="1"/>
          <p:nvPr/>
        </p:nvSpPr>
        <p:spPr>
          <a:xfrm>
            <a:off x="1463040" y="3035808"/>
            <a:ext cx="4297680" cy="475488"/>
          </a:xfrm>
          <a:prstGeom prst="rect">
            <a:avLst/>
          </a:prstGeom>
          <a:noFill/>
          <a:ln/>
        </p:spPr>
        <p:txBody>
          <a:bodyPr wrap="square" lIns="0" tIns="0" rIns="0" bIns="0" rtlCol="0" anchor="ctr"/>
          <a:lstStyle/>
          <a:p>
            <a:pPr marL="0" indent="0">
              <a:buNone/>
            </a:pPr>
            <a:r>
              <a:rPr lang="en-US" sz="1600" b="1" dirty="0">
                <a:solidFill>
                  <a:srgbClr val="24302A"/>
                </a:solidFill>
                <a:latin typeface="Calibri" pitchFamily="34" charset="0"/>
                <a:ea typeface="Calibri" pitchFamily="34" charset="-122"/>
                <a:cs typeface="Calibri" pitchFamily="34" charset="-120"/>
              </a:rPr>
              <a:t>Better preparedness for climate risk</a:t>
            </a:r>
            <a:endParaRPr lang="en-US" sz="1600" dirty="0"/>
          </a:p>
        </p:txBody>
      </p:sp>
      <p:sp>
        <p:nvSpPr>
          <p:cNvPr id="14" name="Shape 10"/>
          <p:cNvSpPr/>
          <p:nvPr/>
        </p:nvSpPr>
        <p:spPr>
          <a:xfrm>
            <a:off x="822960" y="3694176"/>
            <a:ext cx="475488" cy="475488"/>
          </a:xfrm>
          <a:prstGeom prst="ellipse">
            <a:avLst/>
          </a:prstGeom>
          <a:solidFill>
            <a:srgbClr val="E3EFE4"/>
          </a:solidFill>
          <a:ln w="12700">
            <a:solidFill>
              <a:srgbClr val="E3EFE4"/>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941832" y="3813048"/>
            <a:ext cx="237744" cy="237744"/>
          </a:xfrm>
          <a:prstGeom prst="rect">
            <a:avLst/>
          </a:prstGeom>
        </p:spPr>
      </p:pic>
      <p:sp>
        <p:nvSpPr>
          <p:cNvPr id="16" name="Text 11"/>
          <p:cNvSpPr txBox="1"/>
          <p:nvPr/>
        </p:nvSpPr>
        <p:spPr>
          <a:xfrm>
            <a:off x="1463040" y="3694176"/>
            <a:ext cx="4297680" cy="475488"/>
          </a:xfrm>
          <a:prstGeom prst="rect">
            <a:avLst/>
          </a:prstGeom>
          <a:noFill/>
          <a:ln/>
        </p:spPr>
        <p:txBody>
          <a:bodyPr wrap="square" lIns="0" tIns="0" rIns="0" bIns="0" rtlCol="0" anchor="ctr"/>
          <a:lstStyle/>
          <a:p>
            <a:pPr marL="0" indent="0">
              <a:buNone/>
            </a:pPr>
            <a:r>
              <a:rPr lang="en-US" sz="1600" b="1" dirty="0">
                <a:solidFill>
                  <a:srgbClr val="24302A"/>
                </a:solidFill>
                <a:latin typeface="Calibri" pitchFamily="34" charset="0"/>
                <a:ea typeface="Calibri" pitchFamily="34" charset="-122"/>
                <a:cs typeface="Calibri" pitchFamily="34" charset="-120"/>
              </a:rPr>
              <a:t>Fewer avoidable climate-related losses</a:t>
            </a:r>
            <a:endParaRPr lang="en-US" sz="1600" dirty="0"/>
          </a:p>
        </p:txBody>
      </p:sp>
      <p:sp>
        <p:nvSpPr>
          <p:cNvPr id="17" name="Text 12"/>
          <p:cNvSpPr txBox="1"/>
          <p:nvPr/>
        </p:nvSpPr>
        <p:spPr>
          <a:xfrm>
            <a:off x="822960" y="4434840"/>
            <a:ext cx="3657600" cy="228600"/>
          </a:xfrm>
          <a:prstGeom prst="rect">
            <a:avLst/>
          </a:prstGeom>
          <a:noFill/>
          <a:ln/>
        </p:spPr>
        <p:txBody>
          <a:bodyPr wrap="square" lIns="0" tIns="0" rIns="0" bIns="0" rtlCol="0" anchor="t"/>
          <a:lstStyle/>
          <a:p>
            <a:pPr marL="0" indent="0">
              <a:buNone/>
            </a:pPr>
            <a:r>
              <a:rPr lang="en-US" sz="1100" b="1" kern="0" spc="200" dirty="0">
                <a:solidFill>
                  <a:srgbClr val="2E8B87"/>
                </a:solidFill>
                <a:latin typeface="Calibri" pitchFamily="34" charset="0"/>
                <a:ea typeface="Calibri" pitchFamily="34" charset="-122"/>
                <a:cs typeface="Calibri" pitchFamily="34" charset="-120"/>
              </a:rPr>
              <a:t>HOW WE WILL MEASURE</a:t>
            </a:r>
            <a:endParaRPr lang="en-US" sz="1100" dirty="0"/>
          </a:p>
        </p:txBody>
      </p:sp>
      <p:sp>
        <p:nvSpPr>
          <p:cNvPr id="18" name="Text 13"/>
          <p:cNvSpPr txBox="1"/>
          <p:nvPr/>
        </p:nvSpPr>
        <p:spPr>
          <a:xfrm>
            <a:off x="822960" y="4709160"/>
            <a:ext cx="4937760" cy="685800"/>
          </a:xfrm>
          <a:prstGeom prst="rect">
            <a:avLst/>
          </a:prstGeom>
          <a:noFill/>
          <a:ln/>
        </p:spPr>
        <p:txBody>
          <a:bodyPr wrap="square" lIns="0" tIns="0" rIns="0" bIns="0" rtlCol="0" anchor="t"/>
          <a:lstStyle/>
          <a:p>
            <a:pPr marL="0" indent="0">
              <a:buNone/>
            </a:pPr>
            <a:r>
              <a:rPr lang="en-US" sz="1300" dirty="0">
                <a:solidFill>
                  <a:srgbClr val="24302A"/>
                </a:solidFill>
                <a:latin typeface="Calibri" pitchFamily="34" charset="0"/>
                <a:ea typeface="Calibri" pitchFamily="34" charset="-122"/>
                <a:cs typeface="Calibri" pitchFamily="34" charset="-120"/>
              </a:rPr>
              <a:t>Performance against a baseline  ·  false alarms and missed events  ·  warning lead time  ·  farmer comprehension and usefulness</a:t>
            </a:r>
            <a:endParaRPr lang="en-US" sz="1300" dirty="0"/>
          </a:p>
        </p:txBody>
      </p:sp>
      <p:sp>
        <p:nvSpPr>
          <p:cNvPr id="19" name="Text 14"/>
          <p:cNvSpPr txBox="1"/>
          <p:nvPr/>
        </p:nvSpPr>
        <p:spPr>
          <a:xfrm>
            <a:off x="822960" y="5394960"/>
            <a:ext cx="4937760" cy="548640"/>
          </a:xfrm>
          <a:prstGeom prst="rect">
            <a:avLst/>
          </a:prstGeom>
          <a:noFill/>
          <a:ln/>
        </p:spPr>
        <p:txBody>
          <a:bodyPr wrap="square" lIns="0" tIns="0" rIns="0" bIns="0" rtlCol="0" anchor="t"/>
          <a:lstStyle/>
          <a:p>
            <a:pPr marL="0" indent="0">
              <a:buNone/>
            </a:pPr>
            <a:r>
              <a:rPr lang="en-US" sz="1200" i="1" dirty="0">
                <a:solidFill>
                  <a:srgbClr val="5B6B62"/>
                </a:solidFill>
                <a:latin typeface="Calibri" pitchFamily="34" charset="0"/>
                <a:ea typeface="Calibri" pitchFamily="34" charset="-122"/>
                <a:cs typeface="Calibri" pitchFamily="34" charset="-120"/>
              </a:rPr>
              <a:t>A provisional pilot of about 100 farms would test workflow feasibility and early performance. It cannot prove national impact.</a:t>
            </a:r>
            <a:endParaRPr lang="en-US" sz="1200" dirty="0"/>
          </a:p>
        </p:txBody>
      </p:sp>
      <p:sp>
        <p:nvSpPr>
          <p:cNvPr id="20" name="Shape 15"/>
          <p:cNvSpPr/>
          <p:nvPr/>
        </p:nvSpPr>
        <p:spPr>
          <a:xfrm>
            <a:off x="6309360" y="1783080"/>
            <a:ext cx="5330952" cy="4206240"/>
          </a:xfrm>
          <a:prstGeom prst="roundRect">
            <a:avLst>
              <a:gd name="adj" fmla="val 3478"/>
            </a:avLst>
          </a:prstGeom>
          <a:solidFill>
            <a:srgbClr val="143528"/>
          </a:solidFill>
          <a:ln w="12700">
            <a:solidFill>
              <a:srgbClr val="143528"/>
            </a:solidFill>
            <a:prstDash val="solid"/>
          </a:ln>
          <a:effectLst>
            <a:outerShdw blurRad="127000" dist="38100" dir="5400000" algn="bl" rotWithShape="0">
              <a:srgbClr val="000000">
                <a:alpha val="12000"/>
              </a:srgbClr>
            </a:outerShdw>
          </a:effectLst>
        </p:spPr>
        <p:txBody>
          <a:bodyPr/>
          <a:lstStyle/>
          <a:p>
            <a:endParaRPr lang="en-US"/>
          </a:p>
        </p:txBody>
      </p:sp>
      <p:sp>
        <p:nvSpPr>
          <p:cNvPr id="21" name="Text 16"/>
          <p:cNvSpPr txBox="1"/>
          <p:nvPr/>
        </p:nvSpPr>
        <p:spPr>
          <a:xfrm>
            <a:off x="6583680" y="1965960"/>
            <a:ext cx="4846320" cy="228600"/>
          </a:xfrm>
          <a:prstGeom prst="rect">
            <a:avLst/>
          </a:prstGeom>
          <a:noFill/>
          <a:ln/>
        </p:spPr>
        <p:txBody>
          <a:bodyPr wrap="square" lIns="0" tIns="0" rIns="0" bIns="0" rtlCol="0" anchor="t"/>
          <a:lstStyle/>
          <a:p>
            <a:pPr marL="0" indent="0">
              <a:buNone/>
            </a:pPr>
            <a:r>
              <a:rPr lang="en-US" sz="1100" b="1" kern="0" spc="200" dirty="0">
                <a:solidFill>
                  <a:srgbClr val="C9E265"/>
                </a:solidFill>
                <a:latin typeface="Calibri" pitchFamily="34" charset="0"/>
                <a:ea typeface="Calibri" pitchFamily="34" charset="-122"/>
                <a:cs typeface="Calibri" pitchFamily="34" charset="-120"/>
              </a:rPr>
              <a:t>WHAT WE PROPOSE IS DIFFERENT</a:t>
            </a:r>
            <a:endParaRPr lang="en-US" sz="1100" dirty="0"/>
          </a:p>
        </p:txBody>
      </p:sp>
      <p:sp>
        <p:nvSpPr>
          <p:cNvPr id="22" name="Shape 17"/>
          <p:cNvSpPr/>
          <p:nvPr/>
        </p:nvSpPr>
        <p:spPr>
          <a:xfrm>
            <a:off x="6583680" y="2377440"/>
            <a:ext cx="475488" cy="475488"/>
          </a:xfrm>
          <a:prstGeom prst="ellipse">
            <a:avLst/>
          </a:prstGeom>
          <a:solidFill>
            <a:srgbClr val="245C43"/>
          </a:solidFill>
          <a:ln w="12700">
            <a:solidFill>
              <a:srgbClr val="245C43"/>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6702552" y="2496312"/>
            <a:ext cx="237744" cy="237744"/>
          </a:xfrm>
          <a:prstGeom prst="rect">
            <a:avLst/>
          </a:prstGeom>
        </p:spPr>
      </p:pic>
      <p:sp>
        <p:nvSpPr>
          <p:cNvPr id="24" name="Text 18"/>
          <p:cNvSpPr txBox="1"/>
          <p:nvPr/>
        </p:nvSpPr>
        <p:spPr>
          <a:xfrm>
            <a:off x="7269480" y="2350008"/>
            <a:ext cx="4114800" cy="27432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Farm context</a:t>
            </a:r>
            <a:endParaRPr lang="en-US" sz="1600" dirty="0"/>
          </a:p>
        </p:txBody>
      </p:sp>
      <p:sp>
        <p:nvSpPr>
          <p:cNvPr id="25" name="Text 19"/>
          <p:cNvSpPr txBox="1"/>
          <p:nvPr/>
        </p:nvSpPr>
        <p:spPr>
          <a:xfrm>
            <a:off x="7269480" y="2633472"/>
            <a:ext cx="4114800" cy="274320"/>
          </a:xfrm>
          <a:prstGeom prst="rect">
            <a:avLst/>
          </a:prstGeom>
          <a:noFill/>
          <a:ln/>
        </p:spPr>
        <p:txBody>
          <a:bodyPr wrap="square" lIns="0" tIns="0" rIns="0" bIns="0" rtlCol="0" anchor="t"/>
          <a:lstStyle/>
          <a:p>
            <a:pPr marL="0" indent="0">
              <a:buNone/>
            </a:pPr>
            <a:r>
              <a:rPr lang="en-US" sz="1300" dirty="0">
                <a:solidFill>
                  <a:srgbClr val="E3EFE4"/>
                </a:solidFill>
                <a:latin typeface="Calibri" pitchFamily="34" charset="0"/>
                <a:ea typeface="Calibri" pitchFamily="34" charset="-122"/>
                <a:cs typeface="Calibri" pitchFamily="34" charset="-120"/>
              </a:rPr>
              <a:t>Crop, growth stage and local conditions</a:t>
            </a:r>
            <a:endParaRPr lang="en-US" sz="1300" dirty="0"/>
          </a:p>
        </p:txBody>
      </p:sp>
      <p:sp>
        <p:nvSpPr>
          <p:cNvPr id="26" name="Shape 20"/>
          <p:cNvSpPr/>
          <p:nvPr/>
        </p:nvSpPr>
        <p:spPr>
          <a:xfrm>
            <a:off x="6583680" y="3090672"/>
            <a:ext cx="475488" cy="475488"/>
          </a:xfrm>
          <a:prstGeom prst="ellipse">
            <a:avLst/>
          </a:prstGeom>
          <a:solidFill>
            <a:srgbClr val="245C43"/>
          </a:solidFill>
          <a:ln w="12700">
            <a:solidFill>
              <a:srgbClr val="245C43"/>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6702552" y="3209544"/>
            <a:ext cx="237744" cy="237744"/>
          </a:xfrm>
          <a:prstGeom prst="rect">
            <a:avLst/>
          </a:prstGeom>
        </p:spPr>
      </p:pic>
      <p:sp>
        <p:nvSpPr>
          <p:cNvPr id="28" name="Text 21"/>
          <p:cNvSpPr txBox="1"/>
          <p:nvPr/>
        </p:nvSpPr>
        <p:spPr>
          <a:xfrm>
            <a:off x="7269480" y="3063240"/>
            <a:ext cx="4114800" cy="27432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Data sufficiency</a:t>
            </a:r>
            <a:endParaRPr lang="en-US" sz="1600" dirty="0"/>
          </a:p>
        </p:txBody>
      </p:sp>
      <p:sp>
        <p:nvSpPr>
          <p:cNvPr id="29" name="Text 22"/>
          <p:cNvSpPr txBox="1"/>
          <p:nvPr/>
        </p:nvSpPr>
        <p:spPr>
          <a:xfrm>
            <a:off x="7269480" y="3346704"/>
            <a:ext cx="4114800" cy="274320"/>
          </a:xfrm>
          <a:prstGeom prst="rect">
            <a:avLst/>
          </a:prstGeom>
          <a:noFill/>
          <a:ln/>
        </p:spPr>
        <p:txBody>
          <a:bodyPr wrap="square" lIns="0" tIns="0" rIns="0" bIns="0" rtlCol="0" anchor="t"/>
          <a:lstStyle/>
          <a:p>
            <a:pPr marL="0" indent="0">
              <a:buNone/>
            </a:pPr>
            <a:r>
              <a:rPr lang="en-US" sz="1300" dirty="0">
                <a:solidFill>
                  <a:srgbClr val="E3EFE4"/>
                </a:solidFill>
                <a:latin typeface="Calibri" pitchFamily="34" charset="0"/>
                <a:ea typeface="Calibri" pitchFamily="34" charset="-122"/>
                <a:cs typeface="Calibri" pitchFamily="34" charset="-120"/>
              </a:rPr>
              <a:t>Says when evidence is too weak</a:t>
            </a:r>
            <a:endParaRPr lang="en-US" sz="1300" dirty="0"/>
          </a:p>
        </p:txBody>
      </p:sp>
      <p:sp>
        <p:nvSpPr>
          <p:cNvPr id="30" name="Shape 23"/>
          <p:cNvSpPr/>
          <p:nvPr/>
        </p:nvSpPr>
        <p:spPr>
          <a:xfrm>
            <a:off x="6583680" y="3803904"/>
            <a:ext cx="475488" cy="475488"/>
          </a:xfrm>
          <a:prstGeom prst="ellipse">
            <a:avLst/>
          </a:prstGeom>
          <a:solidFill>
            <a:srgbClr val="245C43"/>
          </a:solidFill>
          <a:ln w="12700">
            <a:solidFill>
              <a:srgbClr val="245C43"/>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6702552" y="3922776"/>
            <a:ext cx="237744" cy="237744"/>
          </a:xfrm>
          <a:prstGeom prst="rect">
            <a:avLst/>
          </a:prstGeom>
        </p:spPr>
      </p:pic>
      <p:sp>
        <p:nvSpPr>
          <p:cNvPr id="32" name="Text 24"/>
          <p:cNvSpPr txBox="1"/>
          <p:nvPr/>
        </p:nvSpPr>
        <p:spPr>
          <a:xfrm>
            <a:off x="7269480" y="3776472"/>
            <a:ext cx="4114800" cy="27432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Risk linked to action</a:t>
            </a:r>
            <a:endParaRPr lang="en-US" sz="1600" dirty="0"/>
          </a:p>
        </p:txBody>
      </p:sp>
      <p:sp>
        <p:nvSpPr>
          <p:cNvPr id="33" name="Text 25"/>
          <p:cNvSpPr txBox="1"/>
          <p:nvPr/>
        </p:nvSpPr>
        <p:spPr>
          <a:xfrm>
            <a:off x="7269480" y="4059936"/>
            <a:ext cx="4114800" cy="274320"/>
          </a:xfrm>
          <a:prstGeom prst="rect">
            <a:avLst/>
          </a:prstGeom>
          <a:noFill/>
          <a:ln/>
        </p:spPr>
        <p:txBody>
          <a:bodyPr wrap="square" lIns="0" tIns="0" rIns="0" bIns="0" rtlCol="0" anchor="t"/>
          <a:lstStyle/>
          <a:p>
            <a:pPr marL="0" indent="0">
              <a:buNone/>
            </a:pPr>
            <a:r>
              <a:rPr lang="en-US" sz="1300" dirty="0">
                <a:solidFill>
                  <a:srgbClr val="E3EFE4"/>
                </a:solidFill>
                <a:latin typeface="Calibri" pitchFamily="34" charset="0"/>
                <a:ea typeface="Calibri" pitchFamily="34" charset="-122"/>
                <a:cs typeface="Calibri" pitchFamily="34" charset="-120"/>
              </a:rPr>
              <a:t>Expert-reviewed, versioned guidance</a:t>
            </a:r>
            <a:endParaRPr lang="en-US" sz="1300" dirty="0"/>
          </a:p>
        </p:txBody>
      </p:sp>
      <p:sp>
        <p:nvSpPr>
          <p:cNvPr id="34" name="Shape 26"/>
          <p:cNvSpPr/>
          <p:nvPr/>
        </p:nvSpPr>
        <p:spPr>
          <a:xfrm>
            <a:off x="6583680" y="4517136"/>
            <a:ext cx="475488" cy="475488"/>
          </a:xfrm>
          <a:prstGeom prst="ellipse">
            <a:avLst/>
          </a:prstGeom>
          <a:solidFill>
            <a:srgbClr val="245C43"/>
          </a:solidFill>
          <a:ln w="12700">
            <a:solidFill>
              <a:srgbClr val="245C43"/>
            </a:solidFill>
            <a:prstDash val="solid"/>
          </a:ln>
        </p:spPr>
        <p:txBody>
          <a:bodyPr/>
          <a:lstStyle/>
          <a:p>
            <a:endParaRPr lang="en-US"/>
          </a:p>
        </p:txBody>
      </p:sp>
      <p:pic>
        <p:nvPicPr>
          <p:cNvPr id="35" name="Image 6" descr="preencoded.png"/>
          <p:cNvPicPr>
            <a:picLocks noChangeAspect="1"/>
          </p:cNvPicPr>
          <p:nvPr/>
        </p:nvPicPr>
        <p:blipFill>
          <a:blip r:embed="rId9"/>
          <a:stretch>
            <a:fillRect/>
          </a:stretch>
        </p:blipFill>
        <p:spPr>
          <a:xfrm>
            <a:off x="6702552" y="4636008"/>
            <a:ext cx="237744" cy="237744"/>
          </a:xfrm>
          <a:prstGeom prst="rect">
            <a:avLst/>
          </a:prstGeom>
        </p:spPr>
      </p:pic>
      <p:sp>
        <p:nvSpPr>
          <p:cNvPr id="36" name="Text 27"/>
          <p:cNvSpPr txBox="1"/>
          <p:nvPr/>
        </p:nvSpPr>
        <p:spPr>
          <a:xfrm>
            <a:off x="7269480" y="4489704"/>
            <a:ext cx="4114800" cy="27432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Accessible</a:t>
            </a:r>
            <a:endParaRPr lang="en-US" sz="1600" dirty="0"/>
          </a:p>
        </p:txBody>
      </p:sp>
      <p:sp>
        <p:nvSpPr>
          <p:cNvPr id="37" name="Text 28"/>
          <p:cNvSpPr txBox="1"/>
          <p:nvPr/>
        </p:nvSpPr>
        <p:spPr>
          <a:xfrm>
            <a:off x="7269480" y="4773168"/>
            <a:ext cx="4114800" cy="274320"/>
          </a:xfrm>
          <a:prstGeom prst="rect">
            <a:avLst/>
          </a:prstGeom>
          <a:noFill/>
          <a:ln/>
        </p:spPr>
        <p:txBody>
          <a:bodyPr wrap="square" lIns="0" tIns="0" rIns="0" bIns="0" rtlCol="0" anchor="t"/>
          <a:lstStyle/>
          <a:p>
            <a:pPr marL="0" indent="0">
              <a:buNone/>
            </a:pPr>
            <a:r>
              <a:rPr lang="en-US" sz="1300" dirty="0">
                <a:solidFill>
                  <a:srgbClr val="E3EFE4"/>
                </a:solidFill>
                <a:latin typeface="Calibri" pitchFamily="34" charset="0"/>
                <a:ea typeface="Calibri" pitchFamily="34" charset="-122"/>
                <a:cs typeface="Calibri" pitchFamily="34" charset="-120"/>
              </a:rPr>
              <a:t>Bengali-first, with non-smartphone routes</a:t>
            </a:r>
            <a:endParaRPr lang="en-US" sz="1300" dirty="0"/>
          </a:p>
        </p:txBody>
      </p:sp>
      <p:sp>
        <p:nvSpPr>
          <p:cNvPr id="38" name="Text 29"/>
          <p:cNvSpPr txBox="1"/>
          <p:nvPr/>
        </p:nvSpPr>
        <p:spPr>
          <a:xfrm>
            <a:off x="6583680" y="5257800"/>
            <a:ext cx="4846320" cy="640080"/>
          </a:xfrm>
          <a:prstGeom prst="rect">
            <a:avLst/>
          </a:prstGeom>
          <a:noFill/>
          <a:ln/>
        </p:spPr>
        <p:txBody>
          <a:bodyPr wrap="square" lIns="0" tIns="0" rIns="0" bIns="0" rtlCol="0" anchor="t"/>
          <a:lstStyle/>
          <a:p>
            <a:pPr marL="0" indent="0">
              <a:buNone/>
            </a:pPr>
            <a:r>
              <a:rPr lang="en-US" sz="1200" i="1" dirty="0">
                <a:solidFill>
                  <a:srgbClr val="C9E265"/>
                </a:solidFill>
                <a:latin typeface="Calibri" pitchFamily="34" charset="0"/>
                <a:ea typeface="Calibri" pitchFamily="34" charset="-122"/>
                <a:cs typeface="Calibri" pitchFamily="34" charset="-120"/>
              </a:rPr>
              <a:t>Existing advisories and forecasts are a foundation. Benchmarking against them is still to be done; we do not claim to be first or only.</a:t>
            </a:r>
            <a:endParaRPr lang="en-US" sz="1200" dirty="0"/>
          </a:p>
        </p:txBody>
      </p:sp>
      <p:sp>
        <p:nvSpPr>
          <p:cNvPr id="39" name="Shape 30"/>
          <p:cNvSpPr/>
          <p:nvPr/>
        </p:nvSpPr>
        <p:spPr>
          <a:xfrm>
            <a:off x="548640" y="6336792"/>
            <a:ext cx="310896" cy="310896"/>
          </a:xfrm>
          <a:prstGeom prst="ellipse">
            <a:avLst/>
          </a:prstGeom>
          <a:solidFill>
            <a:srgbClr val="245C43"/>
          </a:solidFill>
          <a:ln w="12700">
            <a:solidFill>
              <a:srgbClr val="245C43"/>
            </a:solidFill>
            <a:prstDash val="solid"/>
          </a:ln>
        </p:spPr>
        <p:txBody>
          <a:bodyPr/>
          <a:lstStyle/>
          <a:p>
            <a:endParaRPr lang="en-US"/>
          </a:p>
        </p:txBody>
      </p:sp>
      <p:pic>
        <p:nvPicPr>
          <p:cNvPr id="40" name="Image 7" descr="preencoded.png"/>
          <p:cNvPicPr>
            <a:picLocks noChangeAspect="1"/>
          </p:cNvPicPr>
          <p:nvPr/>
        </p:nvPicPr>
        <p:blipFill>
          <a:blip r:embed="rId10"/>
          <a:stretch>
            <a:fillRect/>
          </a:stretch>
        </p:blipFill>
        <p:spPr>
          <a:xfrm>
            <a:off x="626364" y="6414516"/>
            <a:ext cx="155448" cy="155448"/>
          </a:xfrm>
          <a:prstGeom prst="rect">
            <a:avLst/>
          </a:prstGeom>
        </p:spPr>
      </p:pic>
      <p:sp>
        <p:nvSpPr>
          <p:cNvPr id="41" name="Text 31"/>
          <p:cNvSpPr txBox="1"/>
          <p:nvPr/>
        </p:nvSpPr>
        <p:spPr>
          <a:xfrm>
            <a:off x="960120" y="6364224"/>
            <a:ext cx="2743200" cy="274320"/>
          </a:xfrm>
          <a:prstGeom prst="rect">
            <a:avLst/>
          </a:prstGeom>
          <a:noFill/>
          <a:ln/>
        </p:spPr>
        <p:txBody>
          <a:bodyPr wrap="square" lIns="0" tIns="0" rIns="0" bIns="0" rtlCol="0" anchor="t"/>
          <a:lstStyle/>
          <a:p>
            <a:pPr marL="0" indent="0">
              <a:buNone/>
            </a:pPr>
            <a:r>
              <a:rPr lang="en-US" sz="1200" b="1" dirty="0">
                <a:solidFill>
                  <a:srgbClr val="5B6B62"/>
                </a:solidFill>
                <a:latin typeface="Calibri" pitchFamily="34" charset="0"/>
                <a:ea typeface="Calibri" pitchFamily="34" charset="-122"/>
                <a:cs typeface="Calibri" pitchFamily="34" charset="-120"/>
              </a:rPr>
              <a:t>Krishan AI</a:t>
            </a:r>
            <a:endParaRPr lang="en-US" sz="1200" dirty="0"/>
          </a:p>
        </p:txBody>
      </p:sp>
      <p:sp>
        <p:nvSpPr>
          <p:cNvPr id="42" name="Text 32"/>
          <p:cNvSpPr txBox="1"/>
          <p:nvPr/>
        </p:nvSpPr>
        <p:spPr>
          <a:xfrm>
            <a:off x="11185855" y="6364224"/>
            <a:ext cx="457200" cy="274320"/>
          </a:xfrm>
          <a:prstGeom prst="rect">
            <a:avLst/>
          </a:prstGeom>
          <a:noFill/>
          <a:ln/>
        </p:spPr>
        <p:txBody>
          <a:bodyPr wrap="square" lIns="0" tIns="0" rIns="0" bIns="0" rtlCol="0" anchor="t"/>
          <a:lstStyle/>
          <a:p>
            <a:pPr marL="0" indent="0" algn="r">
              <a:buNone/>
            </a:pPr>
            <a:r>
              <a:rPr lang="en-US" sz="1200" dirty="0">
                <a:solidFill>
                  <a:srgbClr val="5B6B62"/>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marL="0" indent="0">
              <a:buNone/>
            </a:pPr>
            <a:r>
              <a:rPr lang="en-US" sz="1300" b="1" kern="0" spc="300" dirty="0">
                <a:solidFill>
                  <a:srgbClr val="2E8B87"/>
                </a:solidFill>
                <a:latin typeface="Calibri" pitchFamily="34" charset="0"/>
                <a:ea typeface="Calibri" pitchFamily="34" charset="-122"/>
                <a:cs typeface="Calibri" pitchFamily="34" charset="-120"/>
              </a:rPr>
              <a:t>06  ·  EXECUTION ROADMAP</a:t>
            </a:r>
            <a:endParaRPr lang="en-US" sz="1300" dirty="0"/>
          </a:p>
        </p:txBody>
      </p:sp>
      <p:sp>
        <p:nvSpPr>
          <p:cNvPr id="3" name="Text 1"/>
          <p:cNvSpPr txBox="1"/>
          <p:nvPr/>
        </p:nvSpPr>
        <p:spPr>
          <a:xfrm>
            <a:off x="548640" y="777240"/>
            <a:ext cx="11064240" cy="731520"/>
          </a:xfrm>
          <a:prstGeom prst="rect">
            <a:avLst/>
          </a:prstGeom>
          <a:noFill/>
          <a:ln/>
        </p:spPr>
        <p:txBody>
          <a:bodyPr wrap="square" lIns="0" tIns="0" rIns="0" bIns="0" rtlCol="0" anchor="ctr"/>
          <a:lstStyle/>
          <a:p>
            <a:pPr marL="0" indent="0">
              <a:buNone/>
            </a:pPr>
            <a:r>
              <a:rPr lang="en-US" sz="3600" b="1" dirty="0">
                <a:solidFill>
                  <a:srgbClr val="143528"/>
                </a:solidFill>
                <a:latin typeface="Cambria" pitchFamily="34" charset="0"/>
                <a:ea typeface="Cambria" pitchFamily="34" charset="-122"/>
                <a:cs typeface="Cambria" pitchFamily="34" charset="-120"/>
              </a:rPr>
              <a:t>Staged, evidence-gated research and development</a:t>
            </a:r>
            <a:endParaRPr lang="en-US" sz="3600" dirty="0"/>
          </a:p>
        </p:txBody>
      </p:sp>
      <p:sp>
        <p:nvSpPr>
          <p:cNvPr id="4" name="Shape 2"/>
          <p:cNvSpPr/>
          <p:nvPr/>
        </p:nvSpPr>
        <p:spPr>
          <a:xfrm>
            <a:off x="822960" y="2148840"/>
            <a:ext cx="10515600" cy="0"/>
          </a:xfrm>
          <a:prstGeom prst="line">
            <a:avLst/>
          </a:prstGeom>
          <a:noFill/>
          <a:ln w="31750">
            <a:solidFill>
              <a:srgbClr val="5FA777"/>
            </a:solidFill>
            <a:prstDash val="dash"/>
          </a:ln>
        </p:spPr>
        <p:txBody>
          <a:bodyPr/>
          <a:lstStyle/>
          <a:p>
            <a:endParaRPr lang="en-US"/>
          </a:p>
        </p:txBody>
      </p:sp>
      <p:sp>
        <p:nvSpPr>
          <p:cNvPr id="5" name="Shape 3"/>
          <p:cNvSpPr/>
          <p:nvPr/>
        </p:nvSpPr>
        <p:spPr>
          <a:xfrm>
            <a:off x="685800" y="2002536"/>
            <a:ext cx="292608" cy="292608"/>
          </a:xfrm>
          <a:prstGeom prst="ellipse">
            <a:avLst/>
          </a:prstGeom>
          <a:solidFill>
            <a:srgbClr val="C9E265"/>
          </a:solidFill>
          <a:ln w="38100">
            <a:solidFill>
              <a:srgbClr val="F6F4EC"/>
            </a:solidFill>
            <a:prstDash val="solid"/>
          </a:ln>
        </p:spPr>
        <p:txBody>
          <a:bodyPr/>
          <a:lstStyle/>
          <a:p>
            <a:endParaRPr lang="en-US"/>
          </a:p>
        </p:txBody>
      </p:sp>
      <p:sp>
        <p:nvSpPr>
          <p:cNvPr id="6" name="Shape 4"/>
          <p:cNvSpPr/>
          <p:nvPr/>
        </p:nvSpPr>
        <p:spPr>
          <a:xfrm>
            <a:off x="548640" y="2468880"/>
            <a:ext cx="2569464" cy="2788920"/>
          </a:xfrm>
          <a:prstGeom prst="roundRect">
            <a:avLst>
              <a:gd name="adj" fmla="val 5694"/>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7" name="Text 5"/>
          <p:cNvSpPr txBox="1"/>
          <p:nvPr/>
        </p:nvSpPr>
        <p:spPr>
          <a:xfrm>
            <a:off x="777240" y="2651760"/>
            <a:ext cx="2112264" cy="228600"/>
          </a:xfrm>
          <a:prstGeom prst="rect">
            <a:avLst/>
          </a:prstGeom>
          <a:noFill/>
          <a:ln/>
        </p:spPr>
        <p:txBody>
          <a:bodyPr wrap="square" lIns="0" tIns="0" rIns="0" bIns="0" rtlCol="0" anchor="t"/>
          <a:lstStyle/>
          <a:p>
            <a:pPr marL="0" indent="0">
              <a:buNone/>
            </a:pPr>
            <a:r>
              <a:rPr lang="en-US" sz="1200" b="1" kern="0" spc="200" dirty="0">
                <a:solidFill>
                  <a:srgbClr val="2E8B87"/>
                </a:solidFill>
                <a:latin typeface="Calibri" pitchFamily="34" charset="0"/>
                <a:ea typeface="Calibri" pitchFamily="34" charset="-122"/>
                <a:cs typeface="Calibri" pitchFamily="34" charset="-120"/>
              </a:rPr>
              <a:t>MONTHS 0–6</a:t>
            </a:r>
            <a:endParaRPr lang="en-US" sz="1200" dirty="0"/>
          </a:p>
        </p:txBody>
      </p:sp>
      <p:sp>
        <p:nvSpPr>
          <p:cNvPr id="8" name="Text 6"/>
          <p:cNvSpPr txBox="1"/>
          <p:nvPr/>
        </p:nvSpPr>
        <p:spPr>
          <a:xfrm>
            <a:off x="777240" y="2926080"/>
            <a:ext cx="2112264" cy="365760"/>
          </a:xfrm>
          <a:prstGeom prst="rect">
            <a:avLst/>
          </a:prstGeom>
          <a:noFill/>
          <a:ln/>
        </p:spPr>
        <p:txBody>
          <a:bodyPr wrap="square" lIns="0" tIns="0" rIns="0" bIns="0" rtlCol="0" anchor="t"/>
          <a:lstStyle/>
          <a:p>
            <a:pPr marL="0" indent="0">
              <a:buNone/>
            </a:pPr>
            <a:r>
              <a:rPr lang="en-US" sz="2000" b="1" dirty="0">
                <a:solidFill>
                  <a:srgbClr val="143528"/>
                </a:solidFill>
                <a:latin typeface="Cambria" pitchFamily="34" charset="0"/>
                <a:ea typeface="Cambria" pitchFamily="34" charset="-122"/>
                <a:cs typeface="Cambria" pitchFamily="34" charset="-120"/>
              </a:rPr>
              <a:t>Discover</a:t>
            </a:r>
            <a:endParaRPr lang="en-US" sz="2000" dirty="0"/>
          </a:p>
        </p:txBody>
      </p:sp>
      <p:sp>
        <p:nvSpPr>
          <p:cNvPr id="9" name="Text 7"/>
          <p:cNvSpPr txBox="1"/>
          <p:nvPr/>
        </p:nvSpPr>
        <p:spPr>
          <a:xfrm>
            <a:off x="777240" y="3429000"/>
            <a:ext cx="2157984"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24302A"/>
                </a:solidFill>
                <a:latin typeface="Calibri" pitchFamily="34" charset="0"/>
                <a:ea typeface="Calibri" pitchFamily="34" charset="-122"/>
                <a:cs typeface="Calibri" pitchFamily="34" charset="-120"/>
              </a:rPr>
              <a:t>Interview farmers and practitioners</a:t>
            </a:r>
            <a:endParaRPr lang="en-US" sz="1300" dirty="0"/>
          </a:p>
          <a:p>
            <a:pPr marL="177800" indent="-177800">
              <a:spcAft>
                <a:spcPts val="600"/>
              </a:spcAft>
              <a:buSzPct val="100000"/>
              <a:buChar char="•"/>
            </a:pPr>
            <a:r>
              <a:rPr lang="en-US" sz="1300" dirty="0">
                <a:solidFill>
                  <a:srgbClr val="24302A"/>
                </a:solidFill>
                <a:latin typeface="Calibri" pitchFamily="34" charset="0"/>
                <a:ea typeface="Calibri" pitchFamily="34" charset="-122"/>
                <a:cs typeface="Calibri" pitchFamily="34" charset="-120"/>
              </a:rPr>
              <a:t>Inventory data and assess quality</a:t>
            </a:r>
            <a:endParaRPr lang="en-US" sz="1300" dirty="0"/>
          </a:p>
          <a:p>
            <a:pPr marL="177800" indent="-177800">
              <a:spcAft>
                <a:spcPts val="600"/>
              </a:spcAft>
              <a:buSzPct val="100000"/>
              <a:buChar char="•"/>
            </a:pPr>
            <a:r>
              <a:rPr lang="en-US" sz="1300" dirty="0">
                <a:solidFill>
                  <a:srgbClr val="24302A"/>
                </a:solidFill>
                <a:latin typeface="Calibri" pitchFamily="34" charset="0"/>
                <a:ea typeface="Calibri" pitchFamily="34" charset="-122"/>
                <a:cs typeface="Calibri" pitchFamily="34" charset="-120"/>
              </a:rPr>
              <a:t>Choose a first region, crop, hazard and target</a:t>
            </a:r>
            <a:endParaRPr lang="en-US" sz="1300" dirty="0"/>
          </a:p>
        </p:txBody>
      </p:sp>
      <p:sp>
        <p:nvSpPr>
          <p:cNvPr id="10" name="Shape 8"/>
          <p:cNvSpPr/>
          <p:nvPr/>
        </p:nvSpPr>
        <p:spPr>
          <a:xfrm>
            <a:off x="3529584" y="2002536"/>
            <a:ext cx="292608" cy="292608"/>
          </a:xfrm>
          <a:prstGeom prst="ellipse">
            <a:avLst/>
          </a:prstGeom>
          <a:solidFill>
            <a:srgbClr val="245C43"/>
          </a:solidFill>
          <a:ln w="38100">
            <a:solidFill>
              <a:srgbClr val="F6F4EC"/>
            </a:solidFill>
            <a:prstDash val="solid"/>
          </a:ln>
        </p:spPr>
        <p:txBody>
          <a:bodyPr/>
          <a:lstStyle/>
          <a:p>
            <a:endParaRPr lang="en-US"/>
          </a:p>
        </p:txBody>
      </p:sp>
      <p:sp>
        <p:nvSpPr>
          <p:cNvPr id="11" name="Shape 9"/>
          <p:cNvSpPr/>
          <p:nvPr/>
        </p:nvSpPr>
        <p:spPr>
          <a:xfrm>
            <a:off x="3392424" y="2468880"/>
            <a:ext cx="2569464" cy="2788920"/>
          </a:xfrm>
          <a:prstGeom prst="roundRect">
            <a:avLst>
              <a:gd name="adj" fmla="val 5694"/>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12" name="Text 10"/>
          <p:cNvSpPr txBox="1"/>
          <p:nvPr/>
        </p:nvSpPr>
        <p:spPr>
          <a:xfrm>
            <a:off x="3621024" y="2651760"/>
            <a:ext cx="2112264" cy="228600"/>
          </a:xfrm>
          <a:prstGeom prst="rect">
            <a:avLst/>
          </a:prstGeom>
          <a:noFill/>
          <a:ln/>
        </p:spPr>
        <p:txBody>
          <a:bodyPr wrap="square" lIns="0" tIns="0" rIns="0" bIns="0" rtlCol="0" anchor="t"/>
          <a:lstStyle/>
          <a:p>
            <a:pPr marL="0" indent="0">
              <a:buNone/>
            </a:pPr>
            <a:r>
              <a:rPr lang="en-US" sz="1200" b="1" kern="0" spc="200" dirty="0">
                <a:solidFill>
                  <a:srgbClr val="2E8B87"/>
                </a:solidFill>
                <a:latin typeface="Calibri" pitchFamily="34" charset="0"/>
                <a:ea typeface="Calibri" pitchFamily="34" charset="-122"/>
                <a:cs typeface="Calibri" pitchFamily="34" charset="-120"/>
              </a:rPr>
              <a:t>MONTHS 6–12</a:t>
            </a:r>
            <a:endParaRPr lang="en-US" sz="1200" dirty="0"/>
          </a:p>
        </p:txBody>
      </p:sp>
      <p:sp>
        <p:nvSpPr>
          <p:cNvPr id="13" name="Text 11"/>
          <p:cNvSpPr txBox="1"/>
          <p:nvPr/>
        </p:nvSpPr>
        <p:spPr>
          <a:xfrm>
            <a:off x="3621024" y="2926080"/>
            <a:ext cx="2112264" cy="365760"/>
          </a:xfrm>
          <a:prstGeom prst="rect">
            <a:avLst/>
          </a:prstGeom>
          <a:noFill/>
          <a:ln/>
        </p:spPr>
        <p:txBody>
          <a:bodyPr wrap="square" lIns="0" tIns="0" rIns="0" bIns="0" rtlCol="0" anchor="t"/>
          <a:lstStyle/>
          <a:p>
            <a:pPr marL="0" indent="0">
              <a:buNone/>
            </a:pPr>
            <a:r>
              <a:rPr lang="en-US" sz="2000" b="1" dirty="0">
                <a:solidFill>
                  <a:srgbClr val="143528"/>
                </a:solidFill>
                <a:latin typeface="Cambria" pitchFamily="34" charset="0"/>
                <a:ea typeface="Cambria" pitchFamily="34" charset="-122"/>
                <a:cs typeface="Cambria" pitchFamily="34" charset="-120"/>
              </a:rPr>
              <a:t>Build &amp; test</a:t>
            </a:r>
            <a:endParaRPr lang="en-US" sz="2000" dirty="0"/>
          </a:p>
        </p:txBody>
      </p:sp>
      <p:sp>
        <p:nvSpPr>
          <p:cNvPr id="14" name="Text 12"/>
          <p:cNvSpPr txBox="1"/>
          <p:nvPr/>
        </p:nvSpPr>
        <p:spPr>
          <a:xfrm>
            <a:off x="3621024" y="3429000"/>
            <a:ext cx="2157984"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24302A"/>
                </a:solidFill>
                <a:latin typeface="Calibri" pitchFamily="34" charset="0"/>
                <a:ea typeface="Calibri" pitchFamily="34" charset="-122"/>
                <a:cs typeface="Calibri" pitchFamily="34" charset="-120"/>
              </a:rPr>
              <a:t>Set baselines and compare suitable methods</a:t>
            </a:r>
            <a:endParaRPr lang="en-US" sz="1300" dirty="0"/>
          </a:p>
          <a:p>
            <a:pPr marL="177800" indent="-177800">
              <a:spcAft>
                <a:spcPts val="600"/>
              </a:spcAft>
              <a:buSzPct val="100000"/>
              <a:buChar char="•"/>
            </a:pPr>
            <a:r>
              <a:rPr lang="en-US" sz="1300" dirty="0">
                <a:solidFill>
                  <a:srgbClr val="24302A"/>
                </a:solidFill>
                <a:latin typeface="Calibri" pitchFamily="34" charset="0"/>
                <a:ea typeface="Calibri" pitchFamily="34" charset="-122"/>
                <a:cs typeface="Calibri" pitchFamily="34" charset="-120"/>
              </a:rPr>
              <a:t>Prototype and test in different areas of the selected region</a:t>
            </a:r>
            <a:endParaRPr lang="en-US" sz="1300" dirty="0"/>
          </a:p>
        </p:txBody>
      </p:sp>
      <p:sp>
        <p:nvSpPr>
          <p:cNvPr id="15" name="Shape 13"/>
          <p:cNvSpPr/>
          <p:nvPr/>
        </p:nvSpPr>
        <p:spPr>
          <a:xfrm>
            <a:off x="6373368" y="2002536"/>
            <a:ext cx="292608" cy="292608"/>
          </a:xfrm>
          <a:prstGeom prst="ellipse">
            <a:avLst/>
          </a:prstGeom>
          <a:solidFill>
            <a:srgbClr val="245C43"/>
          </a:solidFill>
          <a:ln w="38100">
            <a:solidFill>
              <a:srgbClr val="F6F4EC"/>
            </a:solidFill>
            <a:prstDash val="solid"/>
          </a:ln>
        </p:spPr>
        <p:txBody>
          <a:bodyPr/>
          <a:lstStyle/>
          <a:p>
            <a:endParaRPr lang="en-US"/>
          </a:p>
        </p:txBody>
      </p:sp>
      <p:sp>
        <p:nvSpPr>
          <p:cNvPr id="16" name="Shape 14"/>
          <p:cNvSpPr/>
          <p:nvPr/>
        </p:nvSpPr>
        <p:spPr>
          <a:xfrm>
            <a:off x="6236208" y="2468880"/>
            <a:ext cx="2569464" cy="2788920"/>
          </a:xfrm>
          <a:prstGeom prst="roundRect">
            <a:avLst>
              <a:gd name="adj" fmla="val 5694"/>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17" name="Text 15"/>
          <p:cNvSpPr txBox="1"/>
          <p:nvPr/>
        </p:nvSpPr>
        <p:spPr>
          <a:xfrm>
            <a:off x="6464808" y="2651760"/>
            <a:ext cx="2112264" cy="228600"/>
          </a:xfrm>
          <a:prstGeom prst="rect">
            <a:avLst/>
          </a:prstGeom>
          <a:noFill/>
          <a:ln/>
        </p:spPr>
        <p:txBody>
          <a:bodyPr wrap="square" lIns="0" tIns="0" rIns="0" bIns="0" rtlCol="0" anchor="t"/>
          <a:lstStyle/>
          <a:p>
            <a:pPr marL="0" indent="0">
              <a:buNone/>
            </a:pPr>
            <a:r>
              <a:rPr lang="en-US" sz="1200" b="1" kern="0" spc="200" dirty="0">
                <a:solidFill>
                  <a:srgbClr val="2E8B87"/>
                </a:solidFill>
                <a:latin typeface="Calibri" pitchFamily="34" charset="0"/>
                <a:ea typeface="Calibri" pitchFamily="34" charset="-122"/>
                <a:cs typeface="Calibri" pitchFamily="34" charset="-120"/>
              </a:rPr>
              <a:t>YEARS 1–2</a:t>
            </a:r>
            <a:endParaRPr lang="en-US" sz="1200" dirty="0"/>
          </a:p>
        </p:txBody>
      </p:sp>
      <p:sp>
        <p:nvSpPr>
          <p:cNvPr id="18" name="Text 16"/>
          <p:cNvSpPr txBox="1"/>
          <p:nvPr/>
        </p:nvSpPr>
        <p:spPr>
          <a:xfrm>
            <a:off x="6464808" y="2926080"/>
            <a:ext cx="2112264" cy="365760"/>
          </a:xfrm>
          <a:prstGeom prst="rect">
            <a:avLst/>
          </a:prstGeom>
          <a:noFill/>
          <a:ln/>
        </p:spPr>
        <p:txBody>
          <a:bodyPr wrap="square" lIns="0" tIns="0" rIns="0" bIns="0" rtlCol="0" anchor="t"/>
          <a:lstStyle/>
          <a:p>
            <a:pPr marL="0" indent="0">
              <a:buNone/>
            </a:pPr>
            <a:r>
              <a:rPr lang="en-US" sz="2000" b="1" dirty="0">
                <a:solidFill>
                  <a:srgbClr val="143528"/>
                </a:solidFill>
                <a:latin typeface="Cambria" pitchFamily="34" charset="0"/>
                <a:ea typeface="Cambria" pitchFamily="34" charset="-122"/>
                <a:cs typeface="Cambria" pitchFamily="34" charset="-120"/>
              </a:rPr>
              <a:t>Validate &amp; cover</a:t>
            </a:r>
            <a:endParaRPr lang="en-US" sz="2000" dirty="0"/>
          </a:p>
        </p:txBody>
      </p:sp>
      <p:sp>
        <p:nvSpPr>
          <p:cNvPr id="19" name="Text 17"/>
          <p:cNvSpPr txBox="1"/>
          <p:nvPr/>
        </p:nvSpPr>
        <p:spPr>
          <a:xfrm>
            <a:off x="6464808" y="3429000"/>
            <a:ext cx="2157984"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24302A"/>
                </a:solidFill>
                <a:latin typeface="Calibri" pitchFamily="34" charset="0"/>
                <a:ea typeface="Calibri" pitchFamily="34" charset="-122"/>
                <a:cs typeface="Calibri" pitchFamily="34" charset="-120"/>
              </a:rPr>
              <a:t>Controlled pilot, about 100 farms (provisional)</a:t>
            </a:r>
            <a:endParaRPr lang="en-US" sz="1300" dirty="0"/>
          </a:p>
          <a:p>
            <a:pPr marL="177800" indent="-177800">
              <a:spcAft>
                <a:spcPts val="600"/>
              </a:spcAft>
              <a:buSzPct val="100000"/>
              <a:buChar char="•"/>
            </a:pPr>
            <a:r>
              <a:rPr lang="en-US" sz="1300" dirty="0">
                <a:solidFill>
                  <a:srgbClr val="24302A"/>
                </a:solidFill>
                <a:latin typeface="Calibri" pitchFamily="34" charset="0"/>
                <a:ea typeface="Calibri" pitchFamily="34" charset="-122"/>
                <a:cs typeface="Calibri" pitchFamily="34" charset="-120"/>
              </a:rPr>
              <a:t>Extend across all areas of the selected region, if results hold</a:t>
            </a:r>
            <a:endParaRPr lang="en-US" sz="1300" dirty="0"/>
          </a:p>
        </p:txBody>
      </p:sp>
      <p:sp>
        <p:nvSpPr>
          <p:cNvPr id="20" name="Shape 18"/>
          <p:cNvSpPr/>
          <p:nvPr/>
        </p:nvSpPr>
        <p:spPr>
          <a:xfrm>
            <a:off x="9217152" y="2002536"/>
            <a:ext cx="292608" cy="292608"/>
          </a:xfrm>
          <a:prstGeom prst="ellipse">
            <a:avLst/>
          </a:prstGeom>
          <a:solidFill>
            <a:srgbClr val="245C43"/>
          </a:solidFill>
          <a:ln w="38100">
            <a:solidFill>
              <a:srgbClr val="F6F4EC"/>
            </a:solidFill>
            <a:prstDash val="solid"/>
          </a:ln>
        </p:spPr>
        <p:txBody>
          <a:bodyPr/>
          <a:lstStyle/>
          <a:p>
            <a:endParaRPr lang="en-US"/>
          </a:p>
        </p:txBody>
      </p:sp>
      <p:sp>
        <p:nvSpPr>
          <p:cNvPr id="21" name="Shape 19"/>
          <p:cNvSpPr/>
          <p:nvPr/>
        </p:nvSpPr>
        <p:spPr>
          <a:xfrm>
            <a:off x="9079992" y="2468880"/>
            <a:ext cx="2569464" cy="2788920"/>
          </a:xfrm>
          <a:prstGeom prst="roundRect">
            <a:avLst>
              <a:gd name="adj" fmla="val 5694"/>
            </a:avLst>
          </a:prstGeom>
          <a:solidFill>
            <a:srgbClr val="FFFFFF"/>
          </a:solidFill>
          <a:ln w="12700">
            <a:solidFill>
              <a:srgbClr val="FFFFFF"/>
            </a:solidFill>
            <a:prstDash val="solid"/>
          </a:ln>
          <a:effectLst>
            <a:outerShdw blurRad="127000" dist="38100" dir="5400000" algn="bl" rotWithShape="0">
              <a:srgbClr val="000000">
                <a:alpha val="12000"/>
              </a:srgbClr>
            </a:outerShdw>
          </a:effectLst>
        </p:spPr>
        <p:txBody>
          <a:bodyPr/>
          <a:lstStyle/>
          <a:p>
            <a:endParaRPr lang="en-US"/>
          </a:p>
        </p:txBody>
      </p:sp>
      <p:sp>
        <p:nvSpPr>
          <p:cNvPr id="22" name="Text 20"/>
          <p:cNvSpPr txBox="1"/>
          <p:nvPr/>
        </p:nvSpPr>
        <p:spPr>
          <a:xfrm>
            <a:off x="9308592" y="2651760"/>
            <a:ext cx="2112264" cy="228600"/>
          </a:xfrm>
          <a:prstGeom prst="rect">
            <a:avLst/>
          </a:prstGeom>
          <a:noFill/>
          <a:ln/>
        </p:spPr>
        <p:txBody>
          <a:bodyPr wrap="square" lIns="0" tIns="0" rIns="0" bIns="0" rtlCol="0" anchor="t"/>
          <a:lstStyle/>
          <a:p>
            <a:pPr marL="0" indent="0">
              <a:buNone/>
            </a:pPr>
            <a:r>
              <a:rPr lang="en-US" sz="1200" b="1" kern="0" spc="200" dirty="0">
                <a:solidFill>
                  <a:srgbClr val="2E8B87"/>
                </a:solidFill>
                <a:latin typeface="Calibri" pitchFamily="34" charset="0"/>
                <a:ea typeface="Calibri" pitchFamily="34" charset="-122"/>
                <a:cs typeface="Calibri" pitchFamily="34" charset="-120"/>
              </a:rPr>
              <a:t>YEARS 2–3</a:t>
            </a:r>
            <a:endParaRPr lang="en-US" sz="1200" dirty="0"/>
          </a:p>
        </p:txBody>
      </p:sp>
      <p:sp>
        <p:nvSpPr>
          <p:cNvPr id="23" name="Text 21"/>
          <p:cNvSpPr txBox="1"/>
          <p:nvPr/>
        </p:nvSpPr>
        <p:spPr>
          <a:xfrm>
            <a:off x="9308592" y="2926080"/>
            <a:ext cx="2112264" cy="365760"/>
          </a:xfrm>
          <a:prstGeom prst="rect">
            <a:avLst/>
          </a:prstGeom>
          <a:noFill/>
          <a:ln/>
        </p:spPr>
        <p:txBody>
          <a:bodyPr wrap="square" lIns="0" tIns="0" rIns="0" bIns="0" rtlCol="0" anchor="t"/>
          <a:lstStyle/>
          <a:p>
            <a:pPr marL="0" indent="0">
              <a:buNone/>
            </a:pPr>
            <a:r>
              <a:rPr lang="en-US" sz="2000" b="1" dirty="0">
                <a:solidFill>
                  <a:srgbClr val="143528"/>
                </a:solidFill>
                <a:latin typeface="Cambria" pitchFamily="34" charset="0"/>
                <a:ea typeface="Cambria" pitchFamily="34" charset="-122"/>
                <a:cs typeface="Cambria" pitchFamily="34" charset="-120"/>
              </a:rPr>
              <a:t>Expand carefully</a:t>
            </a:r>
            <a:endParaRPr lang="en-US" sz="2000" dirty="0"/>
          </a:p>
        </p:txBody>
      </p:sp>
      <p:sp>
        <p:nvSpPr>
          <p:cNvPr id="24" name="Text 22"/>
          <p:cNvSpPr txBox="1"/>
          <p:nvPr/>
        </p:nvSpPr>
        <p:spPr>
          <a:xfrm>
            <a:off x="9308592" y="3429000"/>
            <a:ext cx="2157984"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24302A"/>
                </a:solidFill>
                <a:latin typeface="Calibri" pitchFamily="34" charset="0"/>
                <a:ea typeface="Calibri" pitchFamily="34" charset="-122"/>
                <a:cs typeface="Calibri" pitchFamily="34" charset="-120"/>
              </a:rPr>
              <a:t>Expand to new regions where validation, feasibility and safety criteria are met</a:t>
            </a:r>
            <a:endParaRPr lang="en-US" sz="1300" dirty="0"/>
          </a:p>
          <a:p>
            <a:pPr marL="177800" indent="-177800">
              <a:spcAft>
                <a:spcPts val="600"/>
              </a:spcAft>
              <a:buSzPct val="100000"/>
              <a:buChar char="•"/>
            </a:pPr>
            <a:r>
              <a:rPr lang="en-US" sz="1300" dirty="0">
                <a:solidFill>
                  <a:srgbClr val="24302A"/>
                </a:solidFill>
                <a:latin typeface="Calibri" pitchFamily="34" charset="0"/>
                <a:ea typeface="Calibri" pitchFamily="34" charset="-122"/>
                <a:cs typeface="Calibri" pitchFamily="34" charset="-120"/>
              </a:rPr>
              <a:t>Begin separate research on chemical adulteration, once experts and data are available</a:t>
            </a:r>
            <a:endParaRPr lang="en-US" sz="1300" dirty="0"/>
          </a:p>
        </p:txBody>
      </p:sp>
      <p:sp>
        <p:nvSpPr>
          <p:cNvPr id="25" name="Shape 23"/>
          <p:cNvSpPr/>
          <p:nvPr/>
        </p:nvSpPr>
        <p:spPr>
          <a:xfrm>
            <a:off x="548640" y="5486400"/>
            <a:ext cx="11091672" cy="685800"/>
          </a:xfrm>
          <a:prstGeom prst="roundRect">
            <a:avLst>
              <a:gd name="adj" fmla="val 21333"/>
            </a:avLst>
          </a:prstGeom>
          <a:solidFill>
            <a:srgbClr val="143528"/>
          </a:solidFill>
          <a:ln w="12700">
            <a:solidFill>
              <a:srgbClr val="143528"/>
            </a:solidFill>
            <a:prstDash val="solid"/>
          </a:ln>
        </p:spPr>
        <p:txBody>
          <a:bodyPr/>
          <a:lstStyle/>
          <a:p>
            <a:endParaRPr lang="en-US"/>
          </a:p>
        </p:txBody>
      </p:sp>
      <p:sp>
        <p:nvSpPr>
          <p:cNvPr id="26" name="Shape 24"/>
          <p:cNvSpPr/>
          <p:nvPr/>
        </p:nvSpPr>
        <p:spPr>
          <a:xfrm>
            <a:off x="777240" y="5596128"/>
            <a:ext cx="457200" cy="457200"/>
          </a:xfrm>
          <a:prstGeom prst="ellipse">
            <a:avLst/>
          </a:prstGeom>
          <a:solidFill>
            <a:srgbClr val="245C43"/>
          </a:solidFill>
          <a:ln w="12700">
            <a:solidFill>
              <a:srgbClr val="245C43"/>
            </a:solidFill>
            <a:prstDash val="solid"/>
          </a:ln>
        </p:spPr>
        <p:txBody>
          <a:bodyPr/>
          <a:lstStyle/>
          <a:p>
            <a:endParaRPr lang="en-US"/>
          </a:p>
        </p:txBody>
      </p:sp>
      <p:pic>
        <p:nvPicPr>
          <p:cNvPr id="27" name="Image 0" descr="preencoded.png"/>
          <p:cNvPicPr>
            <a:picLocks noChangeAspect="1"/>
          </p:cNvPicPr>
          <p:nvPr/>
        </p:nvPicPr>
        <p:blipFill>
          <a:blip r:embed="rId3"/>
          <a:stretch>
            <a:fillRect/>
          </a:stretch>
        </p:blipFill>
        <p:spPr>
          <a:xfrm>
            <a:off x="891540" y="5710428"/>
            <a:ext cx="228600" cy="228600"/>
          </a:xfrm>
          <a:prstGeom prst="rect">
            <a:avLst/>
          </a:prstGeom>
        </p:spPr>
      </p:pic>
      <p:sp>
        <p:nvSpPr>
          <p:cNvPr id="28" name="Text 25"/>
          <p:cNvSpPr txBox="1"/>
          <p:nvPr/>
        </p:nvSpPr>
        <p:spPr>
          <a:xfrm>
            <a:off x="1417320" y="5486400"/>
            <a:ext cx="10058400" cy="685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Every stage ends with a decision: proceed, narrow the scope, or pause. Timelines are planning assumptions, not promises.</a:t>
            </a:r>
            <a:endParaRPr lang="en-US" sz="1400" dirty="0"/>
          </a:p>
        </p:txBody>
      </p:sp>
      <p:sp>
        <p:nvSpPr>
          <p:cNvPr id="29" name="Shape 26"/>
          <p:cNvSpPr/>
          <p:nvPr/>
        </p:nvSpPr>
        <p:spPr>
          <a:xfrm>
            <a:off x="548640" y="6336792"/>
            <a:ext cx="310896" cy="310896"/>
          </a:xfrm>
          <a:prstGeom prst="ellipse">
            <a:avLst/>
          </a:prstGeom>
          <a:solidFill>
            <a:srgbClr val="245C43"/>
          </a:solidFill>
          <a:ln w="12700">
            <a:solidFill>
              <a:srgbClr val="245C43"/>
            </a:solidFill>
            <a:prstDash val="solid"/>
          </a:ln>
        </p:spPr>
        <p:txBody>
          <a:bodyPr/>
          <a:lstStyle/>
          <a:p>
            <a:endParaRPr lang="en-US"/>
          </a:p>
        </p:txBody>
      </p:sp>
      <p:pic>
        <p:nvPicPr>
          <p:cNvPr id="30" name="Image 1" descr="preencoded.png"/>
          <p:cNvPicPr>
            <a:picLocks noChangeAspect="1"/>
          </p:cNvPicPr>
          <p:nvPr/>
        </p:nvPicPr>
        <p:blipFill>
          <a:blip r:embed="rId4"/>
          <a:stretch>
            <a:fillRect/>
          </a:stretch>
        </p:blipFill>
        <p:spPr>
          <a:xfrm>
            <a:off x="626364" y="6414516"/>
            <a:ext cx="155448" cy="155448"/>
          </a:xfrm>
          <a:prstGeom prst="rect">
            <a:avLst/>
          </a:prstGeom>
        </p:spPr>
      </p:pic>
      <p:sp>
        <p:nvSpPr>
          <p:cNvPr id="31" name="Text 27"/>
          <p:cNvSpPr txBox="1"/>
          <p:nvPr/>
        </p:nvSpPr>
        <p:spPr>
          <a:xfrm>
            <a:off x="960120" y="6364224"/>
            <a:ext cx="2743200" cy="274320"/>
          </a:xfrm>
          <a:prstGeom prst="rect">
            <a:avLst/>
          </a:prstGeom>
          <a:noFill/>
          <a:ln/>
        </p:spPr>
        <p:txBody>
          <a:bodyPr wrap="square" lIns="0" tIns="0" rIns="0" bIns="0" rtlCol="0" anchor="t"/>
          <a:lstStyle/>
          <a:p>
            <a:pPr marL="0" indent="0">
              <a:buNone/>
            </a:pPr>
            <a:r>
              <a:rPr lang="en-US" sz="1200" b="1" dirty="0">
                <a:solidFill>
                  <a:srgbClr val="5B6B62"/>
                </a:solidFill>
                <a:latin typeface="Calibri" pitchFamily="34" charset="0"/>
                <a:ea typeface="Calibri" pitchFamily="34" charset="-122"/>
                <a:cs typeface="Calibri" pitchFamily="34" charset="-120"/>
              </a:rPr>
              <a:t>Krishan AI</a:t>
            </a:r>
            <a:endParaRPr lang="en-US" sz="1200" dirty="0"/>
          </a:p>
        </p:txBody>
      </p:sp>
      <p:sp>
        <p:nvSpPr>
          <p:cNvPr id="32" name="Text 28"/>
          <p:cNvSpPr txBox="1"/>
          <p:nvPr/>
        </p:nvSpPr>
        <p:spPr>
          <a:xfrm>
            <a:off x="11185855" y="6364224"/>
            <a:ext cx="457200" cy="274320"/>
          </a:xfrm>
          <a:prstGeom prst="rect">
            <a:avLst/>
          </a:prstGeom>
          <a:noFill/>
          <a:ln/>
        </p:spPr>
        <p:txBody>
          <a:bodyPr wrap="square" lIns="0" tIns="0" rIns="0" bIns="0" rtlCol="0" anchor="t"/>
          <a:lstStyle/>
          <a:p>
            <a:pPr marL="0" indent="0" algn="r">
              <a:buNone/>
            </a:pPr>
            <a:r>
              <a:rPr lang="en-US" sz="1200" dirty="0">
                <a:solidFill>
                  <a:srgbClr val="5B6B62"/>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3528"/>
        </a:solidFill>
        <a:effectLst/>
      </p:bgPr>
    </p:bg>
    <p:spTree>
      <p:nvGrpSpPr>
        <p:cNvPr id="1" name=""/>
        <p:cNvGrpSpPr/>
        <p:nvPr/>
      </p:nvGrpSpPr>
      <p:grpSpPr>
        <a:xfrm>
          <a:off x="0" y="0"/>
          <a:ext cx="0" cy="0"/>
          <a:chOff x="0" y="0"/>
          <a:chExt cx="0" cy="0"/>
        </a:xfrm>
      </p:grpSpPr>
      <p:pic>
        <p:nvPicPr>
          <p:cNvPr id="2" name="Image 0" descr="hero_dawn.png"/>
          <p:cNvPicPr>
            <a:picLocks noChangeAspect="1"/>
          </p:cNvPicPr>
          <p:nvPr/>
        </p:nvPicPr>
        <p:blipFill>
          <a:blip r:embed="rId3"/>
          <a:stretch>
            <a:fillRect/>
          </a:stretch>
        </p:blipFill>
        <p:spPr>
          <a:xfrm>
            <a:off x="7071055" y="0"/>
            <a:ext cx="5120640" cy="6858000"/>
          </a:xfrm>
          <a:prstGeom prst="rect">
            <a:avLst/>
          </a:prstGeom>
        </p:spPr>
      </p:pic>
      <p:sp>
        <p:nvSpPr>
          <p:cNvPr id="3" name="Text 0"/>
          <p:cNvSpPr txBox="1"/>
          <p:nvPr/>
        </p:nvSpPr>
        <p:spPr>
          <a:xfrm>
            <a:off x="640080" y="1097280"/>
            <a:ext cx="5486400" cy="274320"/>
          </a:xfrm>
          <a:prstGeom prst="rect">
            <a:avLst/>
          </a:prstGeom>
          <a:noFill/>
          <a:ln/>
        </p:spPr>
        <p:txBody>
          <a:bodyPr wrap="square" lIns="0" tIns="0" rIns="0" bIns="0" rtlCol="0" anchor="t"/>
          <a:lstStyle/>
          <a:p>
            <a:pPr marL="0" indent="0">
              <a:buNone/>
            </a:pPr>
            <a:r>
              <a:rPr lang="en-US" sz="1300" b="1" kern="0" spc="300" dirty="0">
                <a:solidFill>
                  <a:srgbClr val="C9E265"/>
                </a:solidFill>
                <a:latin typeface="Calibri" pitchFamily="34" charset="0"/>
                <a:ea typeface="Calibri" pitchFamily="34" charset="-122"/>
                <a:cs typeface="Calibri" pitchFamily="34" charset="-120"/>
              </a:rPr>
              <a:t>OUR VISION</a:t>
            </a:r>
            <a:endParaRPr lang="en-US" sz="1300" dirty="0"/>
          </a:p>
        </p:txBody>
      </p:sp>
      <p:sp>
        <p:nvSpPr>
          <p:cNvPr id="4" name="Text 1"/>
          <p:cNvSpPr txBox="1"/>
          <p:nvPr/>
        </p:nvSpPr>
        <p:spPr>
          <a:xfrm>
            <a:off x="640080" y="1600200"/>
            <a:ext cx="6400800" cy="914400"/>
          </a:xfrm>
          <a:prstGeom prst="rect">
            <a:avLst/>
          </a:prstGeom>
          <a:noFill/>
          <a:ln/>
        </p:spPr>
        <p:txBody>
          <a:bodyPr wrap="square" lIns="0" tIns="0" rIns="0" bIns="0" rtlCol="0" anchor="t"/>
          <a:lstStyle/>
          <a:p>
            <a:pPr marL="0" indent="0">
              <a:buNone/>
            </a:pPr>
            <a:r>
              <a:rPr lang="en-US" sz="5400" b="1" dirty="0">
                <a:solidFill>
                  <a:srgbClr val="FFFFFF"/>
                </a:solidFill>
                <a:latin typeface="Cambria" pitchFamily="34" charset="0"/>
                <a:ea typeface="Cambria" pitchFamily="34" charset="-122"/>
                <a:cs typeface="Cambria" pitchFamily="34" charset="-120"/>
              </a:rPr>
              <a:t>Not more data.</a:t>
            </a:r>
            <a:endParaRPr lang="en-US" sz="5400" dirty="0"/>
          </a:p>
        </p:txBody>
      </p:sp>
      <p:sp>
        <p:nvSpPr>
          <p:cNvPr id="5" name="Text 2"/>
          <p:cNvSpPr txBox="1"/>
          <p:nvPr/>
        </p:nvSpPr>
        <p:spPr>
          <a:xfrm>
            <a:off x="640080" y="2514600"/>
            <a:ext cx="6400800" cy="914400"/>
          </a:xfrm>
          <a:prstGeom prst="rect">
            <a:avLst/>
          </a:prstGeom>
          <a:noFill/>
          <a:ln/>
        </p:spPr>
        <p:txBody>
          <a:bodyPr wrap="square" lIns="0" tIns="0" rIns="0" bIns="0" rtlCol="0" anchor="t"/>
          <a:lstStyle/>
          <a:p>
            <a:pPr marL="0" indent="0">
              <a:buNone/>
            </a:pPr>
            <a:r>
              <a:rPr lang="en-US" sz="5400" b="1" i="1" dirty="0">
                <a:solidFill>
                  <a:srgbClr val="C9E265"/>
                </a:solidFill>
                <a:latin typeface="Cambria" pitchFamily="34" charset="0"/>
                <a:ea typeface="Cambria" pitchFamily="34" charset="-122"/>
                <a:cs typeface="Cambria" pitchFamily="34" charset="-120"/>
              </a:rPr>
              <a:t>A clearer next step.</a:t>
            </a:r>
            <a:endParaRPr lang="en-US" sz="5400" dirty="0"/>
          </a:p>
        </p:txBody>
      </p:sp>
      <p:sp>
        <p:nvSpPr>
          <p:cNvPr id="6" name="Text 3"/>
          <p:cNvSpPr txBox="1"/>
          <p:nvPr/>
        </p:nvSpPr>
        <p:spPr>
          <a:xfrm>
            <a:off x="640080" y="3703320"/>
            <a:ext cx="5852160" cy="914400"/>
          </a:xfrm>
          <a:prstGeom prst="rect">
            <a:avLst/>
          </a:prstGeom>
          <a:noFill/>
          <a:ln/>
        </p:spPr>
        <p:txBody>
          <a:bodyPr wrap="square" lIns="0" tIns="0" rIns="0" bIns="0" rtlCol="0" anchor="t"/>
          <a:lstStyle/>
          <a:p>
            <a:pPr marL="0" indent="0">
              <a:buNone/>
            </a:pPr>
            <a:r>
              <a:rPr lang="en-US" sz="1800" dirty="0">
                <a:solidFill>
                  <a:srgbClr val="E3EFE4"/>
                </a:solidFill>
                <a:latin typeface="Calibri" pitchFamily="34" charset="0"/>
                <a:ea typeface="Calibri" pitchFamily="34" charset="-122"/>
                <a:cs typeface="Calibri" pitchFamily="34" charset="-120"/>
              </a:rPr>
              <a:t>Farm-level climate intelligence that helps farmers make more informed decisions: built on evidence, honest about uncertainty.</a:t>
            </a:r>
            <a:endParaRPr lang="en-US" sz="1800" dirty="0"/>
          </a:p>
        </p:txBody>
      </p:sp>
      <p:sp>
        <p:nvSpPr>
          <p:cNvPr id="7" name="Shape 4"/>
          <p:cNvSpPr/>
          <p:nvPr/>
        </p:nvSpPr>
        <p:spPr>
          <a:xfrm>
            <a:off x="640080" y="4937760"/>
            <a:ext cx="548640" cy="548640"/>
          </a:xfrm>
          <a:prstGeom prst="ellipse">
            <a:avLst/>
          </a:prstGeom>
          <a:solidFill>
            <a:srgbClr val="245C43"/>
          </a:solidFill>
          <a:ln w="12700">
            <a:solidFill>
              <a:srgbClr val="245C43"/>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777240" y="5074920"/>
            <a:ext cx="274320" cy="274320"/>
          </a:xfrm>
          <a:prstGeom prst="rect">
            <a:avLst/>
          </a:prstGeom>
        </p:spPr>
      </p:pic>
      <p:sp>
        <p:nvSpPr>
          <p:cNvPr id="9" name="Text 5"/>
          <p:cNvSpPr txBox="1"/>
          <p:nvPr/>
        </p:nvSpPr>
        <p:spPr>
          <a:xfrm>
            <a:off x="1325880" y="4937760"/>
            <a:ext cx="4572000" cy="292608"/>
          </a:xfrm>
          <a:prstGeom prst="rect">
            <a:avLst/>
          </a:prstGeom>
          <a:noFill/>
          <a:ln/>
        </p:spPr>
        <p:txBody>
          <a:bodyPr wrap="square" lIns="0" tIns="0" rIns="0" bIns="0" rtlCol="0" anchor="t"/>
          <a:lstStyle/>
          <a:p>
            <a:pPr marL="0" indent="0">
              <a:buNone/>
            </a:pPr>
            <a:r>
              <a:rPr lang="en-US" sz="2000" b="1" dirty="0">
                <a:solidFill>
                  <a:srgbClr val="FFFFFF"/>
                </a:solidFill>
                <a:latin typeface="Cambria" pitchFamily="34" charset="0"/>
                <a:ea typeface="Cambria" pitchFamily="34" charset="-122"/>
                <a:cs typeface="Cambria" pitchFamily="34" charset="-120"/>
              </a:rPr>
              <a:t>Krishan AI</a:t>
            </a:r>
            <a:endParaRPr lang="en-US" sz="2000" dirty="0"/>
          </a:p>
        </p:txBody>
      </p:sp>
      <p:sp>
        <p:nvSpPr>
          <p:cNvPr id="10" name="Text 6"/>
          <p:cNvSpPr txBox="1"/>
          <p:nvPr/>
        </p:nvSpPr>
        <p:spPr>
          <a:xfrm>
            <a:off x="1325880" y="5257800"/>
            <a:ext cx="5212080" cy="502920"/>
          </a:xfrm>
          <a:prstGeom prst="rect">
            <a:avLst/>
          </a:prstGeom>
          <a:noFill/>
          <a:ln/>
        </p:spPr>
        <p:txBody>
          <a:bodyPr wrap="square" lIns="0" tIns="0" rIns="0" bIns="0" rtlCol="0" anchor="t"/>
          <a:lstStyle/>
          <a:p>
            <a:pPr marL="0" indent="0">
              <a:buNone/>
            </a:pPr>
            <a:r>
              <a:rPr lang="en-US" sz="1300" dirty="0">
                <a:solidFill>
                  <a:srgbClr val="E3EFE4"/>
                </a:solidFill>
                <a:latin typeface="Calibri" pitchFamily="34" charset="0"/>
                <a:ea typeface="Calibri" pitchFamily="34" charset="-122"/>
                <a:cs typeface="Calibri" pitchFamily="34" charset="-120"/>
              </a:rPr>
              <a:t>Irfan Sadik, Team Leader &amp; AI/ML Engineer</a:t>
            </a:r>
            <a:endParaRPr lang="en-US" sz="1300" dirty="0"/>
          </a:p>
          <a:p>
            <a:pPr marL="0" indent="0">
              <a:buNone/>
            </a:pPr>
            <a:r>
              <a:rPr lang="en-US" sz="1300" dirty="0">
                <a:solidFill>
                  <a:srgbClr val="E3EFE4"/>
                </a:solidFill>
                <a:latin typeface="Calibri" pitchFamily="34" charset="0"/>
                <a:ea typeface="Calibri" pitchFamily="34" charset="-122"/>
                <a:cs typeface="Calibri" pitchFamily="34" charset="-120"/>
              </a:rPr>
              <a:t>Noor E Jannat Mawa, Business Lead</a:t>
            </a:r>
            <a:endParaRPr lang="en-US" sz="1300" dirty="0"/>
          </a:p>
        </p:txBody>
      </p:sp>
      <p:sp>
        <p:nvSpPr>
          <p:cNvPr id="11" name="Text 7"/>
          <p:cNvSpPr txBox="1"/>
          <p:nvPr/>
        </p:nvSpPr>
        <p:spPr>
          <a:xfrm>
            <a:off x="640080" y="6172200"/>
            <a:ext cx="6035040" cy="274320"/>
          </a:xfrm>
          <a:prstGeom prst="rect">
            <a:avLst/>
          </a:prstGeom>
          <a:noFill/>
          <a:ln/>
        </p:spPr>
        <p:txBody>
          <a:bodyPr wrap="square" lIns="0" tIns="0" rIns="0" bIns="0" rtlCol="0" anchor="t"/>
          <a:lstStyle/>
          <a:p>
            <a:pPr marL="0" indent="0">
              <a:buNone/>
            </a:pPr>
            <a:r>
              <a:rPr lang="en-US" sz="1200" i="1" dirty="0">
                <a:solidFill>
                  <a:srgbClr val="5FA777"/>
                </a:solidFill>
                <a:latin typeface="Calibri" pitchFamily="34" charset="0"/>
                <a:ea typeface="Calibri" pitchFamily="34" charset="-122"/>
                <a:cs typeface="Calibri" pitchFamily="34" charset="-120"/>
              </a:rPr>
              <a:t>Grameenphone Future Makers  ·  AI for Social Good  ·  Concept and prototype-stage proposal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198</TotalTime>
  <Words>1274</Words>
  <Application>Microsoft Office PowerPoint</Application>
  <PresentationFormat>Widescreen</PresentationFormat>
  <Paragraphs>166</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Krishan AI</dc:title>
  <dc:subject>PptxGenJS Presentation</dc:subject>
  <dc:creator>Irfan Sadik, Noor E Jannat Mawa</dc:creator>
  <cp:lastModifiedBy>Irfan</cp:lastModifiedBy>
  <cp:revision>6</cp:revision>
  <dcterms:created xsi:type="dcterms:W3CDTF">2026-09-30T04:40:57Z</dcterms:created>
  <dcterms:modified xsi:type="dcterms:W3CDTF">2026-09-30T08:00:52Z</dcterms:modified>
</cp:coreProperties>
</file>